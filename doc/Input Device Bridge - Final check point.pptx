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8" r:id="rId1"/>
  </p:sldMasterIdLst>
  <p:notesMasterIdLst>
    <p:notesMasterId r:id="rId13"/>
  </p:notesMasterIdLst>
  <p:sldIdLst>
    <p:sldId id="311" r:id="rId2"/>
    <p:sldId id="316" r:id="rId3"/>
    <p:sldId id="317" r:id="rId4"/>
    <p:sldId id="318" r:id="rId5"/>
    <p:sldId id="313" r:id="rId6"/>
    <p:sldId id="315" r:id="rId7"/>
    <p:sldId id="314" r:id="rId8"/>
    <p:sldId id="319" r:id="rId9"/>
    <p:sldId id="320" r:id="rId10"/>
    <p:sldId id="321" r:id="rId11"/>
    <p:sldId id="322" r:id="rId12"/>
  </p:sldIdLst>
  <p:sldSz cx="9144000" cy="5143500" type="screen16x9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49CE"/>
    <a:srgbClr val="43309F"/>
    <a:srgbClr val="EBE8F8"/>
    <a:srgbClr val="E6E2F6"/>
    <a:srgbClr val="F2F0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0008A23C-6446-4AE6-A63F-8AF3A4B9D192}">
  <a:tblStyle styleId="{0008A23C-6446-4AE6-A63F-8AF3A4B9D1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4" d="100"/>
          <a:sy n="124" d="100"/>
        </p:scale>
        <p:origin x="-48" y="-3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96645" rIns="96645" bIns="9664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7341872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2d4e97ef0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2d4e97ef00_0_68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12cdc6cee93_0_6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12cdc6cee93_0_632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2cdc6cee93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12cdc6cee93_0_133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2d4e97ef00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2d4e97ef00_0_148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2da052de2e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2da052de2e_0_95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12da052de2e_0_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12da052de2e_0_522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2da052de2e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2da052de2e_0_9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2d4e97ef00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2d4e97ef00_0_199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2da052de2e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12da052de2e_0_17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12cdc6cee93_0_8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12cdc6cee93_0_885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2d4e97ef0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2d4e97ef00_0_68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012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926475" y="1039950"/>
            <a:ext cx="4649100" cy="19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7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926475" y="3373050"/>
            <a:ext cx="2656200" cy="7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66666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044" scaled="0"/>
        </a:gra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267638" y="2711350"/>
            <a:ext cx="29424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 idx="2"/>
          </p:nvPr>
        </p:nvSpPr>
        <p:spPr>
          <a:xfrm>
            <a:off x="4933895" y="2711350"/>
            <a:ext cx="29424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4933895" y="3068050"/>
            <a:ext cx="2942400" cy="10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3"/>
          </p:nvPr>
        </p:nvSpPr>
        <p:spPr>
          <a:xfrm>
            <a:off x="1267638" y="3068050"/>
            <a:ext cx="2942400" cy="10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 idx="4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0" y="4822200"/>
            <a:ext cx="28575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0801400" scaled="0"/>
        </a:gra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/>
          <p:nvPr/>
        </p:nvSpPr>
        <p:spPr>
          <a:xfrm flipH="1">
            <a:off x="753090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6"/>
          <p:cNvSpPr/>
          <p:nvPr/>
        </p:nvSpPr>
        <p:spPr>
          <a:xfrm rot="10800000" flipH="1">
            <a:off x="0" y="0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6"/>
          <p:cNvSpPr/>
          <p:nvPr/>
        </p:nvSpPr>
        <p:spPr>
          <a:xfrm>
            <a:off x="-777475" y="4424625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6200038" scaled="0"/>
        </a:gra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3338275" y="1415713"/>
            <a:ext cx="5092500" cy="71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3338275" y="2543688"/>
            <a:ext cx="50925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/>
          <p:nvPr/>
        </p:nvSpPr>
        <p:spPr>
          <a:xfrm flipH="1">
            <a:off x="6286800" y="4822125"/>
            <a:ext cx="28572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9"/>
          <p:cNvSpPr/>
          <p:nvPr/>
        </p:nvSpPr>
        <p:spPr>
          <a:xfrm rot="10800000" flipH="1">
            <a:off x="0" y="0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title" hasCustomPrompt="1"/>
          </p:nvPr>
        </p:nvSpPr>
        <p:spPr>
          <a:xfrm>
            <a:off x="3321475" y="1384463"/>
            <a:ext cx="5109300" cy="156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10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>
            <a:spLocks noGrp="1"/>
          </p:cNvSpPr>
          <p:nvPr>
            <p:ph type="subTitle" idx="1"/>
          </p:nvPr>
        </p:nvSpPr>
        <p:spPr>
          <a:xfrm>
            <a:off x="3321475" y="3187388"/>
            <a:ext cx="5109300" cy="38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3" name="Google Shape;63;p11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1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1"/>
          <p:cNvSpPr/>
          <p:nvPr/>
        </p:nvSpPr>
        <p:spPr>
          <a:xfrm>
            <a:off x="6268075" y="421992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1"/>
          <p:cNvSpPr/>
          <p:nvPr/>
        </p:nvSpPr>
        <p:spPr>
          <a:xfrm>
            <a:off x="5130775" y="455607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0800025" scaled="0"/>
        </a:gra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1772463" y="1654725"/>
            <a:ext cx="26385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1"/>
          </p:nvPr>
        </p:nvSpPr>
        <p:spPr>
          <a:xfrm>
            <a:off x="1772463" y="2012990"/>
            <a:ext cx="2638500" cy="52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2"/>
          </p:nvPr>
        </p:nvSpPr>
        <p:spPr>
          <a:xfrm>
            <a:off x="5474937" y="1654725"/>
            <a:ext cx="26385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3"/>
          </p:nvPr>
        </p:nvSpPr>
        <p:spPr>
          <a:xfrm>
            <a:off x="5474937" y="2012990"/>
            <a:ext cx="2638500" cy="52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4" hasCustomPrompt="1"/>
          </p:nvPr>
        </p:nvSpPr>
        <p:spPr>
          <a:xfrm>
            <a:off x="1030563" y="1654725"/>
            <a:ext cx="6657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5" hasCustomPrompt="1"/>
          </p:nvPr>
        </p:nvSpPr>
        <p:spPr>
          <a:xfrm>
            <a:off x="4733038" y="1654725"/>
            <a:ext cx="6657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6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7"/>
          </p:nvPr>
        </p:nvSpPr>
        <p:spPr>
          <a:xfrm>
            <a:off x="1772463" y="3061675"/>
            <a:ext cx="26385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8"/>
          </p:nvPr>
        </p:nvSpPr>
        <p:spPr>
          <a:xfrm>
            <a:off x="1772463" y="3419940"/>
            <a:ext cx="2638500" cy="52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9"/>
          </p:nvPr>
        </p:nvSpPr>
        <p:spPr>
          <a:xfrm>
            <a:off x="5474937" y="3061675"/>
            <a:ext cx="26385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3"/>
          </p:nvPr>
        </p:nvSpPr>
        <p:spPr>
          <a:xfrm>
            <a:off x="5474937" y="3419940"/>
            <a:ext cx="2638500" cy="52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14" hasCustomPrompt="1"/>
          </p:nvPr>
        </p:nvSpPr>
        <p:spPr>
          <a:xfrm>
            <a:off x="1030563" y="3061675"/>
            <a:ext cx="6657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15" hasCustomPrompt="1"/>
          </p:nvPr>
        </p:nvSpPr>
        <p:spPr>
          <a:xfrm>
            <a:off x="4733038" y="3061675"/>
            <a:ext cx="6657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/>
          <p:nvPr/>
        </p:nvSpPr>
        <p:spPr>
          <a:xfrm>
            <a:off x="0" y="4822200"/>
            <a:ext cx="28575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title"/>
          </p:nvPr>
        </p:nvSpPr>
        <p:spPr>
          <a:xfrm>
            <a:off x="969750" y="3381325"/>
            <a:ext cx="33456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subTitle" idx="1"/>
          </p:nvPr>
        </p:nvSpPr>
        <p:spPr>
          <a:xfrm>
            <a:off x="969750" y="1405475"/>
            <a:ext cx="7204500" cy="151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5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732" scaled="0"/>
        </a:gra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>
            <a:spLocks noGrp="1"/>
          </p:cNvSpPr>
          <p:nvPr>
            <p:ph type="title"/>
          </p:nvPr>
        </p:nvSpPr>
        <p:spPr>
          <a:xfrm>
            <a:off x="713225" y="1376788"/>
            <a:ext cx="2865300" cy="8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subTitle" idx="1"/>
          </p:nvPr>
        </p:nvSpPr>
        <p:spPr>
          <a:xfrm>
            <a:off x="713225" y="2753300"/>
            <a:ext cx="2865300" cy="10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6"/>
          <p:cNvSpPr/>
          <p:nvPr/>
        </p:nvSpPr>
        <p:spPr>
          <a:xfrm flipH="1">
            <a:off x="753090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6"/>
          <p:cNvSpPr/>
          <p:nvPr/>
        </p:nvSpPr>
        <p:spPr>
          <a:xfrm rot="10800000" flipH="1">
            <a:off x="0" y="0"/>
            <a:ext cx="28575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314375" y="44179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-777450" y="44179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7093500" y="-80590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8176100" y="229275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>
            <a:spLocks noGrp="1"/>
          </p:cNvSpPr>
          <p:nvPr>
            <p:ph type="title"/>
          </p:nvPr>
        </p:nvSpPr>
        <p:spPr>
          <a:xfrm>
            <a:off x="2145808" y="1635275"/>
            <a:ext cx="21390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subTitle" idx="1"/>
          </p:nvPr>
        </p:nvSpPr>
        <p:spPr>
          <a:xfrm>
            <a:off x="2145808" y="1991975"/>
            <a:ext cx="2139000" cy="5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title" idx="2"/>
          </p:nvPr>
        </p:nvSpPr>
        <p:spPr>
          <a:xfrm>
            <a:off x="5910993" y="1635275"/>
            <a:ext cx="21390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subTitle" idx="3"/>
          </p:nvPr>
        </p:nvSpPr>
        <p:spPr>
          <a:xfrm>
            <a:off x="5910986" y="1991975"/>
            <a:ext cx="2139000" cy="5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2"/>
          <p:cNvSpPr txBox="1">
            <a:spLocks noGrp="1"/>
          </p:cNvSpPr>
          <p:nvPr>
            <p:ph type="title" idx="4"/>
          </p:nvPr>
        </p:nvSpPr>
        <p:spPr>
          <a:xfrm>
            <a:off x="2145808" y="3068675"/>
            <a:ext cx="21390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subTitle" idx="5"/>
          </p:nvPr>
        </p:nvSpPr>
        <p:spPr>
          <a:xfrm>
            <a:off x="2145808" y="3425375"/>
            <a:ext cx="2139000" cy="5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title" idx="6"/>
          </p:nvPr>
        </p:nvSpPr>
        <p:spPr>
          <a:xfrm>
            <a:off x="5910993" y="3068675"/>
            <a:ext cx="21390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subTitle" idx="7"/>
          </p:nvPr>
        </p:nvSpPr>
        <p:spPr>
          <a:xfrm>
            <a:off x="5910986" y="3425375"/>
            <a:ext cx="2139000" cy="5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title" idx="8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2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2"/>
          <p:cNvSpPr/>
          <p:nvPr/>
        </p:nvSpPr>
        <p:spPr>
          <a:xfrm>
            <a:off x="6634050" y="460857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3" name="Google Shape;203;p26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/>
          <p:nvPr/>
        </p:nvSpPr>
        <p:spPr>
          <a:xfrm rot="10800000" flipH="1">
            <a:off x="0" y="0"/>
            <a:ext cx="28575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8"/>
          <p:cNvSpPr/>
          <p:nvPr/>
        </p:nvSpPr>
        <p:spPr>
          <a:xfrm flipH="1">
            <a:off x="6286800" y="4822125"/>
            <a:ext cx="28572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8"/>
          <p:cNvSpPr/>
          <p:nvPr/>
        </p:nvSpPr>
        <p:spPr>
          <a:xfrm>
            <a:off x="-542100" y="436345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8"/>
          <p:cNvSpPr/>
          <p:nvPr/>
        </p:nvSpPr>
        <p:spPr>
          <a:xfrm>
            <a:off x="8430775" y="-81815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8"/>
          <p:cNvSpPr/>
          <p:nvPr/>
        </p:nvSpPr>
        <p:spPr>
          <a:xfrm>
            <a:off x="713225" y="479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732" scaled="0"/>
        </a:gra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9"/>
          <p:cNvSpPr/>
          <p:nvPr/>
        </p:nvSpPr>
        <p:spPr>
          <a:xfrm rot="10800000">
            <a:off x="7527900" y="0"/>
            <a:ext cx="1616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9"/>
          <p:cNvSpPr/>
          <p:nvPr/>
        </p:nvSpPr>
        <p:spPr>
          <a:xfrm>
            <a:off x="-561150" y="-81815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9"/>
          <p:cNvSpPr/>
          <p:nvPr/>
        </p:nvSpPr>
        <p:spPr>
          <a:xfrm>
            <a:off x="8239950" y="4237275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9"/>
          <p:cNvSpPr/>
          <p:nvPr/>
        </p:nvSpPr>
        <p:spPr>
          <a:xfrm>
            <a:off x="713225" y="-3914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5" r:id="rId4"/>
    <p:sldLayoutId id="2147483657" r:id="rId5"/>
    <p:sldLayoutId id="2147483658" r:id="rId6"/>
    <p:sldLayoutId id="2147483659" r:id="rId7"/>
    <p:sldLayoutId id="2147483661" r:id="rId8"/>
    <p:sldLayoutId id="2147483662" r:id="rId9"/>
    <p:sldLayoutId id="2147483668" r:id="rId10"/>
    <p:sldLayoutId id="2147483672" r:id="rId11"/>
    <p:sldLayoutId id="2147483674" r:id="rId12"/>
    <p:sldLayoutId id="2147483675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/>
          <p:cNvSpPr txBox="1">
            <a:spLocks noGrp="1"/>
          </p:cNvSpPr>
          <p:nvPr>
            <p:ph type="subTitle" idx="1"/>
          </p:nvPr>
        </p:nvSpPr>
        <p:spPr>
          <a:xfrm>
            <a:off x="3926475" y="3373050"/>
            <a:ext cx="3669862" cy="7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 smtClean="0">
                <a:latin typeface="Montserrat" pitchFamily="2" charset="0"/>
              </a:rPr>
              <a:t>Ismaele Antonio Pio Califano – 73941</a:t>
            </a:r>
          </a:p>
          <a:p>
            <a:pPr marL="0" lvl="0" indent="0"/>
            <a:r>
              <a:rPr lang="en" sz="1400" dirty="0" smtClean="0">
                <a:latin typeface="Montserrat" pitchFamily="2" charset="0"/>
              </a:rPr>
              <a:t>Mario Rosa </a:t>
            </a:r>
            <a:r>
              <a:rPr lang="en" sz="1400" dirty="0">
                <a:latin typeface="Montserrat" pitchFamily="2" charset="0"/>
              </a:rPr>
              <a:t>- 73522</a:t>
            </a:r>
            <a:endParaRPr sz="1400" dirty="0">
              <a:latin typeface="Montserrat" pitchFamily="2" charset="0"/>
            </a:endParaRPr>
          </a:p>
        </p:txBody>
      </p:sp>
      <p:cxnSp>
        <p:nvCxnSpPr>
          <p:cNvPr id="236" name="Google Shape;236;p33"/>
          <p:cNvCxnSpPr/>
          <p:nvPr/>
        </p:nvCxnSpPr>
        <p:spPr>
          <a:xfrm>
            <a:off x="3926475" y="3189225"/>
            <a:ext cx="12723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4" name="Google Shape;234;p33"/>
          <p:cNvSpPr txBox="1">
            <a:spLocks noGrp="1"/>
          </p:cNvSpPr>
          <p:nvPr>
            <p:ph type="ctrTitle"/>
          </p:nvPr>
        </p:nvSpPr>
        <p:spPr>
          <a:xfrm>
            <a:off x="3900874" y="1786352"/>
            <a:ext cx="5135622" cy="8117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solidFill>
                  <a:schemeClr val="accent2"/>
                </a:solidFill>
                <a:latin typeface="Montserrat" pitchFamily="2" charset="0"/>
              </a:rPr>
              <a:t>Input Device Bridge</a:t>
            </a:r>
            <a:endParaRPr b="1" dirty="0">
              <a:solidFill>
                <a:schemeClr val="lt2"/>
              </a:solidFill>
              <a:latin typeface="Montserrat" pitchFamily="2" charset="0"/>
            </a:endParaRPr>
          </a:p>
        </p:txBody>
      </p:sp>
      <p:sp>
        <p:nvSpPr>
          <p:cNvPr id="237" name="Google Shape;237;p33"/>
          <p:cNvSpPr/>
          <p:nvPr/>
        </p:nvSpPr>
        <p:spPr>
          <a:xfrm>
            <a:off x="7096000" y="3825650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33"/>
          <p:cNvSpPr/>
          <p:nvPr/>
        </p:nvSpPr>
        <p:spPr>
          <a:xfrm>
            <a:off x="7707775" y="3165300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33"/>
          <p:cNvSpPr/>
          <p:nvPr/>
        </p:nvSpPr>
        <p:spPr>
          <a:xfrm>
            <a:off x="8549975" y="297777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34;p33"/>
          <p:cNvSpPr txBox="1">
            <a:spLocks/>
          </p:cNvSpPr>
          <p:nvPr/>
        </p:nvSpPr>
        <p:spPr>
          <a:xfrm>
            <a:off x="3937600" y="2571750"/>
            <a:ext cx="4649100" cy="445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37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r>
              <a:rPr lang="it-IT" sz="2000" b="1" dirty="0" err="1" smtClean="0">
                <a:solidFill>
                  <a:schemeClr val="lt2"/>
                </a:solidFill>
                <a:latin typeface="Montserrat" pitchFamily="2" charset="0"/>
              </a:rPr>
              <a:t>Final</a:t>
            </a:r>
            <a:r>
              <a:rPr lang="it-IT" sz="2000" b="1" dirty="0" smtClean="0">
                <a:solidFill>
                  <a:schemeClr val="lt2"/>
                </a:solidFill>
                <a:latin typeface="Montserrat" pitchFamily="2" charset="0"/>
              </a:rPr>
              <a:t> </a:t>
            </a:r>
            <a:r>
              <a:rPr lang="it-IT" sz="2000" b="1" dirty="0" err="1" smtClean="0">
                <a:solidFill>
                  <a:schemeClr val="lt2"/>
                </a:solidFill>
                <a:latin typeface="Montserrat" pitchFamily="2" charset="0"/>
              </a:rPr>
              <a:t>check</a:t>
            </a:r>
            <a:r>
              <a:rPr lang="it-IT" sz="2000" b="1" dirty="0" smtClean="0">
                <a:solidFill>
                  <a:schemeClr val="lt2"/>
                </a:solidFill>
                <a:latin typeface="Montserrat" pitchFamily="2" charset="0"/>
              </a:rPr>
              <a:t> </a:t>
            </a:r>
            <a:r>
              <a:rPr lang="it-IT" sz="2000" b="1" dirty="0" err="1" smtClean="0">
                <a:solidFill>
                  <a:schemeClr val="lt2"/>
                </a:solidFill>
                <a:latin typeface="Montserrat" pitchFamily="2" charset="0"/>
              </a:rPr>
              <a:t>point</a:t>
            </a:r>
            <a:endParaRPr lang="it-IT" sz="2000" b="1" dirty="0">
              <a:solidFill>
                <a:schemeClr val="lt2"/>
              </a:solidFill>
              <a:latin typeface="Montserrat" pitchFamily="2" charset="0"/>
            </a:endParaRPr>
          </a:p>
        </p:txBody>
      </p:sp>
      <p:grpSp>
        <p:nvGrpSpPr>
          <p:cNvPr id="5" name="Gruppo 4"/>
          <p:cNvGrpSpPr/>
          <p:nvPr/>
        </p:nvGrpSpPr>
        <p:grpSpPr>
          <a:xfrm>
            <a:off x="-764524" y="966750"/>
            <a:ext cx="4338600" cy="3210000"/>
            <a:chOff x="-764524" y="966750"/>
            <a:chExt cx="4338600" cy="3210000"/>
          </a:xfrm>
        </p:grpSpPr>
        <p:sp>
          <p:nvSpPr>
            <p:cNvPr id="3" name="Rettangolo arrotondato 2"/>
            <p:cNvSpPr/>
            <p:nvPr/>
          </p:nvSpPr>
          <p:spPr>
            <a:xfrm>
              <a:off x="-764524" y="966750"/>
              <a:ext cx="4338600" cy="3210000"/>
            </a:xfrm>
            <a:prstGeom prst="roundRect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tx2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" name="Immagine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504" y="1993037"/>
              <a:ext cx="3177246" cy="1157425"/>
            </a:xfrm>
            <a:prstGeom prst="rect">
              <a:avLst/>
            </a:prstGeom>
          </p:spPr>
        </p:pic>
      </p:grpSp>
      <p:sp>
        <p:nvSpPr>
          <p:cNvPr id="241" name="Google Shape;241;p33"/>
          <p:cNvSpPr/>
          <p:nvPr/>
        </p:nvSpPr>
        <p:spPr>
          <a:xfrm>
            <a:off x="-1081350" y="-63567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33"/>
          <p:cNvSpPr/>
          <p:nvPr/>
        </p:nvSpPr>
        <p:spPr>
          <a:xfrm>
            <a:off x="2361550" y="5395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7656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" grpId="0" build="p"/>
      <p:bldP spid="234" grpId="0"/>
      <p:bldP spid="237" grpId="0" animBg="1"/>
      <p:bldP spid="238" grpId="0" animBg="1"/>
      <p:bldP spid="239" grpId="0" animBg="1"/>
      <p:bldP spid="11" grpId="0"/>
      <p:bldP spid="241" grpId="0" animBg="1"/>
      <p:bldP spid="24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latin typeface="Montserrat" pitchFamily="2" charset="0"/>
              </a:rPr>
              <a:t>Scenario di progetto</a:t>
            </a:r>
            <a:endParaRPr b="1" dirty="0">
              <a:latin typeface="Montserrat" pitchFamily="2" charset="0"/>
            </a:endParaRPr>
          </a:p>
        </p:txBody>
      </p:sp>
      <p:sp>
        <p:nvSpPr>
          <p:cNvPr id="782" name="Google Shape;782;p60"/>
          <p:cNvSpPr/>
          <p:nvPr/>
        </p:nvSpPr>
        <p:spPr>
          <a:xfrm>
            <a:off x="7587225" y="-167447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60"/>
          <p:cNvSpPr/>
          <p:nvPr/>
        </p:nvSpPr>
        <p:spPr>
          <a:xfrm>
            <a:off x="6676350" y="-92912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ruppo 5"/>
          <p:cNvGrpSpPr/>
          <p:nvPr/>
        </p:nvGrpSpPr>
        <p:grpSpPr>
          <a:xfrm>
            <a:off x="3353242" y="2028363"/>
            <a:ext cx="2437500" cy="2631618"/>
            <a:chOff x="3353242" y="2028363"/>
            <a:chExt cx="2437500" cy="2631618"/>
          </a:xfrm>
        </p:grpSpPr>
        <p:sp>
          <p:nvSpPr>
            <p:cNvPr id="780" name="Google Shape;780;p60"/>
            <p:cNvSpPr txBox="1"/>
            <p:nvPr/>
          </p:nvSpPr>
          <p:spPr>
            <a:xfrm>
              <a:off x="3353242" y="3156375"/>
              <a:ext cx="2437500" cy="35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100"/>
                <a:buFont typeface="Arial"/>
                <a:buNone/>
              </a:pPr>
              <a:r>
                <a:rPr lang="en" sz="2300" b="1" dirty="0" smtClean="0">
                  <a:solidFill>
                    <a:schemeClr val="accent2"/>
                  </a:solidFill>
                  <a:latin typeface="Montserrat" pitchFamily="2" charset="0"/>
                  <a:ea typeface="Poppins SemiBold"/>
                  <a:cs typeface="Poppins SemiBold"/>
                  <a:sym typeface="Poppins SemiBold"/>
                </a:rPr>
                <a:t>Scopo sociale</a:t>
              </a:r>
              <a:endParaRPr sz="2300" b="1" dirty="0">
                <a:solidFill>
                  <a:schemeClr val="accent2"/>
                </a:solidFill>
                <a:latin typeface="Montserrat" pitchFamily="2" charset="0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781" name="Google Shape;781;p60"/>
            <p:cNvSpPr txBox="1"/>
            <p:nvPr/>
          </p:nvSpPr>
          <p:spPr>
            <a:xfrm>
              <a:off x="3353242" y="3513074"/>
              <a:ext cx="2437500" cy="11469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it-IT" dirty="0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  <a:sym typeface="Poppins"/>
                </a:rPr>
                <a:t>Abbattere la barriera tra hardware </a:t>
              </a:r>
              <a:r>
                <a:rPr lang="it-IT" dirty="0" err="1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  <a:sym typeface="Poppins"/>
                </a:rPr>
                <a:t>assistivo</a:t>
              </a:r>
              <a:r>
                <a:rPr lang="it-IT" dirty="0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  <a:sym typeface="Poppins"/>
                </a:rPr>
                <a:t> e software commerciale per utenti con disabilità </a:t>
              </a:r>
              <a:r>
                <a:rPr lang="it-IT" dirty="0" smtClean="0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  <a:sym typeface="Poppins"/>
                </a:rPr>
                <a:t>motorie.</a:t>
              </a:r>
              <a:endParaRPr dirty="0">
                <a:solidFill>
                  <a:schemeClr val="dk2"/>
                </a:solidFill>
                <a:latin typeface="Montserrat" pitchFamily="2" charset="0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" name="Gruppo 2"/>
            <p:cNvGrpSpPr/>
            <p:nvPr/>
          </p:nvGrpSpPr>
          <p:grpSpPr>
            <a:xfrm>
              <a:off x="4122292" y="2028363"/>
              <a:ext cx="899400" cy="899400"/>
              <a:chOff x="4122292" y="2028363"/>
              <a:chExt cx="899400" cy="899400"/>
            </a:xfrm>
          </p:grpSpPr>
          <p:sp>
            <p:nvSpPr>
              <p:cNvPr id="774" name="Google Shape;774;p60"/>
              <p:cNvSpPr/>
              <p:nvPr/>
            </p:nvSpPr>
            <p:spPr>
              <a:xfrm>
                <a:off x="4122292" y="2028363"/>
                <a:ext cx="899400" cy="899400"/>
              </a:xfrm>
              <a:prstGeom prst="ellipse">
                <a:avLst/>
              </a:prstGeom>
              <a:solidFill>
                <a:srgbClr val="FCFCFC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chemeClr val="accent1">
                    <a:alpha val="4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2" name="Google Shape;7940;p86"/>
              <p:cNvGrpSpPr/>
              <p:nvPr/>
            </p:nvGrpSpPr>
            <p:grpSpPr>
              <a:xfrm>
                <a:off x="4358203" y="2267387"/>
                <a:ext cx="427578" cy="421351"/>
                <a:chOff x="-5254775" y="3631325"/>
                <a:chExt cx="296950" cy="292625"/>
              </a:xfrm>
              <a:gradFill flip="none" rotWithShape="1">
                <a:gsLst>
                  <a:gs pos="100000">
                    <a:schemeClr val="tx2"/>
                  </a:gs>
                  <a:gs pos="0">
                    <a:schemeClr val="accent1"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</p:grpSpPr>
            <p:sp>
              <p:nvSpPr>
                <p:cNvPr id="23" name="Google Shape;7941;p86"/>
                <p:cNvSpPr/>
                <p:nvPr/>
              </p:nvSpPr>
              <p:spPr>
                <a:xfrm>
                  <a:off x="-5246900" y="3766400"/>
                  <a:ext cx="58300" cy="5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2" h="2206" extrusionOk="0">
                      <a:moveTo>
                        <a:pt x="1769" y="1"/>
                      </a:moveTo>
                      <a:cubicBezTo>
                        <a:pt x="1639" y="1"/>
                        <a:pt x="1513" y="48"/>
                        <a:pt x="1418" y="142"/>
                      </a:cubicBezTo>
                      <a:lnTo>
                        <a:pt x="189" y="1371"/>
                      </a:lnTo>
                      <a:cubicBezTo>
                        <a:pt x="0" y="1560"/>
                        <a:pt x="0" y="1875"/>
                        <a:pt x="189" y="2064"/>
                      </a:cubicBezTo>
                      <a:cubicBezTo>
                        <a:pt x="300" y="2159"/>
                        <a:pt x="434" y="2206"/>
                        <a:pt x="564" y="2206"/>
                      </a:cubicBezTo>
                      <a:cubicBezTo>
                        <a:pt x="694" y="2206"/>
                        <a:pt x="820" y="2159"/>
                        <a:pt x="914" y="2064"/>
                      </a:cubicBezTo>
                      <a:lnTo>
                        <a:pt x="2143" y="835"/>
                      </a:lnTo>
                      <a:cubicBezTo>
                        <a:pt x="2332" y="646"/>
                        <a:pt x="2332" y="331"/>
                        <a:pt x="2143" y="142"/>
                      </a:cubicBezTo>
                      <a:cubicBezTo>
                        <a:pt x="2033" y="48"/>
                        <a:pt x="1899" y="1"/>
                        <a:pt x="17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7942;p86"/>
                <p:cNvSpPr/>
                <p:nvPr/>
              </p:nvSpPr>
              <p:spPr>
                <a:xfrm>
                  <a:off x="-5216175" y="3795550"/>
                  <a:ext cx="58300" cy="5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2" h="2238" extrusionOk="0">
                      <a:moveTo>
                        <a:pt x="1764" y="0"/>
                      </a:moveTo>
                      <a:cubicBezTo>
                        <a:pt x="1638" y="0"/>
                        <a:pt x="1512" y="47"/>
                        <a:pt x="1418" y="142"/>
                      </a:cubicBezTo>
                      <a:lnTo>
                        <a:pt x="189" y="1371"/>
                      </a:lnTo>
                      <a:cubicBezTo>
                        <a:pt x="0" y="1560"/>
                        <a:pt x="0" y="1875"/>
                        <a:pt x="189" y="2095"/>
                      </a:cubicBezTo>
                      <a:cubicBezTo>
                        <a:pt x="284" y="2190"/>
                        <a:pt x="410" y="2237"/>
                        <a:pt x="540" y="2237"/>
                      </a:cubicBezTo>
                      <a:cubicBezTo>
                        <a:pt x="670" y="2237"/>
                        <a:pt x="804" y="2190"/>
                        <a:pt x="914" y="2095"/>
                      </a:cubicBezTo>
                      <a:lnTo>
                        <a:pt x="2111" y="867"/>
                      </a:lnTo>
                      <a:cubicBezTo>
                        <a:pt x="2332" y="678"/>
                        <a:pt x="2332" y="363"/>
                        <a:pt x="2111" y="142"/>
                      </a:cubicBezTo>
                      <a:cubicBezTo>
                        <a:pt x="2016" y="47"/>
                        <a:pt x="1890" y="0"/>
                        <a:pt x="176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" name="Google Shape;7943;p86"/>
                <p:cNvSpPr/>
                <p:nvPr/>
              </p:nvSpPr>
              <p:spPr>
                <a:xfrm>
                  <a:off x="-5185475" y="3826250"/>
                  <a:ext cx="57525" cy="5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1" h="2230" extrusionOk="0">
                      <a:moveTo>
                        <a:pt x="1765" y="1"/>
                      </a:moveTo>
                      <a:cubicBezTo>
                        <a:pt x="1639" y="1"/>
                        <a:pt x="1513" y="48"/>
                        <a:pt x="1419" y="143"/>
                      </a:cubicBezTo>
                      <a:lnTo>
                        <a:pt x="190" y="1371"/>
                      </a:lnTo>
                      <a:cubicBezTo>
                        <a:pt x="1" y="1560"/>
                        <a:pt x="1" y="1875"/>
                        <a:pt x="190" y="2064"/>
                      </a:cubicBezTo>
                      <a:cubicBezTo>
                        <a:pt x="284" y="2175"/>
                        <a:pt x="410" y="2230"/>
                        <a:pt x="536" y="2230"/>
                      </a:cubicBezTo>
                      <a:cubicBezTo>
                        <a:pt x="662" y="2230"/>
                        <a:pt x="788" y="2175"/>
                        <a:pt x="883" y="2064"/>
                      </a:cubicBezTo>
                      <a:lnTo>
                        <a:pt x="2112" y="836"/>
                      </a:lnTo>
                      <a:cubicBezTo>
                        <a:pt x="2301" y="647"/>
                        <a:pt x="2301" y="332"/>
                        <a:pt x="2112" y="143"/>
                      </a:cubicBezTo>
                      <a:cubicBezTo>
                        <a:pt x="2017" y="48"/>
                        <a:pt x="1891" y="1"/>
                        <a:pt x="176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Google Shape;7944;p86"/>
                <p:cNvSpPr/>
                <p:nvPr/>
              </p:nvSpPr>
              <p:spPr>
                <a:xfrm>
                  <a:off x="-5156325" y="3856375"/>
                  <a:ext cx="58300" cy="5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2" h="2230" extrusionOk="0">
                      <a:moveTo>
                        <a:pt x="1781" y="1"/>
                      </a:moveTo>
                      <a:cubicBezTo>
                        <a:pt x="1655" y="1"/>
                        <a:pt x="1529" y="56"/>
                        <a:pt x="1418" y="166"/>
                      </a:cubicBezTo>
                      <a:lnTo>
                        <a:pt x="190" y="1395"/>
                      </a:lnTo>
                      <a:cubicBezTo>
                        <a:pt x="1" y="1584"/>
                        <a:pt x="1" y="1899"/>
                        <a:pt x="190" y="2088"/>
                      </a:cubicBezTo>
                      <a:cubicBezTo>
                        <a:pt x="300" y="2183"/>
                        <a:pt x="442" y="2230"/>
                        <a:pt x="575" y="2230"/>
                      </a:cubicBezTo>
                      <a:cubicBezTo>
                        <a:pt x="709" y="2230"/>
                        <a:pt x="835" y="2183"/>
                        <a:pt x="914" y="2088"/>
                      </a:cubicBezTo>
                      <a:lnTo>
                        <a:pt x="2143" y="859"/>
                      </a:lnTo>
                      <a:cubicBezTo>
                        <a:pt x="2332" y="670"/>
                        <a:pt x="2332" y="355"/>
                        <a:pt x="2143" y="166"/>
                      </a:cubicBezTo>
                      <a:cubicBezTo>
                        <a:pt x="2033" y="56"/>
                        <a:pt x="1907" y="1"/>
                        <a:pt x="178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7945;p86"/>
                <p:cNvSpPr/>
                <p:nvPr/>
              </p:nvSpPr>
              <p:spPr>
                <a:xfrm>
                  <a:off x="-5105925" y="3886525"/>
                  <a:ext cx="37050" cy="3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" h="1497" extrusionOk="0">
                      <a:moveTo>
                        <a:pt x="662" y="0"/>
                      </a:moveTo>
                      <a:lnTo>
                        <a:pt x="536" y="126"/>
                      </a:lnTo>
                      <a:lnTo>
                        <a:pt x="1" y="756"/>
                      </a:lnTo>
                      <a:lnTo>
                        <a:pt x="599" y="1355"/>
                      </a:lnTo>
                      <a:cubicBezTo>
                        <a:pt x="694" y="1449"/>
                        <a:pt x="820" y="1497"/>
                        <a:pt x="946" y="1497"/>
                      </a:cubicBezTo>
                      <a:cubicBezTo>
                        <a:pt x="1072" y="1497"/>
                        <a:pt x="1198" y="1449"/>
                        <a:pt x="1293" y="1355"/>
                      </a:cubicBezTo>
                      <a:cubicBezTo>
                        <a:pt x="1482" y="1166"/>
                        <a:pt x="1482" y="851"/>
                        <a:pt x="1293" y="662"/>
                      </a:cubicBezTo>
                      <a:lnTo>
                        <a:pt x="66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" name="Google Shape;7946;p86"/>
                <p:cNvSpPr/>
                <p:nvPr/>
              </p:nvSpPr>
              <p:spPr>
                <a:xfrm>
                  <a:off x="-5254775" y="3648050"/>
                  <a:ext cx="278050" cy="24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2" h="9933" extrusionOk="0">
                      <a:moveTo>
                        <a:pt x="4049" y="1"/>
                      </a:moveTo>
                      <a:cubicBezTo>
                        <a:pt x="3781" y="1"/>
                        <a:pt x="3513" y="103"/>
                        <a:pt x="3308" y="308"/>
                      </a:cubicBezTo>
                      <a:lnTo>
                        <a:pt x="410" y="3364"/>
                      </a:lnTo>
                      <a:cubicBezTo>
                        <a:pt x="0" y="3774"/>
                        <a:pt x="0" y="4435"/>
                        <a:pt x="410" y="4813"/>
                      </a:cubicBezTo>
                      <a:lnTo>
                        <a:pt x="631" y="5065"/>
                      </a:lnTo>
                      <a:lnTo>
                        <a:pt x="1198" y="4498"/>
                      </a:lnTo>
                      <a:cubicBezTo>
                        <a:pt x="1454" y="4242"/>
                        <a:pt x="1794" y="4106"/>
                        <a:pt x="2122" y="4106"/>
                      </a:cubicBezTo>
                      <a:cubicBezTo>
                        <a:pt x="2398" y="4106"/>
                        <a:pt x="2666" y="4202"/>
                        <a:pt x="2867" y="4404"/>
                      </a:cubicBezTo>
                      <a:cubicBezTo>
                        <a:pt x="3151" y="4624"/>
                        <a:pt x="3308" y="4971"/>
                        <a:pt x="3277" y="5286"/>
                      </a:cubicBezTo>
                      <a:cubicBezTo>
                        <a:pt x="3592" y="5286"/>
                        <a:pt x="3907" y="5412"/>
                        <a:pt x="4128" y="5664"/>
                      </a:cubicBezTo>
                      <a:cubicBezTo>
                        <a:pt x="4380" y="5884"/>
                        <a:pt x="4506" y="6200"/>
                        <a:pt x="4506" y="6515"/>
                      </a:cubicBezTo>
                      <a:cubicBezTo>
                        <a:pt x="4821" y="6515"/>
                        <a:pt x="5136" y="6641"/>
                        <a:pt x="5356" y="6861"/>
                      </a:cubicBezTo>
                      <a:cubicBezTo>
                        <a:pt x="5608" y="7113"/>
                        <a:pt x="5703" y="7428"/>
                        <a:pt x="5703" y="7743"/>
                      </a:cubicBezTo>
                      <a:cubicBezTo>
                        <a:pt x="6018" y="7743"/>
                        <a:pt x="6364" y="7869"/>
                        <a:pt x="6585" y="8090"/>
                      </a:cubicBezTo>
                      <a:cubicBezTo>
                        <a:pt x="6837" y="8342"/>
                        <a:pt x="6931" y="8657"/>
                        <a:pt x="6931" y="8909"/>
                      </a:cubicBezTo>
                      <a:lnTo>
                        <a:pt x="7814" y="9791"/>
                      </a:lnTo>
                      <a:cubicBezTo>
                        <a:pt x="7908" y="9886"/>
                        <a:pt x="8034" y="9933"/>
                        <a:pt x="8160" y="9933"/>
                      </a:cubicBezTo>
                      <a:cubicBezTo>
                        <a:pt x="8286" y="9933"/>
                        <a:pt x="8412" y="9886"/>
                        <a:pt x="8507" y="9791"/>
                      </a:cubicBezTo>
                      <a:cubicBezTo>
                        <a:pt x="8727" y="9602"/>
                        <a:pt x="8727" y="9287"/>
                        <a:pt x="8507" y="9066"/>
                      </a:cubicBezTo>
                      <a:lnTo>
                        <a:pt x="7656" y="8216"/>
                      </a:lnTo>
                      <a:cubicBezTo>
                        <a:pt x="7530" y="8090"/>
                        <a:pt x="7530" y="7869"/>
                        <a:pt x="7656" y="7743"/>
                      </a:cubicBezTo>
                      <a:cubicBezTo>
                        <a:pt x="7748" y="7596"/>
                        <a:pt x="7851" y="7534"/>
                        <a:pt x="7953" y="7534"/>
                      </a:cubicBezTo>
                      <a:cubicBezTo>
                        <a:pt x="8024" y="7534"/>
                        <a:pt x="8095" y="7565"/>
                        <a:pt x="8160" y="7617"/>
                      </a:cubicBezTo>
                      <a:lnTo>
                        <a:pt x="9011" y="8499"/>
                      </a:lnTo>
                      <a:cubicBezTo>
                        <a:pt x="9121" y="8594"/>
                        <a:pt x="9255" y="8641"/>
                        <a:pt x="9385" y="8641"/>
                      </a:cubicBezTo>
                      <a:cubicBezTo>
                        <a:pt x="9515" y="8641"/>
                        <a:pt x="9641" y="8594"/>
                        <a:pt x="9735" y="8499"/>
                      </a:cubicBezTo>
                      <a:cubicBezTo>
                        <a:pt x="9924" y="8279"/>
                        <a:pt x="9924" y="7964"/>
                        <a:pt x="9735" y="7775"/>
                      </a:cubicBezTo>
                      <a:lnTo>
                        <a:pt x="8853" y="6924"/>
                      </a:lnTo>
                      <a:cubicBezTo>
                        <a:pt x="8759" y="6798"/>
                        <a:pt x="8759" y="6578"/>
                        <a:pt x="8853" y="6452"/>
                      </a:cubicBezTo>
                      <a:cubicBezTo>
                        <a:pt x="8916" y="6389"/>
                        <a:pt x="9011" y="6357"/>
                        <a:pt x="9101" y="6357"/>
                      </a:cubicBezTo>
                      <a:cubicBezTo>
                        <a:pt x="9192" y="6357"/>
                        <a:pt x="9279" y="6389"/>
                        <a:pt x="9326" y="6452"/>
                      </a:cubicBezTo>
                      <a:lnTo>
                        <a:pt x="10208" y="7302"/>
                      </a:lnTo>
                      <a:cubicBezTo>
                        <a:pt x="10303" y="7397"/>
                        <a:pt x="10429" y="7444"/>
                        <a:pt x="10555" y="7444"/>
                      </a:cubicBezTo>
                      <a:cubicBezTo>
                        <a:pt x="10681" y="7444"/>
                        <a:pt x="10807" y="7397"/>
                        <a:pt x="10901" y="7302"/>
                      </a:cubicBezTo>
                      <a:cubicBezTo>
                        <a:pt x="11122" y="7113"/>
                        <a:pt x="11122" y="6798"/>
                        <a:pt x="10901" y="6609"/>
                      </a:cubicBezTo>
                      <a:lnTo>
                        <a:pt x="10334" y="6010"/>
                      </a:lnTo>
                      <a:lnTo>
                        <a:pt x="10208" y="5884"/>
                      </a:lnTo>
                      <a:lnTo>
                        <a:pt x="6931" y="2608"/>
                      </a:lnTo>
                      <a:cubicBezTo>
                        <a:pt x="6884" y="2561"/>
                        <a:pt x="6798" y="2537"/>
                        <a:pt x="6707" y="2537"/>
                      </a:cubicBezTo>
                      <a:cubicBezTo>
                        <a:pt x="6616" y="2537"/>
                        <a:pt x="6522" y="2561"/>
                        <a:pt x="6459" y="2608"/>
                      </a:cubicBezTo>
                      <a:lnTo>
                        <a:pt x="5167" y="3931"/>
                      </a:lnTo>
                      <a:cubicBezTo>
                        <a:pt x="4904" y="4176"/>
                        <a:pt x="4562" y="4308"/>
                        <a:pt x="4229" y="4308"/>
                      </a:cubicBezTo>
                      <a:cubicBezTo>
                        <a:pt x="4004" y="4308"/>
                        <a:pt x="3783" y="4247"/>
                        <a:pt x="3592" y="4120"/>
                      </a:cubicBezTo>
                      <a:cubicBezTo>
                        <a:pt x="2962" y="3679"/>
                        <a:pt x="2930" y="2829"/>
                        <a:pt x="3434" y="2293"/>
                      </a:cubicBezTo>
                      <a:lnTo>
                        <a:pt x="5010" y="529"/>
                      </a:lnTo>
                      <a:lnTo>
                        <a:pt x="4789" y="308"/>
                      </a:lnTo>
                      <a:cubicBezTo>
                        <a:pt x="4584" y="103"/>
                        <a:pt x="4317" y="1"/>
                        <a:pt x="404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" name="Google Shape;7947;p86"/>
                <p:cNvSpPr/>
                <p:nvPr/>
              </p:nvSpPr>
              <p:spPr>
                <a:xfrm>
                  <a:off x="-5163425" y="3631325"/>
                  <a:ext cx="205600" cy="15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4" h="6018" extrusionOk="0">
                      <a:moveTo>
                        <a:pt x="3699" y="0"/>
                      </a:moveTo>
                      <a:cubicBezTo>
                        <a:pt x="3435" y="0"/>
                        <a:pt x="3167" y="95"/>
                        <a:pt x="2962" y="284"/>
                      </a:cubicBezTo>
                      <a:lnTo>
                        <a:pt x="2364" y="883"/>
                      </a:lnTo>
                      <a:lnTo>
                        <a:pt x="2269" y="1009"/>
                      </a:lnTo>
                      <a:lnTo>
                        <a:pt x="222" y="3245"/>
                      </a:lnTo>
                      <a:cubicBezTo>
                        <a:pt x="1" y="3435"/>
                        <a:pt x="1" y="3781"/>
                        <a:pt x="222" y="3970"/>
                      </a:cubicBezTo>
                      <a:cubicBezTo>
                        <a:pt x="316" y="4065"/>
                        <a:pt x="442" y="4112"/>
                        <a:pt x="568" y="4112"/>
                      </a:cubicBezTo>
                      <a:cubicBezTo>
                        <a:pt x="694" y="4112"/>
                        <a:pt x="820" y="4065"/>
                        <a:pt x="915" y="3970"/>
                      </a:cubicBezTo>
                      <a:lnTo>
                        <a:pt x="2269" y="2615"/>
                      </a:lnTo>
                      <a:cubicBezTo>
                        <a:pt x="2458" y="2426"/>
                        <a:pt x="2718" y="2332"/>
                        <a:pt x="2982" y="2332"/>
                      </a:cubicBezTo>
                      <a:cubicBezTo>
                        <a:pt x="3246" y="2332"/>
                        <a:pt x="3514" y="2426"/>
                        <a:pt x="3719" y="2615"/>
                      </a:cubicBezTo>
                      <a:lnTo>
                        <a:pt x="7090" y="6018"/>
                      </a:lnTo>
                      <a:lnTo>
                        <a:pt x="7814" y="5356"/>
                      </a:lnTo>
                      <a:cubicBezTo>
                        <a:pt x="8224" y="4947"/>
                        <a:pt x="8224" y="4285"/>
                        <a:pt x="7814" y="3876"/>
                      </a:cubicBezTo>
                      <a:lnTo>
                        <a:pt x="4412" y="284"/>
                      </a:lnTo>
                      <a:cubicBezTo>
                        <a:pt x="4223" y="95"/>
                        <a:pt x="3963" y="0"/>
                        <a:pt x="369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5" name="Gruppo 4"/>
          <p:cNvGrpSpPr/>
          <p:nvPr/>
        </p:nvGrpSpPr>
        <p:grpSpPr>
          <a:xfrm>
            <a:off x="713213" y="1371688"/>
            <a:ext cx="2437509" cy="2714839"/>
            <a:chOff x="713213" y="1371688"/>
            <a:chExt cx="2437509" cy="2714839"/>
          </a:xfrm>
        </p:grpSpPr>
        <p:sp>
          <p:nvSpPr>
            <p:cNvPr id="768" name="Google Shape;768;p60"/>
            <p:cNvSpPr txBox="1"/>
            <p:nvPr/>
          </p:nvSpPr>
          <p:spPr>
            <a:xfrm>
              <a:off x="713222" y="2499700"/>
              <a:ext cx="2437500" cy="35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 b="1" dirty="0" smtClean="0">
                  <a:solidFill>
                    <a:schemeClr val="accent2"/>
                  </a:solidFill>
                  <a:latin typeface="Montserrat" pitchFamily="2" charset="0"/>
                  <a:ea typeface="Poppins SemiBold"/>
                  <a:cs typeface="Poppins SemiBold"/>
                  <a:sym typeface="Poppins SemiBold"/>
                </a:rPr>
                <a:t>Obiettivo</a:t>
              </a:r>
              <a:endParaRPr sz="2300" b="1" dirty="0">
                <a:solidFill>
                  <a:schemeClr val="accent2"/>
                </a:solidFill>
                <a:latin typeface="Montserrat" pitchFamily="2" charset="0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769" name="Google Shape;769;p60"/>
            <p:cNvSpPr txBox="1"/>
            <p:nvPr/>
          </p:nvSpPr>
          <p:spPr>
            <a:xfrm>
              <a:off x="713213" y="2856400"/>
              <a:ext cx="2437500" cy="12301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it-IT" dirty="0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  <a:sym typeface="Poppins"/>
                </a:rPr>
                <a:t>Realizzare un </a:t>
              </a:r>
              <a:r>
                <a:rPr lang="it-IT" i="1" dirty="0" err="1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  <a:sym typeface="Poppins"/>
                </a:rPr>
                <a:t>m</a:t>
              </a:r>
              <a:r>
                <a:rPr lang="it-IT" i="1" dirty="0" err="1" smtClean="0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  <a:sym typeface="Poppins"/>
                </a:rPr>
                <a:t>iddleware</a:t>
              </a:r>
              <a:r>
                <a:rPr lang="it-IT" dirty="0" smtClean="0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  <a:sym typeface="Poppins"/>
                </a:rPr>
                <a:t> che </a:t>
              </a:r>
              <a:r>
                <a:rPr lang="it-IT" dirty="0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  <a:sym typeface="Poppins"/>
                </a:rPr>
                <a:t>traduca segnali da periferiche non </a:t>
              </a:r>
              <a:r>
                <a:rPr lang="it-IT" dirty="0" smtClean="0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  <a:sym typeface="Poppins"/>
                </a:rPr>
                <a:t>standard, in </a:t>
              </a:r>
              <a:r>
                <a:rPr lang="it-IT" dirty="0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  <a:sym typeface="Poppins"/>
                </a:rPr>
                <a:t>eventi di input </a:t>
              </a:r>
              <a:r>
                <a:rPr lang="it-IT" dirty="0" smtClean="0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  <a:sym typeface="Poppins"/>
                </a:rPr>
                <a:t>standard.</a:t>
              </a:r>
              <a:endParaRPr dirty="0">
                <a:solidFill>
                  <a:schemeClr val="dk2"/>
                </a:solidFill>
                <a:latin typeface="Montserrat" pitchFamily="2" charset="0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2" name="Gruppo 1"/>
            <p:cNvGrpSpPr/>
            <p:nvPr/>
          </p:nvGrpSpPr>
          <p:grpSpPr>
            <a:xfrm>
              <a:off x="1482287" y="1371688"/>
              <a:ext cx="899400" cy="899400"/>
              <a:chOff x="1482287" y="1371688"/>
              <a:chExt cx="899400" cy="899400"/>
            </a:xfrm>
            <a:effectLst>
              <a:outerShdw blurRad="50800" dist="38100" dir="8100000" algn="tr" rotWithShape="0">
                <a:schemeClr val="accent1">
                  <a:alpha val="40000"/>
                </a:schemeClr>
              </a:outerShdw>
            </a:effectLst>
          </p:grpSpPr>
          <p:sp>
            <p:nvSpPr>
              <p:cNvPr id="770" name="Google Shape;770;p60"/>
              <p:cNvSpPr/>
              <p:nvPr/>
            </p:nvSpPr>
            <p:spPr>
              <a:xfrm>
                <a:off x="1482287" y="1371688"/>
                <a:ext cx="899400" cy="899400"/>
              </a:xfrm>
              <a:prstGeom prst="ellipse">
                <a:avLst/>
              </a:prstGeom>
              <a:solidFill>
                <a:srgbClr val="FCFCFC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0" name="Google Shape;7796;p86"/>
              <p:cNvGrpSpPr/>
              <p:nvPr/>
            </p:nvGrpSpPr>
            <p:grpSpPr>
              <a:xfrm>
                <a:off x="1721023" y="1630431"/>
                <a:ext cx="421927" cy="419659"/>
                <a:chOff x="-6329100" y="3632100"/>
                <a:chExt cx="293025" cy="291450"/>
              </a:xfrm>
              <a:gradFill flip="none" rotWithShape="1">
                <a:gsLst>
                  <a:gs pos="100000">
                    <a:schemeClr val="tx2"/>
                  </a:gs>
                  <a:gs pos="0">
                    <a:schemeClr val="accent1"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</p:grpSpPr>
            <p:sp>
              <p:nvSpPr>
                <p:cNvPr id="31" name="Google Shape;7797;p86"/>
                <p:cNvSpPr/>
                <p:nvPr/>
              </p:nvSpPr>
              <p:spPr>
                <a:xfrm>
                  <a:off x="-6210700" y="3751600"/>
                  <a:ext cx="174625" cy="17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" h="6878" extrusionOk="0">
                      <a:moveTo>
                        <a:pt x="492" y="0"/>
                      </a:moveTo>
                      <a:cubicBezTo>
                        <a:pt x="219" y="0"/>
                        <a:pt x="0" y="235"/>
                        <a:pt x="85" y="545"/>
                      </a:cubicBezTo>
                      <a:lnTo>
                        <a:pt x="1503" y="5712"/>
                      </a:lnTo>
                      <a:cubicBezTo>
                        <a:pt x="1559" y="5882"/>
                        <a:pt x="1707" y="5984"/>
                        <a:pt x="1856" y="5984"/>
                      </a:cubicBezTo>
                      <a:cubicBezTo>
                        <a:pt x="1956" y="5984"/>
                        <a:pt x="2057" y="5939"/>
                        <a:pt x="2133" y="5838"/>
                      </a:cubicBezTo>
                      <a:lnTo>
                        <a:pt x="2889" y="4735"/>
                      </a:lnTo>
                      <a:lnTo>
                        <a:pt x="3739" y="5712"/>
                      </a:lnTo>
                      <a:lnTo>
                        <a:pt x="4622" y="6594"/>
                      </a:lnTo>
                      <a:cubicBezTo>
                        <a:pt x="4811" y="6783"/>
                        <a:pt x="5086" y="6878"/>
                        <a:pt x="5362" y="6878"/>
                      </a:cubicBezTo>
                      <a:cubicBezTo>
                        <a:pt x="5638" y="6878"/>
                        <a:pt x="5913" y="6783"/>
                        <a:pt x="6102" y="6594"/>
                      </a:cubicBezTo>
                      <a:lnTo>
                        <a:pt x="6575" y="6122"/>
                      </a:lnTo>
                      <a:cubicBezTo>
                        <a:pt x="6984" y="5712"/>
                        <a:pt x="6984" y="5113"/>
                        <a:pt x="6575" y="4672"/>
                      </a:cubicBezTo>
                      <a:lnTo>
                        <a:pt x="4811" y="2814"/>
                      </a:lnTo>
                      <a:lnTo>
                        <a:pt x="5913" y="2058"/>
                      </a:lnTo>
                      <a:cubicBezTo>
                        <a:pt x="6134" y="1900"/>
                        <a:pt x="6102" y="1522"/>
                        <a:pt x="5787" y="1427"/>
                      </a:cubicBezTo>
                      <a:lnTo>
                        <a:pt x="589" y="10"/>
                      </a:lnTo>
                      <a:cubicBezTo>
                        <a:pt x="556" y="3"/>
                        <a:pt x="524" y="0"/>
                        <a:pt x="4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" name="Google Shape;7798;p86"/>
                <p:cNvSpPr/>
                <p:nvPr/>
              </p:nvSpPr>
              <p:spPr>
                <a:xfrm>
                  <a:off x="-6272400" y="3691975"/>
                  <a:ext cx="136300" cy="1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2" h="5420" extrusionOk="0">
                      <a:moveTo>
                        <a:pt x="2742" y="0"/>
                      </a:moveTo>
                      <a:cubicBezTo>
                        <a:pt x="1261" y="0"/>
                        <a:pt x="1" y="1229"/>
                        <a:pt x="1" y="2710"/>
                      </a:cubicBezTo>
                      <a:cubicBezTo>
                        <a:pt x="1" y="4127"/>
                        <a:pt x="1041" y="5293"/>
                        <a:pt x="2427" y="5419"/>
                      </a:cubicBezTo>
                      <a:lnTo>
                        <a:pt x="2112" y="4317"/>
                      </a:lnTo>
                      <a:cubicBezTo>
                        <a:pt x="1482" y="4096"/>
                        <a:pt x="1009" y="3466"/>
                        <a:pt x="1009" y="2741"/>
                      </a:cubicBezTo>
                      <a:cubicBezTo>
                        <a:pt x="1041" y="1765"/>
                        <a:pt x="1828" y="1009"/>
                        <a:pt x="2773" y="1009"/>
                      </a:cubicBezTo>
                      <a:cubicBezTo>
                        <a:pt x="3530" y="1009"/>
                        <a:pt x="4128" y="1481"/>
                        <a:pt x="4349" y="2143"/>
                      </a:cubicBezTo>
                      <a:lnTo>
                        <a:pt x="5451" y="2458"/>
                      </a:lnTo>
                      <a:cubicBezTo>
                        <a:pt x="5294" y="1072"/>
                        <a:pt x="4160" y="0"/>
                        <a:pt x="274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" name="Google Shape;7799;p86"/>
                <p:cNvSpPr/>
                <p:nvPr/>
              </p:nvSpPr>
              <p:spPr>
                <a:xfrm>
                  <a:off x="-6329100" y="3632100"/>
                  <a:ext cx="257575" cy="25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3" h="10241" extrusionOk="0">
                      <a:moveTo>
                        <a:pt x="5136" y="1"/>
                      </a:moveTo>
                      <a:cubicBezTo>
                        <a:pt x="2301" y="1"/>
                        <a:pt x="1" y="2269"/>
                        <a:pt x="1" y="5105"/>
                      </a:cubicBezTo>
                      <a:cubicBezTo>
                        <a:pt x="1" y="7972"/>
                        <a:pt x="2332" y="10240"/>
                        <a:pt x="5136" y="10240"/>
                      </a:cubicBezTo>
                      <a:cubicBezTo>
                        <a:pt x="5262" y="10240"/>
                        <a:pt x="5356" y="10240"/>
                        <a:pt x="5451" y="10177"/>
                      </a:cubicBezTo>
                      <a:lnTo>
                        <a:pt x="4978" y="8444"/>
                      </a:lnTo>
                      <a:cubicBezTo>
                        <a:pt x="4959" y="8445"/>
                        <a:pt x="4940" y="8445"/>
                        <a:pt x="4921" y="8445"/>
                      </a:cubicBezTo>
                      <a:cubicBezTo>
                        <a:pt x="3089" y="8445"/>
                        <a:pt x="1639" y="6945"/>
                        <a:pt x="1639" y="5105"/>
                      </a:cubicBezTo>
                      <a:cubicBezTo>
                        <a:pt x="1639" y="3214"/>
                        <a:pt x="3151" y="1702"/>
                        <a:pt x="5073" y="1702"/>
                      </a:cubicBezTo>
                      <a:cubicBezTo>
                        <a:pt x="6900" y="1702"/>
                        <a:pt x="8412" y="3151"/>
                        <a:pt x="8475" y="4979"/>
                      </a:cubicBezTo>
                      <a:lnTo>
                        <a:pt x="10208" y="5451"/>
                      </a:lnTo>
                      <a:cubicBezTo>
                        <a:pt x="10303" y="4002"/>
                        <a:pt x="9799" y="2553"/>
                        <a:pt x="8759" y="1482"/>
                      </a:cubicBezTo>
                      <a:cubicBezTo>
                        <a:pt x="7782" y="505"/>
                        <a:pt x="6522" y="1"/>
                        <a:pt x="513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7" name="Gruppo 6"/>
          <p:cNvGrpSpPr/>
          <p:nvPr/>
        </p:nvGrpSpPr>
        <p:grpSpPr>
          <a:xfrm>
            <a:off x="5970467" y="1371688"/>
            <a:ext cx="2568340" cy="2424198"/>
            <a:chOff x="5970467" y="1371688"/>
            <a:chExt cx="2568340" cy="2424198"/>
          </a:xfrm>
        </p:grpSpPr>
        <p:sp>
          <p:nvSpPr>
            <p:cNvPr id="778" name="Google Shape;778;p60"/>
            <p:cNvSpPr txBox="1"/>
            <p:nvPr/>
          </p:nvSpPr>
          <p:spPr>
            <a:xfrm>
              <a:off x="5970467" y="2499739"/>
              <a:ext cx="2568340" cy="35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100"/>
                <a:buFont typeface="Arial"/>
                <a:buNone/>
              </a:pPr>
              <a:r>
                <a:rPr lang="en" sz="2300" b="1" dirty="0" smtClean="0">
                  <a:solidFill>
                    <a:schemeClr val="accent2"/>
                  </a:solidFill>
                  <a:latin typeface="Montserrat" pitchFamily="2" charset="0"/>
                  <a:ea typeface="Poppins SemiBold"/>
                  <a:cs typeface="Poppins SemiBold"/>
                  <a:sym typeface="Poppins SemiBold"/>
                </a:rPr>
                <a:t>Sfida principale</a:t>
              </a:r>
              <a:endParaRPr sz="2300" b="1" dirty="0">
                <a:solidFill>
                  <a:schemeClr val="accent2"/>
                </a:solidFill>
                <a:latin typeface="Montserrat" pitchFamily="2" charset="0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779" name="Google Shape;779;p60"/>
            <p:cNvSpPr txBox="1"/>
            <p:nvPr/>
          </p:nvSpPr>
          <p:spPr>
            <a:xfrm>
              <a:off x="5993263" y="2856400"/>
              <a:ext cx="2437500" cy="9394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it-IT" dirty="0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  <a:sym typeface="Poppins"/>
                </a:rPr>
                <a:t>Il sistema deve operare come un interprete "invisibile" e "in tempo </a:t>
              </a:r>
              <a:r>
                <a:rPr lang="it-IT" dirty="0" smtClean="0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  <a:sym typeface="Poppins"/>
                </a:rPr>
                <a:t>reale".</a:t>
              </a:r>
              <a:endParaRPr dirty="0">
                <a:solidFill>
                  <a:schemeClr val="dk2"/>
                </a:solidFill>
                <a:latin typeface="Montserrat" pitchFamily="2" charset="0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4" name="Gruppo 3"/>
            <p:cNvGrpSpPr/>
            <p:nvPr/>
          </p:nvGrpSpPr>
          <p:grpSpPr>
            <a:xfrm>
              <a:off x="6804937" y="1371688"/>
              <a:ext cx="899400" cy="899400"/>
              <a:chOff x="6804937" y="1371688"/>
              <a:chExt cx="899400" cy="899400"/>
            </a:xfrm>
            <a:effectLst>
              <a:outerShdw blurRad="50800" dist="38100" dir="2700000" algn="tl" rotWithShape="0">
                <a:schemeClr val="accent1">
                  <a:alpha val="40000"/>
                </a:schemeClr>
              </a:outerShdw>
            </a:effectLst>
          </p:grpSpPr>
          <p:sp>
            <p:nvSpPr>
              <p:cNvPr id="775" name="Google Shape;775;p60"/>
              <p:cNvSpPr/>
              <p:nvPr/>
            </p:nvSpPr>
            <p:spPr>
              <a:xfrm>
                <a:off x="6804937" y="1371688"/>
                <a:ext cx="899400" cy="899400"/>
              </a:xfrm>
              <a:prstGeom prst="ellipse">
                <a:avLst/>
              </a:prstGeom>
              <a:solidFill>
                <a:srgbClr val="FCFCFC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4" name="Google Shape;7066;p84"/>
              <p:cNvGrpSpPr/>
              <p:nvPr/>
            </p:nvGrpSpPr>
            <p:grpSpPr>
              <a:xfrm>
                <a:off x="7077008" y="1686183"/>
                <a:ext cx="355258" cy="270410"/>
                <a:chOff x="-47523400" y="3973950"/>
                <a:chExt cx="300100" cy="228425"/>
              </a:xfrm>
              <a:gradFill flip="none" rotWithShape="1">
                <a:gsLst>
                  <a:gs pos="100000">
                    <a:schemeClr val="tx2"/>
                  </a:gs>
                  <a:gs pos="0">
                    <a:schemeClr val="accent1"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</p:grpSpPr>
            <p:sp>
              <p:nvSpPr>
                <p:cNvPr id="35" name="Google Shape;7067;p84"/>
                <p:cNvSpPr/>
                <p:nvPr/>
              </p:nvSpPr>
              <p:spPr>
                <a:xfrm>
                  <a:off x="-47417075" y="4061375"/>
                  <a:ext cx="15775" cy="1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" h="631" extrusionOk="0">
                      <a:moveTo>
                        <a:pt x="0" y="0"/>
                      </a:moveTo>
                      <a:lnTo>
                        <a:pt x="0" y="630"/>
                      </a:lnTo>
                      <a:cubicBezTo>
                        <a:pt x="284" y="536"/>
                        <a:pt x="504" y="315"/>
                        <a:pt x="63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7068;p84"/>
                <p:cNvSpPr/>
                <p:nvPr/>
              </p:nvSpPr>
              <p:spPr>
                <a:xfrm>
                  <a:off x="-47417875" y="4061375"/>
                  <a:ext cx="52800" cy="5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111" extrusionOk="0">
                      <a:moveTo>
                        <a:pt x="1356" y="0"/>
                      </a:moveTo>
                      <a:cubicBezTo>
                        <a:pt x="1261" y="693"/>
                        <a:pt x="694" y="1260"/>
                        <a:pt x="1" y="1386"/>
                      </a:cubicBezTo>
                      <a:lnTo>
                        <a:pt x="1" y="2111"/>
                      </a:lnTo>
                      <a:lnTo>
                        <a:pt x="2112" y="2111"/>
                      </a:lnTo>
                      <a:lnTo>
                        <a:pt x="211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" name="Google Shape;7069;p84"/>
                <p:cNvSpPr/>
                <p:nvPr/>
              </p:nvSpPr>
              <p:spPr>
                <a:xfrm>
                  <a:off x="-47453300" y="4026700"/>
                  <a:ext cx="512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2049" extrusionOk="0">
                      <a:moveTo>
                        <a:pt x="1071" y="1"/>
                      </a:moveTo>
                      <a:cubicBezTo>
                        <a:pt x="473" y="1"/>
                        <a:pt x="0" y="473"/>
                        <a:pt x="0" y="1072"/>
                      </a:cubicBezTo>
                      <a:cubicBezTo>
                        <a:pt x="0" y="1545"/>
                        <a:pt x="284" y="1891"/>
                        <a:pt x="693" y="2049"/>
                      </a:cubicBezTo>
                      <a:lnTo>
                        <a:pt x="693" y="1072"/>
                      </a:lnTo>
                      <a:cubicBezTo>
                        <a:pt x="693" y="883"/>
                        <a:pt x="851" y="725"/>
                        <a:pt x="1071" y="725"/>
                      </a:cubicBezTo>
                      <a:lnTo>
                        <a:pt x="2048" y="725"/>
                      </a:lnTo>
                      <a:cubicBezTo>
                        <a:pt x="1922" y="284"/>
                        <a:pt x="1512" y="1"/>
                        <a:pt x="10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" name="Google Shape;7070;p84"/>
                <p:cNvSpPr/>
                <p:nvPr/>
              </p:nvSpPr>
              <p:spPr>
                <a:xfrm>
                  <a:off x="-47506875" y="3973950"/>
                  <a:ext cx="264675" cy="17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87" h="6995" extrusionOk="0">
                      <a:moveTo>
                        <a:pt x="8854" y="1418"/>
                      </a:moveTo>
                      <a:cubicBezTo>
                        <a:pt x="9074" y="1418"/>
                        <a:pt x="9232" y="1575"/>
                        <a:pt x="9232" y="1764"/>
                      </a:cubicBezTo>
                      <a:cubicBezTo>
                        <a:pt x="9232" y="1953"/>
                        <a:pt x="9074" y="2111"/>
                        <a:pt x="8854" y="2111"/>
                      </a:cubicBezTo>
                      <a:lnTo>
                        <a:pt x="7436" y="2111"/>
                      </a:lnTo>
                      <a:cubicBezTo>
                        <a:pt x="7247" y="2111"/>
                        <a:pt x="7089" y="1953"/>
                        <a:pt x="7089" y="1764"/>
                      </a:cubicBezTo>
                      <a:cubicBezTo>
                        <a:pt x="7089" y="1575"/>
                        <a:pt x="7247" y="1418"/>
                        <a:pt x="7436" y="1418"/>
                      </a:cubicBezTo>
                      <a:close/>
                      <a:moveTo>
                        <a:pt x="8854" y="2772"/>
                      </a:moveTo>
                      <a:cubicBezTo>
                        <a:pt x="9074" y="2772"/>
                        <a:pt x="9232" y="2930"/>
                        <a:pt x="9232" y="3151"/>
                      </a:cubicBezTo>
                      <a:cubicBezTo>
                        <a:pt x="9232" y="3340"/>
                        <a:pt x="9074" y="3497"/>
                        <a:pt x="8854" y="3497"/>
                      </a:cubicBezTo>
                      <a:lnTo>
                        <a:pt x="7436" y="3497"/>
                      </a:lnTo>
                      <a:cubicBezTo>
                        <a:pt x="7247" y="3497"/>
                        <a:pt x="7089" y="3340"/>
                        <a:pt x="7089" y="3151"/>
                      </a:cubicBezTo>
                      <a:cubicBezTo>
                        <a:pt x="7089" y="2930"/>
                        <a:pt x="7247" y="2772"/>
                        <a:pt x="7436" y="2772"/>
                      </a:cubicBezTo>
                      <a:close/>
                      <a:moveTo>
                        <a:pt x="8854" y="4190"/>
                      </a:moveTo>
                      <a:cubicBezTo>
                        <a:pt x="9074" y="4190"/>
                        <a:pt x="9232" y="4348"/>
                        <a:pt x="9232" y="4568"/>
                      </a:cubicBezTo>
                      <a:cubicBezTo>
                        <a:pt x="9232" y="4757"/>
                        <a:pt x="9074" y="4915"/>
                        <a:pt x="8854" y="4915"/>
                      </a:cubicBezTo>
                      <a:lnTo>
                        <a:pt x="7436" y="4915"/>
                      </a:lnTo>
                      <a:cubicBezTo>
                        <a:pt x="7247" y="4915"/>
                        <a:pt x="7089" y="4757"/>
                        <a:pt x="7089" y="4568"/>
                      </a:cubicBezTo>
                      <a:cubicBezTo>
                        <a:pt x="7089" y="4348"/>
                        <a:pt x="7247" y="4190"/>
                        <a:pt x="7436" y="4190"/>
                      </a:cubicBezTo>
                      <a:close/>
                      <a:moveTo>
                        <a:pt x="3246" y="1355"/>
                      </a:moveTo>
                      <a:cubicBezTo>
                        <a:pt x="4096" y="1355"/>
                        <a:pt x="4821" y="1953"/>
                        <a:pt x="4979" y="2772"/>
                      </a:cubicBezTo>
                      <a:lnTo>
                        <a:pt x="6081" y="2772"/>
                      </a:lnTo>
                      <a:cubicBezTo>
                        <a:pt x="6270" y="2772"/>
                        <a:pt x="6428" y="2930"/>
                        <a:pt x="6428" y="3151"/>
                      </a:cubicBezTo>
                      <a:lnTo>
                        <a:pt x="6428" y="5986"/>
                      </a:lnTo>
                      <a:lnTo>
                        <a:pt x="6396" y="5986"/>
                      </a:lnTo>
                      <a:cubicBezTo>
                        <a:pt x="6396" y="6175"/>
                        <a:pt x="6239" y="6333"/>
                        <a:pt x="6018" y="6333"/>
                      </a:cubicBezTo>
                      <a:lnTo>
                        <a:pt x="3246" y="6333"/>
                      </a:lnTo>
                      <a:cubicBezTo>
                        <a:pt x="3025" y="6333"/>
                        <a:pt x="2868" y="6175"/>
                        <a:pt x="2868" y="5986"/>
                      </a:cubicBezTo>
                      <a:lnTo>
                        <a:pt x="2868" y="4883"/>
                      </a:lnTo>
                      <a:cubicBezTo>
                        <a:pt x="2080" y="4726"/>
                        <a:pt x="1450" y="4001"/>
                        <a:pt x="1450" y="3151"/>
                      </a:cubicBezTo>
                      <a:cubicBezTo>
                        <a:pt x="1450" y="2142"/>
                        <a:pt x="2238" y="1355"/>
                        <a:pt x="3246" y="1355"/>
                      </a:cubicBezTo>
                      <a:close/>
                      <a:moveTo>
                        <a:pt x="8854" y="5608"/>
                      </a:moveTo>
                      <a:cubicBezTo>
                        <a:pt x="9074" y="5608"/>
                        <a:pt x="9232" y="5765"/>
                        <a:pt x="9232" y="5986"/>
                      </a:cubicBezTo>
                      <a:cubicBezTo>
                        <a:pt x="9232" y="6175"/>
                        <a:pt x="9074" y="6333"/>
                        <a:pt x="8854" y="6333"/>
                      </a:cubicBezTo>
                      <a:lnTo>
                        <a:pt x="7436" y="6333"/>
                      </a:lnTo>
                      <a:cubicBezTo>
                        <a:pt x="7247" y="6333"/>
                        <a:pt x="7089" y="6175"/>
                        <a:pt x="7089" y="5986"/>
                      </a:cubicBezTo>
                      <a:cubicBezTo>
                        <a:pt x="7089" y="5765"/>
                        <a:pt x="7247" y="5608"/>
                        <a:pt x="7436" y="5608"/>
                      </a:cubicBezTo>
                      <a:close/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6994"/>
                      </a:lnTo>
                      <a:lnTo>
                        <a:pt x="10586" y="6994"/>
                      </a:lnTo>
                      <a:lnTo>
                        <a:pt x="10586" y="347"/>
                      </a:lnTo>
                      <a:cubicBezTo>
                        <a:pt x="10586" y="158"/>
                        <a:pt x="10429" y="0"/>
                        <a:pt x="102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" name="Google Shape;7071;p84"/>
                <p:cNvSpPr/>
                <p:nvPr/>
              </p:nvSpPr>
              <p:spPr>
                <a:xfrm>
                  <a:off x="-47523400" y="4166900"/>
                  <a:ext cx="3001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4" h="1419" extrusionOk="0">
                      <a:moveTo>
                        <a:pt x="0" y="1"/>
                      </a:moveTo>
                      <a:lnTo>
                        <a:pt x="0" y="1040"/>
                      </a:lnTo>
                      <a:cubicBezTo>
                        <a:pt x="0" y="1261"/>
                        <a:pt x="158" y="1418"/>
                        <a:pt x="347" y="1418"/>
                      </a:cubicBezTo>
                      <a:lnTo>
                        <a:pt x="11657" y="1418"/>
                      </a:lnTo>
                      <a:cubicBezTo>
                        <a:pt x="11846" y="1418"/>
                        <a:pt x="12004" y="1261"/>
                        <a:pt x="12004" y="1040"/>
                      </a:cubicBezTo>
                      <a:lnTo>
                        <a:pt x="1200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101588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7" grpId="0"/>
      <p:bldP spid="782" grpId="0" animBg="1"/>
      <p:bldP spid="78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latin typeface="Montserrat" pitchFamily="2" charset="0"/>
              </a:rPr>
              <a:t>Way of Working</a:t>
            </a:r>
            <a:endParaRPr b="1" dirty="0">
              <a:latin typeface="Montserrat" pitchFamily="2" charset="0"/>
            </a:endParaRPr>
          </a:p>
        </p:txBody>
      </p:sp>
      <p:sp>
        <p:nvSpPr>
          <p:cNvPr id="609" name="Google Shape;609;p51"/>
          <p:cNvSpPr/>
          <p:nvPr/>
        </p:nvSpPr>
        <p:spPr>
          <a:xfrm>
            <a:off x="6940075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51"/>
          <p:cNvSpPr/>
          <p:nvPr/>
        </p:nvSpPr>
        <p:spPr>
          <a:xfrm>
            <a:off x="7936500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591;p51"/>
          <p:cNvSpPr txBox="1">
            <a:spLocks/>
          </p:cNvSpPr>
          <p:nvPr/>
        </p:nvSpPr>
        <p:spPr>
          <a:xfrm>
            <a:off x="1187625" y="1052028"/>
            <a:ext cx="724315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it-IT" sz="2400" b="1" dirty="0" smtClean="0">
                <a:solidFill>
                  <a:schemeClr val="accent1"/>
                </a:solidFill>
                <a:latin typeface="Montserrat" pitchFamily="2" charset="0"/>
              </a:rPr>
              <a:t>Approccio iterativo</a:t>
            </a:r>
            <a:endParaRPr lang="it-IT" sz="2400" b="1" dirty="0">
              <a:solidFill>
                <a:schemeClr val="accent1"/>
              </a:solidFill>
              <a:latin typeface="Montserrat" pitchFamily="2" charset="0"/>
            </a:endParaRPr>
          </a:p>
        </p:txBody>
      </p:sp>
      <p:grpSp>
        <p:nvGrpSpPr>
          <p:cNvPr id="3" name="Gruppo 2"/>
          <p:cNvGrpSpPr/>
          <p:nvPr/>
        </p:nvGrpSpPr>
        <p:grpSpPr>
          <a:xfrm>
            <a:off x="828178" y="1144244"/>
            <a:ext cx="288008" cy="293768"/>
            <a:chOff x="828178" y="1144244"/>
            <a:chExt cx="288008" cy="293768"/>
          </a:xfrm>
        </p:grpSpPr>
        <p:sp>
          <p:nvSpPr>
            <p:cNvPr id="24" name="Google Shape;1025;p74"/>
            <p:cNvSpPr/>
            <p:nvPr/>
          </p:nvSpPr>
          <p:spPr>
            <a:xfrm>
              <a:off x="828178" y="1144244"/>
              <a:ext cx="186007" cy="230913"/>
            </a:xfrm>
            <a:custGeom>
              <a:avLst/>
              <a:gdLst/>
              <a:ahLst/>
              <a:cxnLst/>
              <a:rect l="l" t="t" r="r" b="b"/>
              <a:pathLst>
                <a:path w="1840" h="2252" extrusionOk="0">
                  <a:moveTo>
                    <a:pt x="1457" y="1"/>
                  </a:moveTo>
                  <a:lnTo>
                    <a:pt x="1457" y="159"/>
                  </a:lnTo>
                  <a:cubicBezTo>
                    <a:pt x="606" y="188"/>
                    <a:pt x="0" y="989"/>
                    <a:pt x="195" y="1818"/>
                  </a:cubicBezTo>
                  <a:cubicBezTo>
                    <a:pt x="188" y="1818"/>
                    <a:pt x="188" y="1825"/>
                    <a:pt x="188" y="1833"/>
                  </a:cubicBezTo>
                  <a:lnTo>
                    <a:pt x="195" y="1869"/>
                  </a:lnTo>
                  <a:cubicBezTo>
                    <a:pt x="195" y="1876"/>
                    <a:pt x="202" y="1883"/>
                    <a:pt x="202" y="1898"/>
                  </a:cubicBezTo>
                  <a:cubicBezTo>
                    <a:pt x="202" y="1905"/>
                    <a:pt x="209" y="1912"/>
                    <a:pt x="209" y="1919"/>
                  </a:cubicBezTo>
                  <a:cubicBezTo>
                    <a:pt x="209" y="1934"/>
                    <a:pt x="216" y="1948"/>
                    <a:pt x="224" y="1955"/>
                  </a:cubicBezTo>
                  <a:lnTo>
                    <a:pt x="231" y="1977"/>
                  </a:lnTo>
                  <a:cubicBezTo>
                    <a:pt x="245" y="2013"/>
                    <a:pt x="260" y="2056"/>
                    <a:pt x="274" y="2092"/>
                  </a:cubicBezTo>
                  <a:lnTo>
                    <a:pt x="281" y="2100"/>
                  </a:lnTo>
                  <a:cubicBezTo>
                    <a:pt x="289" y="2114"/>
                    <a:pt x="296" y="2128"/>
                    <a:pt x="303" y="2143"/>
                  </a:cubicBezTo>
                  <a:lnTo>
                    <a:pt x="317" y="2157"/>
                  </a:lnTo>
                  <a:cubicBezTo>
                    <a:pt x="317" y="2172"/>
                    <a:pt x="325" y="2186"/>
                    <a:pt x="332" y="2201"/>
                  </a:cubicBezTo>
                  <a:lnTo>
                    <a:pt x="346" y="2215"/>
                  </a:lnTo>
                  <a:cubicBezTo>
                    <a:pt x="353" y="2229"/>
                    <a:pt x="361" y="2237"/>
                    <a:pt x="368" y="2251"/>
                  </a:cubicBezTo>
                  <a:lnTo>
                    <a:pt x="743" y="1970"/>
                  </a:lnTo>
                  <a:lnTo>
                    <a:pt x="721" y="1934"/>
                  </a:lnTo>
                  <a:lnTo>
                    <a:pt x="700" y="1898"/>
                  </a:lnTo>
                  <a:lnTo>
                    <a:pt x="692" y="1883"/>
                  </a:lnTo>
                  <a:cubicBezTo>
                    <a:pt x="685" y="1862"/>
                    <a:pt x="678" y="1847"/>
                    <a:pt x="671" y="1825"/>
                  </a:cubicBezTo>
                  <a:cubicBezTo>
                    <a:pt x="671" y="1818"/>
                    <a:pt x="664" y="1811"/>
                    <a:pt x="664" y="1804"/>
                  </a:cubicBezTo>
                  <a:cubicBezTo>
                    <a:pt x="664" y="1797"/>
                    <a:pt x="656" y="1782"/>
                    <a:pt x="649" y="1775"/>
                  </a:cubicBezTo>
                  <a:lnTo>
                    <a:pt x="642" y="1732"/>
                  </a:lnTo>
                  <a:lnTo>
                    <a:pt x="635" y="1703"/>
                  </a:lnTo>
                  <a:lnTo>
                    <a:pt x="628" y="1667"/>
                  </a:lnTo>
                  <a:lnTo>
                    <a:pt x="628" y="1645"/>
                  </a:lnTo>
                  <a:cubicBezTo>
                    <a:pt x="628" y="1638"/>
                    <a:pt x="620" y="1609"/>
                    <a:pt x="620" y="1587"/>
                  </a:cubicBezTo>
                  <a:lnTo>
                    <a:pt x="620" y="1573"/>
                  </a:lnTo>
                  <a:lnTo>
                    <a:pt x="620" y="1508"/>
                  </a:lnTo>
                  <a:cubicBezTo>
                    <a:pt x="620" y="1039"/>
                    <a:pt x="988" y="650"/>
                    <a:pt x="1457" y="628"/>
                  </a:cubicBezTo>
                  <a:lnTo>
                    <a:pt x="1457" y="809"/>
                  </a:lnTo>
                  <a:lnTo>
                    <a:pt x="1839" y="419"/>
                  </a:lnTo>
                  <a:lnTo>
                    <a:pt x="1457" y="1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tx2">
                    <a:lumMod val="75000"/>
                  </a:schemeClr>
                </a:gs>
                <a:gs pos="0">
                  <a:schemeClr val="tx2"/>
                </a:gs>
              </a:gsLst>
              <a:lin ang="5400000" scaled="1"/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26;p74"/>
            <p:cNvSpPr/>
            <p:nvPr/>
          </p:nvSpPr>
          <p:spPr>
            <a:xfrm>
              <a:off x="1037335" y="1193051"/>
              <a:ext cx="78851" cy="97718"/>
            </a:xfrm>
            <a:custGeom>
              <a:avLst/>
              <a:gdLst/>
              <a:ahLst/>
              <a:cxnLst/>
              <a:rect l="l" t="t" r="r" b="b"/>
              <a:pathLst>
                <a:path w="780" h="953" extrusionOk="0">
                  <a:moveTo>
                    <a:pt x="304" y="1"/>
                  </a:moveTo>
                  <a:lnTo>
                    <a:pt x="1" y="354"/>
                  </a:lnTo>
                  <a:cubicBezTo>
                    <a:pt x="181" y="506"/>
                    <a:pt x="289" y="722"/>
                    <a:pt x="311" y="953"/>
                  </a:cubicBezTo>
                  <a:lnTo>
                    <a:pt x="780" y="953"/>
                  </a:lnTo>
                  <a:cubicBezTo>
                    <a:pt x="751" y="585"/>
                    <a:pt x="585" y="239"/>
                    <a:pt x="304" y="1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75000"/>
                  </a:schemeClr>
                </a:gs>
                <a:gs pos="0">
                  <a:schemeClr val="accent1"/>
                </a:gs>
              </a:gsLst>
              <a:lin ang="162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27;p74"/>
            <p:cNvSpPr/>
            <p:nvPr/>
          </p:nvSpPr>
          <p:spPr>
            <a:xfrm>
              <a:off x="987801" y="1308406"/>
              <a:ext cx="127678" cy="129606"/>
            </a:xfrm>
            <a:custGeom>
              <a:avLst/>
              <a:gdLst/>
              <a:ahLst/>
              <a:cxnLst/>
              <a:rect l="l" t="t" r="r" b="b"/>
              <a:pathLst>
                <a:path w="1263" h="1264" extrusionOk="0">
                  <a:moveTo>
                    <a:pt x="801" y="1"/>
                  </a:moveTo>
                  <a:cubicBezTo>
                    <a:pt x="758" y="419"/>
                    <a:pt x="426" y="751"/>
                    <a:pt x="1" y="794"/>
                  </a:cubicBezTo>
                  <a:lnTo>
                    <a:pt x="1" y="1263"/>
                  </a:lnTo>
                  <a:cubicBezTo>
                    <a:pt x="679" y="1213"/>
                    <a:pt x="1219" y="679"/>
                    <a:pt x="1263" y="1"/>
                  </a:cubicBez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tx2">
                    <a:lumMod val="50000"/>
                  </a:schemeClr>
                </a:gs>
              </a:gsLst>
              <a:lin ang="162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28;p74"/>
            <p:cNvSpPr/>
            <p:nvPr/>
          </p:nvSpPr>
          <p:spPr>
            <a:xfrm>
              <a:off x="875488" y="1359469"/>
              <a:ext cx="95632" cy="77723"/>
            </a:xfrm>
            <a:custGeom>
              <a:avLst/>
              <a:gdLst/>
              <a:ahLst/>
              <a:cxnLst/>
              <a:rect l="l" t="t" r="r" b="b"/>
              <a:pathLst>
                <a:path w="946" h="758" extrusionOk="0">
                  <a:moveTo>
                    <a:pt x="376" y="1"/>
                  </a:moveTo>
                  <a:lnTo>
                    <a:pt x="1" y="282"/>
                  </a:lnTo>
                  <a:cubicBezTo>
                    <a:pt x="239" y="563"/>
                    <a:pt x="578" y="736"/>
                    <a:pt x="946" y="758"/>
                  </a:cubicBezTo>
                  <a:lnTo>
                    <a:pt x="946" y="289"/>
                  </a:lnTo>
                  <a:cubicBezTo>
                    <a:pt x="722" y="267"/>
                    <a:pt x="520" y="166"/>
                    <a:pt x="376" y="1"/>
                  </a:cubicBezTo>
                  <a:close/>
                </a:path>
              </a:pathLst>
            </a:custGeom>
            <a:gradFill>
              <a:gsLst>
                <a:gs pos="100000">
                  <a:schemeClr val="tx2">
                    <a:lumMod val="75000"/>
                  </a:schemeClr>
                </a:gs>
                <a:gs pos="0">
                  <a:schemeClr val="tx2">
                    <a:lumMod val="50000"/>
                  </a:schemeClr>
                </a:gs>
              </a:gsLst>
              <a:lin ang="162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ruppo 3"/>
          <p:cNvGrpSpPr/>
          <p:nvPr/>
        </p:nvGrpSpPr>
        <p:grpSpPr>
          <a:xfrm>
            <a:off x="1457392" y="1779662"/>
            <a:ext cx="7394778" cy="2016224"/>
            <a:chOff x="1475656" y="1779662"/>
            <a:chExt cx="7394778" cy="1832372"/>
          </a:xfrm>
        </p:grpSpPr>
        <p:sp>
          <p:nvSpPr>
            <p:cNvPr id="37" name="Rettangolo arrotondato 36"/>
            <p:cNvSpPr/>
            <p:nvPr/>
          </p:nvSpPr>
          <p:spPr>
            <a:xfrm>
              <a:off x="1475656" y="1779662"/>
              <a:ext cx="7394777" cy="1832372"/>
            </a:xfrm>
            <a:prstGeom prst="roundRect">
              <a:avLst>
                <a:gd name="adj" fmla="val 8852"/>
              </a:avLst>
            </a:prstGeom>
            <a:solidFill>
              <a:schemeClr val="tx1"/>
            </a:solidFill>
            <a:ln>
              <a:noFill/>
            </a:ln>
            <a:effectLst>
              <a:outerShdw blurRad="50800" dist="381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9" name="Google Shape;338;p41"/>
            <p:cNvSpPr txBox="1">
              <a:spLocks/>
            </p:cNvSpPr>
            <p:nvPr/>
          </p:nvSpPr>
          <p:spPr>
            <a:xfrm>
              <a:off x="5854171" y="1851670"/>
              <a:ext cx="3016263" cy="376126"/>
            </a:xfrm>
            <a:prstGeom prst="rect">
              <a:avLst/>
            </a:prstGeom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r"/>
              <a:r>
                <a:rPr lang="it-IT" sz="2000" b="1" dirty="0" smtClean="0">
                  <a:solidFill>
                    <a:schemeClr val="accent1"/>
                  </a:solidFill>
                  <a:latin typeface="Montserrat" pitchFamily="2" charset="0"/>
                </a:rPr>
                <a:t>La nostra </a:t>
              </a:r>
              <a:r>
                <a:rPr lang="it-IT" sz="2000" b="1" dirty="0" err="1" smtClean="0">
                  <a:solidFill>
                    <a:schemeClr val="accent1"/>
                  </a:solidFill>
                  <a:latin typeface="Montserrat" pitchFamily="2" charset="0"/>
                </a:rPr>
                <a:t>WoW</a:t>
              </a:r>
              <a:endParaRPr lang="it-IT" sz="2000" b="1" dirty="0">
                <a:solidFill>
                  <a:schemeClr val="accent1"/>
                </a:solidFill>
                <a:latin typeface="Montserrat" pitchFamily="2" charset="0"/>
              </a:endParaRPr>
            </a:p>
          </p:txBody>
        </p:sp>
        <p:sp>
          <p:nvSpPr>
            <p:cNvPr id="40" name="Google Shape;339;p41"/>
            <p:cNvSpPr txBox="1">
              <a:spLocks/>
            </p:cNvSpPr>
            <p:nvPr/>
          </p:nvSpPr>
          <p:spPr>
            <a:xfrm>
              <a:off x="1497341" y="2227796"/>
              <a:ext cx="7373093" cy="1316372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r">
                <a:buClr>
                  <a:schemeClr val="accent1"/>
                </a:buClr>
              </a:pPr>
              <a:r>
                <a:rPr lang="it-IT" dirty="0" smtClean="0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</a:rPr>
                <a:t>La nostra </a:t>
              </a:r>
              <a:r>
                <a:rPr lang="it-IT" dirty="0" err="1" smtClean="0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</a:rPr>
                <a:t>WoW</a:t>
              </a:r>
              <a:r>
                <a:rPr lang="it-IT" dirty="0" smtClean="0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</a:rPr>
                <a:t> è stata scelta seguendo i principi del </a:t>
              </a:r>
              <a:r>
                <a:rPr lang="it-IT" dirty="0" err="1" smtClean="0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</a:rPr>
                <a:t>Disciplined</a:t>
              </a:r>
              <a:r>
                <a:rPr lang="it-IT" dirty="0" smtClean="0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</a:rPr>
                <a:t> Agile, adottando un </a:t>
              </a:r>
              <a:r>
                <a:rPr lang="it-IT" dirty="0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</a:rPr>
                <a:t>approccio agile iterativo coerente con </a:t>
              </a:r>
              <a:r>
                <a:rPr lang="it-IT" i="1" dirty="0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</a:rPr>
                <a:t>Agile </a:t>
              </a:r>
              <a:r>
                <a:rPr lang="it-IT" i="1" dirty="0" err="1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</a:rPr>
                <a:t>Unified</a:t>
              </a:r>
              <a:r>
                <a:rPr lang="it-IT" i="1" dirty="0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</a:rPr>
                <a:t> </a:t>
              </a:r>
              <a:r>
                <a:rPr lang="it-IT" i="1" dirty="0" err="1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</a:rPr>
                <a:t>Process</a:t>
              </a:r>
              <a:r>
                <a:rPr lang="it-IT" i="1" dirty="0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</a:rPr>
                <a:t> (</a:t>
              </a:r>
              <a:r>
                <a:rPr lang="it-IT" i="1" dirty="0" smtClean="0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</a:rPr>
                <a:t>AUP)</a:t>
              </a:r>
              <a:r>
                <a:rPr lang="it-IT" dirty="0" smtClean="0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</a:rPr>
                <a:t>. </a:t>
              </a:r>
            </a:p>
            <a:p>
              <a:pPr algn="r">
                <a:buClr>
                  <a:schemeClr val="accent1"/>
                </a:buClr>
              </a:pPr>
              <a:r>
                <a:rPr lang="it-IT" dirty="0" smtClean="0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</a:rPr>
                <a:t>La strategia scelta punta ad avere nelle fasi iniziali i componenti ad alto rischio di fallimento.</a:t>
              </a:r>
              <a:br>
                <a:rPr lang="it-IT" dirty="0" smtClean="0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</a:rPr>
              </a:br>
              <a:r>
                <a:rPr lang="it-IT" dirty="0" smtClean="0">
                  <a:solidFill>
                    <a:schemeClr val="dk2"/>
                  </a:solidFill>
                  <a:latin typeface="Montserrat" pitchFamily="2" charset="0"/>
                  <a:ea typeface="Poppins"/>
                  <a:cs typeface="Poppins"/>
                </a:rPr>
                <a:t>Il risultato di ogni iterazione non è un prodotto finito, ma un prototipo funzionante che valida un’ipotesi tecnica.</a:t>
              </a:r>
              <a:endParaRPr lang="it-IT" dirty="0">
                <a:solidFill>
                  <a:schemeClr val="dk2"/>
                </a:solidFill>
                <a:latin typeface="Montserrat" pitchFamily="2" charset="0"/>
                <a:ea typeface="Poppins"/>
                <a:cs typeface="Poppins"/>
              </a:endParaRPr>
            </a:p>
          </p:txBody>
        </p:sp>
      </p:grpSp>
      <p:sp>
        <p:nvSpPr>
          <p:cNvPr id="17" name="Google Shape;327;p40"/>
          <p:cNvSpPr/>
          <p:nvPr/>
        </p:nvSpPr>
        <p:spPr>
          <a:xfrm flipH="1">
            <a:off x="-1016346" y="437997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328;p40"/>
          <p:cNvSpPr/>
          <p:nvPr/>
        </p:nvSpPr>
        <p:spPr>
          <a:xfrm flipH="1">
            <a:off x="827584" y="3702918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330;p40"/>
          <p:cNvSpPr/>
          <p:nvPr/>
        </p:nvSpPr>
        <p:spPr>
          <a:xfrm flipH="1">
            <a:off x="-1692696" y="3247975"/>
            <a:ext cx="2162700" cy="2162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8087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1" grpId="0"/>
      <p:bldP spid="22" grpId="0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 txBox="1">
            <a:spLocks noGrp="1"/>
          </p:cNvSpPr>
          <p:nvPr>
            <p:ph type="title" idx="6"/>
          </p:nvPr>
        </p:nvSpPr>
        <p:spPr>
          <a:xfrm>
            <a:off x="179512" y="1500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lang="en" b="1" dirty="0" smtClean="0">
                <a:latin typeface="Montserrat" pitchFamily="2" charset="0"/>
              </a:rPr>
              <a:t>Struttura delle fasi</a:t>
            </a:r>
            <a:endParaRPr b="1" dirty="0">
              <a:latin typeface="Montserrat" pitchFamily="2" charset="0"/>
            </a:endParaRPr>
          </a:p>
        </p:txBody>
      </p:sp>
      <p:sp>
        <p:nvSpPr>
          <p:cNvPr id="24" name="Rettangolo arrotondato 23"/>
          <p:cNvSpPr/>
          <p:nvPr/>
        </p:nvSpPr>
        <p:spPr>
          <a:xfrm>
            <a:off x="603915" y="2472480"/>
            <a:ext cx="2817989" cy="2211710"/>
          </a:xfrm>
          <a:prstGeom prst="roundRect">
            <a:avLst>
              <a:gd name="adj" fmla="val 8852"/>
            </a:avLst>
          </a:prstGeom>
          <a:solidFill>
            <a:schemeClr val="tx1"/>
          </a:solidFill>
          <a:ln>
            <a:noFill/>
          </a:ln>
          <a:effectLst>
            <a:outerShdw blurRad="50800" dist="38100" dir="18900000" algn="b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Montserrat" pitchFamily="2" charset="0"/>
            </a:endParaRPr>
          </a:p>
        </p:txBody>
      </p:sp>
      <p:sp>
        <p:nvSpPr>
          <p:cNvPr id="23" name="Rettangolo arrotondato 22"/>
          <p:cNvSpPr/>
          <p:nvPr/>
        </p:nvSpPr>
        <p:spPr>
          <a:xfrm>
            <a:off x="5856436" y="3632424"/>
            <a:ext cx="3036044" cy="1051766"/>
          </a:xfrm>
          <a:prstGeom prst="roundRect">
            <a:avLst>
              <a:gd name="adj" fmla="val 8852"/>
            </a:avLst>
          </a:prstGeom>
          <a:solidFill>
            <a:schemeClr val="tx1"/>
          </a:solidFill>
          <a:ln>
            <a:noFill/>
          </a:ln>
          <a:effectLst>
            <a:outerShdw blurRad="50800" dist="38100" dir="13500000" algn="b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Montserrat" pitchFamily="2" charset="0"/>
            </a:endParaRPr>
          </a:p>
        </p:txBody>
      </p:sp>
      <p:sp>
        <p:nvSpPr>
          <p:cNvPr id="22" name="Rettangolo arrotondato 21"/>
          <p:cNvSpPr/>
          <p:nvPr/>
        </p:nvSpPr>
        <p:spPr>
          <a:xfrm>
            <a:off x="3914252" y="782503"/>
            <a:ext cx="3036044" cy="2664296"/>
          </a:xfrm>
          <a:prstGeom prst="roundRect">
            <a:avLst>
              <a:gd name="adj" fmla="val 8852"/>
            </a:avLst>
          </a:prstGeom>
          <a:solidFill>
            <a:schemeClr val="tx1"/>
          </a:solidFill>
          <a:ln>
            <a:noFill/>
          </a:ln>
          <a:effectLst>
            <a:outerShdw blurRad="50800" dist="38100" dir="8100000" algn="tr" rotWithShape="0">
              <a:schemeClr val="tx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Montserrat" pitchFamily="2" charset="0"/>
            </a:endParaRPr>
          </a:p>
        </p:txBody>
      </p:sp>
      <p:sp>
        <p:nvSpPr>
          <p:cNvPr id="21" name="Rettangolo arrotondato 20"/>
          <p:cNvSpPr/>
          <p:nvPr/>
        </p:nvSpPr>
        <p:spPr>
          <a:xfrm>
            <a:off x="603865" y="784769"/>
            <a:ext cx="2788767" cy="1514901"/>
          </a:xfrm>
          <a:prstGeom prst="roundRect">
            <a:avLst>
              <a:gd name="adj" fmla="val 8852"/>
            </a:avLst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Montserrat" pitchFamily="2" charset="0"/>
            </a:endParaRPr>
          </a:p>
        </p:txBody>
      </p:sp>
      <p:sp>
        <p:nvSpPr>
          <p:cNvPr id="258" name="Google Shape;258;p35"/>
          <p:cNvSpPr txBox="1">
            <a:spLocks noGrp="1"/>
          </p:cNvSpPr>
          <p:nvPr>
            <p:ph type="title"/>
          </p:nvPr>
        </p:nvSpPr>
        <p:spPr>
          <a:xfrm>
            <a:off x="1345767" y="947864"/>
            <a:ext cx="2046865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it-IT" b="1" dirty="0">
                <a:solidFill>
                  <a:schemeClr val="tx2"/>
                </a:solidFill>
                <a:latin typeface="Montserrat" pitchFamily="2" charset="0"/>
              </a:rPr>
              <a:t>Ideazione</a:t>
            </a:r>
            <a:endParaRPr b="1" dirty="0">
              <a:solidFill>
                <a:schemeClr val="tx2"/>
              </a:solidFill>
              <a:latin typeface="Montserrat" pitchFamily="2" charset="0"/>
            </a:endParaRPr>
          </a:p>
        </p:txBody>
      </p:sp>
      <p:sp>
        <p:nvSpPr>
          <p:cNvPr id="259" name="Google Shape;259;p35"/>
          <p:cNvSpPr txBox="1">
            <a:spLocks noGrp="1"/>
          </p:cNvSpPr>
          <p:nvPr>
            <p:ph type="subTitle" idx="1"/>
          </p:nvPr>
        </p:nvSpPr>
        <p:spPr>
          <a:xfrm>
            <a:off x="603867" y="1382339"/>
            <a:ext cx="2779089" cy="9013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Courier New" pitchFamily="49" charset="0"/>
              <a:buChar char="o"/>
            </a:pPr>
            <a:r>
              <a:rPr lang="en" dirty="0" smtClean="0">
                <a:latin typeface="Montserrat" pitchFamily="2" charset="0"/>
              </a:rPr>
              <a:t>Documento di visione;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Courier New" pitchFamily="49" charset="0"/>
              <a:buChar char="o"/>
            </a:pPr>
            <a:r>
              <a:rPr lang="en" dirty="0" smtClean="0">
                <a:latin typeface="Montserrat" pitchFamily="2" charset="0"/>
              </a:rPr>
              <a:t>Diagramma delle classi;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Courier New" pitchFamily="49" charset="0"/>
              <a:buChar char="o"/>
            </a:pPr>
            <a:r>
              <a:rPr lang="it-IT" dirty="0" smtClean="0">
                <a:latin typeface="Montserrat" pitchFamily="2" charset="0"/>
              </a:rPr>
              <a:t>Diagramma di sequenza.</a:t>
            </a:r>
            <a:endParaRPr dirty="0">
              <a:latin typeface="Montserrat" pitchFamily="2" charset="0"/>
            </a:endParaRPr>
          </a:p>
        </p:txBody>
      </p:sp>
      <p:sp>
        <p:nvSpPr>
          <p:cNvPr id="260" name="Google Shape;260;p35"/>
          <p:cNvSpPr txBox="1">
            <a:spLocks noGrp="1"/>
          </p:cNvSpPr>
          <p:nvPr>
            <p:ph type="title" idx="2"/>
          </p:nvPr>
        </p:nvSpPr>
        <p:spPr>
          <a:xfrm>
            <a:off x="4656150" y="945598"/>
            <a:ext cx="221043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it-IT" b="1" dirty="0">
                <a:solidFill>
                  <a:schemeClr val="tx2">
                    <a:lumMod val="75000"/>
                  </a:schemeClr>
                </a:solidFill>
                <a:latin typeface="Montserrat" pitchFamily="2" charset="0"/>
              </a:rPr>
              <a:t>Elaborazione</a:t>
            </a:r>
            <a:endParaRPr b="1" dirty="0">
              <a:solidFill>
                <a:schemeClr val="tx2">
                  <a:lumMod val="75000"/>
                </a:schemeClr>
              </a:solidFill>
              <a:latin typeface="Montserrat" pitchFamily="2" charset="0"/>
            </a:endParaRPr>
          </a:p>
        </p:txBody>
      </p:sp>
      <p:sp>
        <p:nvSpPr>
          <p:cNvPr id="262" name="Google Shape;262;p35"/>
          <p:cNvSpPr txBox="1">
            <a:spLocks noGrp="1"/>
          </p:cNvSpPr>
          <p:nvPr>
            <p:ph type="title" idx="4"/>
          </p:nvPr>
        </p:nvSpPr>
        <p:spPr>
          <a:xfrm>
            <a:off x="603867" y="947864"/>
            <a:ext cx="6657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Montserrat" pitchFamily="2" charset="0"/>
              </a:rPr>
              <a:t>01</a:t>
            </a:r>
            <a:endParaRPr b="1" dirty="0">
              <a:latin typeface="Montserrat" pitchFamily="2" charset="0"/>
            </a:endParaRPr>
          </a:p>
        </p:txBody>
      </p:sp>
      <p:sp>
        <p:nvSpPr>
          <p:cNvPr id="263" name="Google Shape;263;p35"/>
          <p:cNvSpPr txBox="1">
            <a:spLocks noGrp="1"/>
          </p:cNvSpPr>
          <p:nvPr>
            <p:ph type="title" idx="5"/>
          </p:nvPr>
        </p:nvSpPr>
        <p:spPr>
          <a:xfrm>
            <a:off x="3914251" y="945598"/>
            <a:ext cx="6657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tx2">
                    <a:lumMod val="75000"/>
                  </a:schemeClr>
                </a:solidFill>
                <a:latin typeface="Montserrat" pitchFamily="2" charset="0"/>
              </a:rPr>
              <a:t>02</a:t>
            </a:r>
            <a:endParaRPr b="1" dirty="0">
              <a:solidFill>
                <a:schemeClr val="tx2">
                  <a:lumMod val="75000"/>
                </a:schemeClr>
              </a:solidFill>
              <a:latin typeface="Montserrat" pitchFamily="2" charset="0"/>
            </a:endParaRPr>
          </a:p>
        </p:txBody>
      </p:sp>
      <p:sp>
        <p:nvSpPr>
          <p:cNvPr id="265" name="Google Shape;265;p35"/>
          <p:cNvSpPr txBox="1">
            <a:spLocks noGrp="1"/>
          </p:cNvSpPr>
          <p:nvPr>
            <p:ph type="title" idx="7"/>
          </p:nvPr>
        </p:nvSpPr>
        <p:spPr>
          <a:xfrm>
            <a:off x="1345818" y="2617243"/>
            <a:ext cx="2076086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it-IT" b="1" dirty="0">
                <a:solidFill>
                  <a:schemeClr val="accent1"/>
                </a:solidFill>
                <a:latin typeface="Montserrat" pitchFamily="2" charset="0"/>
              </a:rPr>
              <a:t>Costruzione</a:t>
            </a:r>
            <a:endParaRPr b="1" dirty="0">
              <a:solidFill>
                <a:schemeClr val="accent1"/>
              </a:solidFill>
              <a:latin typeface="Montserrat" pitchFamily="2" charset="0"/>
            </a:endParaRPr>
          </a:p>
        </p:txBody>
      </p:sp>
      <p:sp>
        <p:nvSpPr>
          <p:cNvPr id="26" name="Rettangolo arrotondato 25"/>
          <p:cNvSpPr/>
          <p:nvPr/>
        </p:nvSpPr>
        <p:spPr>
          <a:xfrm>
            <a:off x="4058267" y="1462012"/>
            <a:ext cx="2676004" cy="837658"/>
          </a:xfrm>
          <a:prstGeom prst="roundRect">
            <a:avLst>
              <a:gd name="adj" fmla="val 8852"/>
            </a:avLst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schemeClr val="tx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Montserrat" pitchFamily="2" charset="0"/>
            </a:endParaRPr>
          </a:p>
        </p:txBody>
      </p:sp>
      <p:sp>
        <p:nvSpPr>
          <p:cNvPr id="267" name="Google Shape;267;p35"/>
          <p:cNvSpPr txBox="1">
            <a:spLocks noGrp="1"/>
          </p:cNvSpPr>
          <p:nvPr>
            <p:ph type="title" idx="9"/>
          </p:nvPr>
        </p:nvSpPr>
        <p:spPr>
          <a:xfrm>
            <a:off x="6526325" y="3705179"/>
            <a:ext cx="2366155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it-IT" b="1" dirty="0">
                <a:solidFill>
                  <a:schemeClr val="accent1">
                    <a:lumMod val="75000"/>
                  </a:schemeClr>
                </a:solidFill>
                <a:latin typeface="Montserrat" pitchFamily="2" charset="0"/>
              </a:rPr>
              <a:t>Transizione</a:t>
            </a:r>
            <a:endParaRPr b="1" dirty="0">
              <a:solidFill>
                <a:schemeClr val="accent1">
                  <a:lumMod val="75000"/>
                </a:schemeClr>
              </a:solidFill>
              <a:latin typeface="Montserrat" pitchFamily="2" charset="0"/>
            </a:endParaRPr>
          </a:p>
        </p:txBody>
      </p:sp>
      <p:sp>
        <p:nvSpPr>
          <p:cNvPr id="268" name="Google Shape;268;p35"/>
          <p:cNvSpPr txBox="1">
            <a:spLocks noGrp="1"/>
          </p:cNvSpPr>
          <p:nvPr>
            <p:ph type="subTitle" idx="13"/>
          </p:nvPr>
        </p:nvSpPr>
        <p:spPr>
          <a:xfrm>
            <a:off x="5856435" y="4217228"/>
            <a:ext cx="3036045" cy="4233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100000"/>
              <a:buFont typeface="Courier New" pitchFamily="49" charset="0"/>
              <a:buChar char="o"/>
            </a:pPr>
            <a:r>
              <a:rPr lang="en" dirty="0" smtClean="0">
                <a:latin typeface="Montserrat" pitchFamily="2" charset="0"/>
              </a:rPr>
              <a:t>Versione finale del sistema.</a:t>
            </a:r>
          </a:p>
        </p:txBody>
      </p:sp>
      <p:sp>
        <p:nvSpPr>
          <p:cNvPr id="269" name="Google Shape;269;p35"/>
          <p:cNvSpPr txBox="1">
            <a:spLocks noGrp="1"/>
          </p:cNvSpPr>
          <p:nvPr>
            <p:ph type="title" idx="14"/>
          </p:nvPr>
        </p:nvSpPr>
        <p:spPr>
          <a:xfrm>
            <a:off x="603918" y="2617243"/>
            <a:ext cx="6657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/>
                </a:solidFill>
                <a:latin typeface="Montserrat" pitchFamily="2" charset="0"/>
              </a:rPr>
              <a:t>03</a:t>
            </a:r>
            <a:endParaRPr b="1" dirty="0">
              <a:solidFill>
                <a:schemeClr val="accent1"/>
              </a:solidFill>
              <a:latin typeface="Montserrat" pitchFamily="2" charset="0"/>
            </a:endParaRPr>
          </a:p>
        </p:txBody>
      </p:sp>
      <p:sp>
        <p:nvSpPr>
          <p:cNvPr id="270" name="Google Shape;270;p35"/>
          <p:cNvSpPr txBox="1">
            <a:spLocks noGrp="1"/>
          </p:cNvSpPr>
          <p:nvPr>
            <p:ph type="title" idx="15"/>
          </p:nvPr>
        </p:nvSpPr>
        <p:spPr>
          <a:xfrm>
            <a:off x="5839413" y="3777187"/>
            <a:ext cx="72008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>
                    <a:lumMod val="75000"/>
                  </a:schemeClr>
                </a:solidFill>
                <a:latin typeface="Montserrat" pitchFamily="2" charset="0"/>
              </a:rPr>
              <a:t>04</a:t>
            </a:r>
            <a:endParaRPr b="1" dirty="0">
              <a:solidFill>
                <a:schemeClr val="accent1">
                  <a:lumMod val="75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271" name="Google Shape;271;p35"/>
          <p:cNvCxnSpPr/>
          <p:nvPr/>
        </p:nvCxnSpPr>
        <p:spPr>
          <a:xfrm>
            <a:off x="603867" y="1382339"/>
            <a:ext cx="665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2" name="Google Shape;272;p35"/>
          <p:cNvCxnSpPr/>
          <p:nvPr/>
        </p:nvCxnSpPr>
        <p:spPr>
          <a:xfrm>
            <a:off x="3914251" y="1380073"/>
            <a:ext cx="665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" name="Google Shape;273;p35"/>
          <p:cNvCxnSpPr/>
          <p:nvPr/>
        </p:nvCxnSpPr>
        <p:spPr>
          <a:xfrm>
            <a:off x="603918" y="3051718"/>
            <a:ext cx="665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4" name="Google Shape;274;p35"/>
          <p:cNvCxnSpPr/>
          <p:nvPr/>
        </p:nvCxnSpPr>
        <p:spPr>
          <a:xfrm>
            <a:off x="5856435" y="4211662"/>
            <a:ext cx="665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1" name="Google Shape;261;p35"/>
          <p:cNvSpPr txBox="1">
            <a:spLocks noGrp="1"/>
          </p:cNvSpPr>
          <p:nvPr>
            <p:ph type="subTitle" idx="3"/>
          </p:nvPr>
        </p:nvSpPr>
        <p:spPr>
          <a:xfrm>
            <a:off x="4058267" y="1462012"/>
            <a:ext cx="2609916" cy="8376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buClr>
                <a:schemeClr val="tx2">
                  <a:lumMod val="75000"/>
                </a:schemeClr>
              </a:buClr>
              <a:buSzPct val="100000"/>
              <a:buFont typeface="Courier New" pitchFamily="49" charset="0"/>
              <a:buChar char="o"/>
            </a:pPr>
            <a:r>
              <a:rPr lang="it-IT" dirty="0">
                <a:latin typeface="Montserrat" pitchFamily="2" charset="0"/>
              </a:rPr>
              <a:t>Architettura base;</a:t>
            </a:r>
          </a:p>
          <a:p>
            <a:pPr marL="342900" lvl="0" indent="-342900">
              <a:buClr>
                <a:schemeClr val="tx2">
                  <a:lumMod val="75000"/>
                </a:schemeClr>
              </a:buClr>
              <a:buSzPct val="100000"/>
              <a:buFont typeface="Courier New" pitchFamily="49" charset="0"/>
              <a:buChar char="o"/>
            </a:pPr>
            <a:r>
              <a:rPr lang="it-IT" dirty="0">
                <a:latin typeface="Montserrat" pitchFamily="2" charset="0"/>
              </a:rPr>
              <a:t>Astrazione input;</a:t>
            </a:r>
          </a:p>
          <a:p>
            <a:pPr marL="342900" lvl="0" indent="-342900">
              <a:buClr>
                <a:schemeClr val="tx2">
                  <a:lumMod val="75000"/>
                </a:schemeClr>
              </a:buClr>
              <a:buSzPct val="100000"/>
              <a:buFont typeface="Courier New" pitchFamily="49" charset="0"/>
              <a:buChar char="o"/>
            </a:pPr>
            <a:r>
              <a:rPr lang="it-IT" dirty="0">
                <a:latin typeface="Montserrat" pitchFamily="2" charset="0"/>
              </a:rPr>
              <a:t>Simulazione </a:t>
            </a:r>
            <a:r>
              <a:rPr lang="it-IT" dirty="0" smtClean="0">
                <a:latin typeface="Montserrat" pitchFamily="2" charset="0"/>
              </a:rPr>
              <a:t>azioni.</a:t>
            </a:r>
            <a:endParaRPr lang="it-IT" dirty="0">
              <a:latin typeface="Montserrat" pitchFamily="2" charset="0"/>
            </a:endParaRPr>
          </a:p>
        </p:txBody>
      </p:sp>
      <p:sp>
        <p:nvSpPr>
          <p:cNvPr id="27" name="Rettangolo arrotondato 26"/>
          <p:cNvSpPr/>
          <p:nvPr/>
        </p:nvSpPr>
        <p:spPr>
          <a:xfrm>
            <a:off x="4058266" y="2451906"/>
            <a:ext cx="2676005" cy="837658"/>
          </a:xfrm>
          <a:prstGeom prst="roundRect">
            <a:avLst>
              <a:gd name="adj" fmla="val 8852"/>
            </a:avLst>
          </a:prstGeom>
          <a:solidFill>
            <a:schemeClr val="tx1"/>
          </a:solidFill>
          <a:ln>
            <a:noFill/>
          </a:ln>
          <a:effectLst>
            <a:outerShdw blurRad="50800" dist="38100" dir="13500000" algn="br" rotWithShape="0">
              <a:schemeClr val="tx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Montserrat" pitchFamily="2" charset="0"/>
            </a:endParaRPr>
          </a:p>
        </p:txBody>
      </p:sp>
      <p:sp>
        <p:nvSpPr>
          <p:cNvPr id="25" name="Google Shape;261;p35"/>
          <p:cNvSpPr txBox="1">
            <a:spLocks/>
          </p:cNvSpPr>
          <p:nvPr/>
        </p:nvSpPr>
        <p:spPr>
          <a:xfrm>
            <a:off x="4055983" y="2451906"/>
            <a:ext cx="2594572" cy="83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342900" indent="-342900">
              <a:buClr>
                <a:schemeClr val="tx2">
                  <a:lumMod val="75000"/>
                </a:schemeClr>
              </a:buClr>
              <a:buSzPct val="100000"/>
              <a:buFont typeface="Courier New" pitchFamily="49" charset="0"/>
              <a:buChar char="o"/>
            </a:pPr>
            <a:r>
              <a:rPr lang="it-IT" dirty="0" smtClean="0">
                <a:latin typeface="Montserrat" pitchFamily="2" charset="0"/>
              </a:rPr>
              <a:t>Logica temporale;</a:t>
            </a:r>
          </a:p>
          <a:p>
            <a:pPr marL="342900" indent="-342900">
              <a:buClr>
                <a:schemeClr val="tx2">
                  <a:lumMod val="75000"/>
                </a:schemeClr>
              </a:buClr>
              <a:buSzPct val="100000"/>
              <a:buFont typeface="Courier New" pitchFamily="49" charset="0"/>
              <a:buChar char="o"/>
            </a:pPr>
            <a:r>
              <a:rPr lang="it-IT" dirty="0" smtClean="0">
                <a:latin typeface="Montserrat" pitchFamily="2" charset="0"/>
              </a:rPr>
              <a:t>Filtraggio segnale;</a:t>
            </a:r>
          </a:p>
          <a:p>
            <a:pPr marL="342900" indent="-342900">
              <a:buClr>
                <a:schemeClr val="tx2">
                  <a:lumMod val="75000"/>
                </a:schemeClr>
              </a:buClr>
              <a:buSzPct val="100000"/>
              <a:buFont typeface="Courier New" pitchFamily="49" charset="0"/>
              <a:buChar char="o"/>
            </a:pPr>
            <a:r>
              <a:rPr lang="it-IT" dirty="0" smtClean="0">
                <a:latin typeface="Montserrat" pitchFamily="2" charset="0"/>
              </a:rPr>
              <a:t>Gestione azioni.</a:t>
            </a:r>
          </a:p>
          <a:p>
            <a:pPr marL="342900" indent="-342900">
              <a:buClr>
                <a:schemeClr val="tx2">
                  <a:lumMod val="75000"/>
                </a:schemeClr>
              </a:buClr>
              <a:buSzPct val="100000"/>
              <a:buFont typeface="Courier New" pitchFamily="49" charset="0"/>
              <a:buChar char="o"/>
            </a:pPr>
            <a:endParaRPr lang="it-IT" dirty="0">
              <a:latin typeface="Montserrat" pitchFamily="2" charset="0"/>
            </a:endParaRPr>
          </a:p>
        </p:txBody>
      </p:sp>
      <p:sp>
        <p:nvSpPr>
          <p:cNvPr id="29" name="Rettangolo arrotondato 28"/>
          <p:cNvSpPr/>
          <p:nvPr/>
        </p:nvSpPr>
        <p:spPr>
          <a:xfrm>
            <a:off x="747931" y="3120552"/>
            <a:ext cx="2520280" cy="651246"/>
          </a:xfrm>
          <a:prstGeom prst="roundRect">
            <a:avLst>
              <a:gd name="adj" fmla="val 8852"/>
            </a:avLst>
          </a:prstGeom>
          <a:solidFill>
            <a:schemeClr val="tx1"/>
          </a:solidFill>
          <a:ln>
            <a:noFill/>
          </a:ln>
          <a:effectLst>
            <a:outerShdw blurRad="50800" dist="38100" dir="8100000" algn="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Montserrat" pitchFamily="2" charset="0"/>
            </a:endParaRPr>
          </a:p>
        </p:txBody>
      </p:sp>
      <p:sp>
        <p:nvSpPr>
          <p:cNvPr id="28" name="Google Shape;266;p35"/>
          <p:cNvSpPr txBox="1">
            <a:spLocks/>
          </p:cNvSpPr>
          <p:nvPr/>
        </p:nvSpPr>
        <p:spPr>
          <a:xfrm>
            <a:off x="762352" y="3121549"/>
            <a:ext cx="2508135" cy="61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285750" indent="-285750">
              <a:buClr>
                <a:schemeClr val="accent1"/>
              </a:buClr>
              <a:buSzPct val="100000"/>
              <a:buFont typeface="Courier New" pitchFamily="49" charset="0"/>
              <a:buChar char="o"/>
            </a:pPr>
            <a:r>
              <a:rPr lang="it-IT" dirty="0">
                <a:latin typeface="Montserrat" pitchFamily="2" charset="0"/>
              </a:rPr>
              <a:t>Profili utente;</a:t>
            </a:r>
          </a:p>
          <a:p>
            <a:pPr marL="285750" indent="-285750">
              <a:buClr>
                <a:schemeClr val="accent1"/>
              </a:buClr>
              <a:buSzPct val="100000"/>
              <a:buFont typeface="Courier New" pitchFamily="49" charset="0"/>
              <a:buChar char="o"/>
            </a:pPr>
            <a:r>
              <a:rPr lang="it-IT" dirty="0">
                <a:latin typeface="Montserrat" pitchFamily="2" charset="0"/>
              </a:rPr>
              <a:t>GUI.</a:t>
            </a:r>
          </a:p>
        </p:txBody>
      </p:sp>
      <p:sp>
        <p:nvSpPr>
          <p:cNvPr id="30" name="Rettangolo arrotondato 29"/>
          <p:cNvSpPr/>
          <p:nvPr/>
        </p:nvSpPr>
        <p:spPr>
          <a:xfrm>
            <a:off x="750207" y="3912640"/>
            <a:ext cx="2520280" cy="651246"/>
          </a:xfrm>
          <a:prstGeom prst="roundRect">
            <a:avLst>
              <a:gd name="adj" fmla="val 8852"/>
            </a:avLst>
          </a:prstGeom>
          <a:solidFill>
            <a:schemeClr val="tx1"/>
          </a:solidFill>
          <a:ln>
            <a:noFill/>
          </a:ln>
          <a:effectLst>
            <a:outerShdw blurRad="50800" dist="38100" dir="18900000" algn="b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Montserrat" pitchFamily="2" charset="0"/>
            </a:endParaRPr>
          </a:p>
        </p:txBody>
      </p:sp>
      <p:sp>
        <p:nvSpPr>
          <p:cNvPr id="266" name="Google Shape;266;p35"/>
          <p:cNvSpPr txBox="1">
            <a:spLocks noGrp="1"/>
          </p:cNvSpPr>
          <p:nvPr>
            <p:ph type="subTitle" idx="8"/>
          </p:nvPr>
        </p:nvSpPr>
        <p:spPr>
          <a:xfrm>
            <a:off x="762352" y="3912640"/>
            <a:ext cx="2508135" cy="570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ourier New" pitchFamily="49" charset="0"/>
              <a:buChar char="o"/>
            </a:pPr>
            <a:r>
              <a:rPr lang="en" dirty="0" smtClean="0">
                <a:latin typeface="Montserrat" pitchFamily="2" charset="0"/>
              </a:rPr>
              <a:t>Parallelizzazione lettura segnale e GUI.</a:t>
            </a:r>
            <a:endParaRPr dirty="0">
              <a:latin typeface="Montserrat" pitchFamily="2" charset="0"/>
            </a:endParaRPr>
          </a:p>
        </p:txBody>
      </p:sp>
      <p:sp>
        <p:nvSpPr>
          <p:cNvPr id="275" name="Google Shape;275;p35"/>
          <p:cNvSpPr/>
          <p:nvPr/>
        </p:nvSpPr>
        <p:spPr>
          <a:xfrm>
            <a:off x="7514650" y="-134067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itchFamily="2" charset="0"/>
            </a:endParaRPr>
          </a:p>
        </p:txBody>
      </p:sp>
      <p:sp>
        <p:nvSpPr>
          <p:cNvPr id="276" name="Google Shape;276;p35"/>
          <p:cNvSpPr/>
          <p:nvPr/>
        </p:nvSpPr>
        <p:spPr>
          <a:xfrm>
            <a:off x="6586200" y="-59532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itchFamily="2" charset="0"/>
            </a:endParaRPr>
          </a:p>
        </p:txBody>
      </p:sp>
      <p:sp>
        <p:nvSpPr>
          <p:cNvPr id="31" name="Rettangolo arrotondato 30"/>
          <p:cNvSpPr/>
          <p:nvPr/>
        </p:nvSpPr>
        <p:spPr>
          <a:xfrm>
            <a:off x="3124728" y="3979486"/>
            <a:ext cx="2455384" cy="1112544"/>
          </a:xfrm>
          <a:prstGeom prst="roundRect">
            <a:avLst>
              <a:gd name="adj" fmla="val 8852"/>
            </a:avLst>
          </a:prstGeom>
          <a:solidFill>
            <a:srgbClr val="EBE8F8"/>
          </a:solidFill>
          <a:ln>
            <a:noFill/>
          </a:ln>
          <a:effectLst>
            <a:outerShdw blurRad="50800" dist="38100" dir="10800000" algn="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Montserrat" pitchFamily="2" charset="0"/>
            </a:endParaRPr>
          </a:p>
        </p:txBody>
      </p:sp>
      <p:sp>
        <p:nvSpPr>
          <p:cNvPr id="32" name="Google Shape;265;p35"/>
          <p:cNvSpPr txBox="1">
            <a:spLocks/>
          </p:cNvSpPr>
          <p:nvPr/>
        </p:nvSpPr>
        <p:spPr>
          <a:xfrm>
            <a:off x="3866630" y="3972004"/>
            <a:ext cx="1713482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3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Poppins SemiBold"/>
              <a:buNone/>
              <a:defRPr sz="2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pPr>
              <a:buSzPts val="1100"/>
            </a:pPr>
            <a:r>
              <a:rPr lang="it-IT" sz="1800" b="1" dirty="0" smtClean="0">
                <a:solidFill>
                  <a:schemeClr val="accent1"/>
                </a:solidFill>
                <a:latin typeface="Montserrat" pitchFamily="2" charset="0"/>
              </a:rPr>
              <a:t>Costruzione</a:t>
            </a:r>
            <a:endParaRPr lang="it-IT" sz="1800" b="1" dirty="0">
              <a:solidFill>
                <a:schemeClr val="accent1"/>
              </a:solidFill>
              <a:latin typeface="Montserrat" pitchFamily="2" charset="0"/>
            </a:endParaRPr>
          </a:p>
        </p:txBody>
      </p:sp>
      <p:sp>
        <p:nvSpPr>
          <p:cNvPr id="33" name="Google Shape;269;p35"/>
          <p:cNvSpPr txBox="1">
            <a:spLocks/>
          </p:cNvSpPr>
          <p:nvPr/>
        </p:nvSpPr>
        <p:spPr>
          <a:xfrm>
            <a:off x="3124730" y="3972004"/>
            <a:ext cx="665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2800" b="0" i="0" u="none" strike="noStrike" cap="none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r>
              <a:rPr lang="en" sz="1800" b="1" dirty="0" smtClean="0">
                <a:solidFill>
                  <a:schemeClr val="accent1"/>
                </a:solidFill>
                <a:latin typeface="Montserrat" pitchFamily="2" charset="0"/>
              </a:rPr>
              <a:t>03.1</a:t>
            </a:r>
            <a:endParaRPr lang="en" sz="1800" b="1" dirty="0">
              <a:solidFill>
                <a:schemeClr val="accent1"/>
              </a:solidFill>
              <a:latin typeface="Montserrat" pitchFamily="2" charset="0"/>
            </a:endParaRPr>
          </a:p>
        </p:txBody>
      </p:sp>
      <p:cxnSp>
        <p:nvCxnSpPr>
          <p:cNvPr id="34" name="Google Shape;273;p35"/>
          <p:cNvCxnSpPr/>
          <p:nvPr/>
        </p:nvCxnSpPr>
        <p:spPr>
          <a:xfrm>
            <a:off x="3124730" y="4406479"/>
            <a:ext cx="665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Google Shape;266;p35"/>
          <p:cNvSpPr txBox="1">
            <a:spLocks/>
          </p:cNvSpPr>
          <p:nvPr/>
        </p:nvSpPr>
        <p:spPr>
          <a:xfrm>
            <a:off x="3279651" y="4398465"/>
            <a:ext cx="2300461" cy="69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285750" indent="-285750">
              <a:buClr>
                <a:schemeClr val="accent1"/>
              </a:buClr>
              <a:buSzPct val="100000"/>
              <a:buFont typeface="Courier New" pitchFamily="49" charset="0"/>
              <a:buChar char="o"/>
            </a:pPr>
            <a:r>
              <a:rPr lang="it-IT" sz="1100" dirty="0" smtClean="0">
                <a:latin typeface="Montserrat" pitchFamily="2" charset="0"/>
              </a:rPr>
              <a:t>Calibrazione automatica profilo utente;</a:t>
            </a:r>
            <a:endParaRPr lang="it-IT" sz="1100" dirty="0">
              <a:latin typeface="Montserrat" pitchFamily="2" charset="0"/>
            </a:endParaRPr>
          </a:p>
          <a:p>
            <a:pPr marL="285750" indent="-285750">
              <a:buClr>
                <a:schemeClr val="accent1"/>
              </a:buClr>
              <a:buSzPct val="100000"/>
              <a:buFont typeface="Courier New" pitchFamily="49" charset="0"/>
              <a:buChar char="o"/>
            </a:pPr>
            <a:r>
              <a:rPr lang="it-IT" sz="1100" dirty="0" err="1" smtClean="0">
                <a:latin typeface="Montserrat" pitchFamily="2" charset="0"/>
              </a:rPr>
              <a:t>Quarkus</a:t>
            </a:r>
            <a:r>
              <a:rPr lang="it-IT" sz="1100" dirty="0" smtClean="0">
                <a:latin typeface="Montserrat" pitchFamily="2" charset="0"/>
              </a:rPr>
              <a:t>.</a:t>
            </a:r>
            <a:endParaRPr lang="it-IT" sz="11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256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" grpId="0"/>
      <p:bldP spid="24" grpId="0" animBg="1"/>
      <p:bldP spid="23" grpId="0" animBg="1"/>
      <p:bldP spid="22" grpId="0" animBg="1"/>
      <p:bldP spid="21" grpId="0" animBg="1"/>
      <p:bldP spid="258" grpId="0"/>
      <p:bldP spid="259" grpId="0" build="p"/>
      <p:bldP spid="260" grpId="0"/>
      <p:bldP spid="262" grpId="0"/>
      <p:bldP spid="263" grpId="0"/>
      <p:bldP spid="265" grpId="0"/>
      <p:bldP spid="26" grpId="0" animBg="1"/>
      <p:bldP spid="267" grpId="0"/>
      <p:bldP spid="268" grpId="0" build="p"/>
      <p:bldP spid="269" grpId="0"/>
      <p:bldP spid="270" grpId="0"/>
      <p:bldP spid="261" grpId="0" build="p"/>
      <p:bldP spid="27" grpId="0" animBg="1"/>
      <p:bldP spid="25" grpId="0"/>
      <p:bldP spid="29" grpId="0" animBg="1"/>
      <p:bldP spid="28" grpId="0"/>
      <p:bldP spid="30" grpId="0" animBg="1"/>
      <p:bldP spid="266" grpId="0" build="p"/>
      <p:bldP spid="275" grpId="0" animBg="1"/>
      <p:bldP spid="276" grpId="0" animBg="1"/>
      <p:bldP spid="31" grpId="0" animBg="1"/>
      <p:bldP spid="32" grpId="0"/>
      <p:bldP spid="33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0"/>
          <p:cNvSpPr txBox="1">
            <a:spLocks noGrp="1"/>
          </p:cNvSpPr>
          <p:nvPr>
            <p:ph type="title"/>
          </p:nvPr>
        </p:nvSpPr>
        <p:spPr>
          <a:xfrm>
            <a:off x="1187624" y="630874"/>
            <a:ext cx="6048672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sz="3000" b="1" dirty="0" smtClean="0">
                <a:latin typeface="Montserrat" pitchFamily="2" charset="0"/>
                <a:cs typeface="Mongolian Baiti" pitchFamily="66" charset="0"/>
              </a:rPr>
              <a:t>Descrizione flusso completo</a:t>
            </a:r>
            <a:endParaRPr lang="it-IT" sz="3000" b="1" dirty="0">
              <a:latin typeface="Montserrat" pitchFamily="2" charset="0"/>
              <a:cs typeface="Mongolian Baiti" pitchFamily="66" charset="0"/>
            </a:endParaRPr>
          </a:p>
        </p:txBody>
      </p:sp>
      <p:grpSp>
        <p:nvGrpSpPr>
          <p:cNvPr id="2" name="Gruppo 1"/>
          <p:cNvGrpSpPr/>
          <p:nvPr/>
        </p:nvGrpSpPr>
        <p:grpSpPr>
          <a:xfrm>
            <a:off x="430912" y="1419622"/>
            <a:ext cx="8389560" cy="542704"/>
            <a:chOff x="430912" y="1419622"/>
            <a:chExt cx="8389560" cy="542704"/>
          </a:xfrm>
        </p:grpSpPr>
        <p:grpSp>
          <p:nvGrpSpPr>
            <p:cNvPr id="4" name="Gruppo 3"/>
            <p:cNvGrpSpPr/>
            <p:nvPr/>
          </p:nvGrpSpPr>
          <p:grpSpPr>
            <a:xfrm>
              <a:off x="1475757" y="1598395"/>
              <a:ext cx="6371977" cy="191543"/>
              <a:chOff x="1512389" y="1670403"/>
              <a:chExt cx="6371977" cy="191543"/>
            </a:xfrm>
            <a:gradFill flip="none" rotWithShape="1">
              <a:gsLst>
                <a:gs pos="0">
                  <a:schemeClr val="tx2"/>
                </a:gs>
                <a:gs pos="100000">
                  <a:schemeClr val="accent1"/>
                </a:gs>
              </a:gsLst>
              <a:lin ang="8100000" scaled="1"/>
              <a:tileRect/>
            </a:gradFill>
          </p:grpSpPr>
          <p:sp>
            <p:nvSpPr>
              <p:cNvPr id="32" name="Shape 5"/>
              <p:cNvSpPr/>
              <p:nvPr/>
            </p:nvSpPr>
            <p:spPr>
              <a:xfrm>
                <a:off x="1512389" y="1670403"/>
                <a:ext cx="178773" cy="191543"/>
              </a:xfrm>
              <a:prstGeom prst="rightArrow">
                <a:avLst/>
              </a:prstGeom>
              <a:grpFill/>
              <a:ln/>
            </p:spPr>
          </p:sp>
          <p:sp>
            <p:nvSpPr>
              <p:cNvPr id="35" name="Shape 8"/>
              <p:cNvSpPr/>
              <p:nvPr/>
            </p:nvSpPr>
            <p:spPr>
              <a:xfrm>
                <a:off x="2751030" y="1670403"/>
                <a:ext cx="178773" cy="191543"/>
              </a:xfrm>
              <a:prstGeom prst="rightArrow">
                <a:avLst/>
              </a:prstGeom>
              <a:grpFill/>
              <a:ln/>
            </p:spPr>
          </p:sp>
          <p:sp>
            <p:nvSpPr>
              <p:cNvPr id="38" name="Shape 11"/>
              <p:cNvSpPr/>
              <p:nvPr/>
            </p:nvSpPr>
            <p:spPr>
              <a:xfrm>
                <a:off x="3989670" y="1670403"/>
                <a:ext cx="178773" cy="191543"/>
              </a:xfrm>
              <a:prstGeom prst="rightArrow">
                <a:avLst/>
              </a:prstGeom>
              <a:grpFill/>
              <a:ln/>
            </p:spPr>
          </p:sp>
          <p:sp>
            <p:nvSpPr>
              <p:cNvPr id="41" name="Shape 14"/>
              <p:cNvSpPr/>
              <p:nvPr/>
            </p:nvSpPr>
            <p:spPr>
              <a:xfrm>
                <a:off x="5228311" y="1670403"/>
                <a:ext cx="178773" cy="191543"/>
              </a:xfrm>
              <a:prstGeom prst="rightArrow">
                <a:avLst/>
              </a:prstGeom>
              <a:grpFill/>
              <a:ln/>
            </p:spPr>
          </p:sp>
          <p:sp>
            <p:nvSpPr>
              <p:cNvPr id="44" name="Shape 17"/>
              <p:cNvSpPr/>
              <p:nvPr/>
            </p:nvSpPr>
            <p:spPr>
              <a:xfrm>
                <a:off x="6466952" y="1670403"/>
                <a:ext cx="178773" cy="191543"/>
              </a:xfrm>
              <a:prstGeom prst="rightArrow">
                <a:avLst/>
              </a:prstGeom>
              <a:grpFill/>
              <a:ln/>
            </p:spPr>
          </p:sp>
          <p:sp>
            <p:nvSpPr>
              <p:cNvPr id="47" name="Shape 20"/>
              <p:cNvSpPr/>
              <p:nvPr/>
            </p:nvSpPr>
            <p:spPr>
              <a:xfrm>
                <a:off x="7705593" y="1670403"/>
                <a:ext cx="178773" cy="191543"/>
              </a:xfrm>
              <a:prstGeom prst="rightArrow">
                <a:avLst/>
              </a:prstGeom>
              <a:grpFill/>
              <a:ln/>
            </p:spPr>
          </p:sp>
        </p:grpSp>
        <p:grpSp>
          <p:nvGrpSpPr>
            <p:cNvPr id="3" name="Gruppo 2"/>
            <p:cNvGrpSpPr/>
            <p:nvPr/>
          </p:nvGrpSpPr>
          <p:grpSpPr>
            <a:xfrm>
              <a:off x="430912" y="1419622"/>
              <a:ext cx="8389560" cy="542704"/>
              <a:chOff x="494135" y="1491630"/>
              <a:chExt cx="8389560" cy="542704"/>
            </a:xfrm>
            <a:gradFill flip="none" rotWithShape="1">
              <a:gsLst>
                <a:gs pos="0">
                  <a:schemeClr val="accent1"/>
                </a:gs>
                <a:gs pos="100000">
                  <a:schemeClr val="tx2"/>
                </a:gs>
              </a:gsLst>
              <a:lin ang="0" scaled="1"/>
              <a:tileRect/>
            </a:gradFill>
          </p:grpSpPr>
          <p:sp>
            <p:nvSpPr>
              <p:cNvPr id="30" name="Shape 3"/>
              <p:cNvSpPr/>
              <p:nvPr/>
            </p:nvSpPr>
            <p:spPr>
              <a:xfrm>
                <a:off x="494135" y="1491630"/>
                <a:ext cx="957712" cy="542704"/>
              </a:xfrm>
              <a:prstGeom prst="roundRect">
                <a:avLst>
                  <a:gd name="adj" fmla="val 9412"/>
                </a:avLst>
              </a:prstGeom>
              <a:grpFill/>
              <a:ln/>
            </p:spPr>
          </p:sp>
          <p:sp>
            <p:nvSpPr>
              <p:cNvPr id="31" name="Text 4"/>
              <p:cNvSpPr/>
              <p:nvPr/>
            </p:nvSpPr>
            <p:spPr>
              <a:xfrm>
                <a:off x="494135" y="1491630"/>
                <a:ext cx="957712" cy="5427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Montserrat" pitchFamily="2" charset="0"/>
                    <a:ea typeface="Calibri" pitchFamily="34" charset="-122"/>
                    <a:cs typeface="Mongolian Baiti" pitchFamily="66" charset="0"/>
                  </a:rPr>
                  <a:t>Dispositivo</a:t>
                </a:r>
                <a:endParaRPr lang="en-US" sz="1250" dirty="0">
                  <a:latin typeface="Montserrat" pitchFamily="2" charset="0"/>
                  <a:cs typeface="Mongolian Baiti" pitchFamily="66" charset="0"/>
                </a:endParaRPr>
              </a:p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950" dirty="0">
                    <a:solidFill>
                      <a:srgbClr val="E6F0F6"/>
                    </a:solidFill>
                    <a:latin typeface="Montserrat" pitchFamily="2" charset="0"/>
                    <a:ea typeface="Calibri" pitchFamily="34" charset="-122"/>
                    <a:cs typeface="Mongolian Baiti" pitchFamily="66" charset="0"/>
                  </a:rPr>
                  <a:t>input_device</a:t>
                </a:r>
                <a:endParaRPr lang="en-US" sz="1250" dirty="0">
                  <a:latin typeface="Montserrat" pitchFamily="2" charset="0"/>
                  <a:cs typeface="Mongolian Baiti" pitchFamily="66" charset="0"/>
                </a:endParaRPr>
              </a:p>
            </p:txBody>
          </p:sp>
          <p:sp>
            <p:nvSpPr>
              <p:cNvPr id="33" name="Shape 6"/>
              <p:cNvSpPr/>
              <p:nvPr/>
            </p:nvSpPr>
            <p:spPr>
              <a:xfrm>
                <a:off x="1732776" y="1491630"/>
                <a:ext cx="957712" cy="542704"/>
              </a:xfrm>
              <a:prstGeom prst="roundRect">
                <a:avLst>
                  <a:gd name="adj" fmla="val 9412"/>
                </a:avLst>
              </a:prstGeom>
              <a:grpFill/>
              <a:ln/>
            </p:spPr>
          </p:sp>
          <p:sp>
            <p:nvSpPr>
              <p:cNvPr id="34" name="Text 7"/>
              <p:cNvSpPr/>
              <p:nvPr/>
            </p:nvSpPr>
            <p:spPr>
              <a:xfrm>
                <a:off x="1732776" y="1491630"/>
                <a:ext cx="957712" cy="5427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Montserrat" pitchFamily="2" charset="0"/>
                    <a:ea typeface="Calibri" pitchFamily="34" charset="-122"/>
                    <a:cs typeface="Mongolian Baiti" pitchFamily="66" charset="0"/>
                  </a:rPr>
                  <a:t>Parser</a:t>
                </a:r>
                <a:endParaRPr lang="en-US" sz="1250" dirty="0">
                  <a:latin typeface="Montserrat" pitchFamily="2" charset="0"/>
                  <a:cs typeface="Mongolian Baiti" pitchFamily="66" charset="0"/>
                </a:endParaRPr>
              </a:p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950" dirty="0">
                    <a:solidFill>
                      <a:srgbClr val="E6F0F6"/>
                    </a:solidFill>
                    <a:latin typeface="Montserrat" pitchFamily="2" charset="0"/>
                    <a:ea typeface="Calibri" pitchFamily="34" charset="-122"/>
                    <a:cs typeface="Mongolian Baiti" pitchFamily="66" charset="0"/>
                  </a:rPr>
                  <a:t>parser</a:t>
                </a:r>
                <a:endParaRPr lang="en-US" sz="1250" dirty="0">
                  <a:latin typeface="Montserrat" pitchFamily="2" charset="0"/>
                  <a:cs typeface="Mongolian Baiti" pitchFamily="66" charset="0"/>
                </a:endParaRPr>
              </a:p>
            </p:txBody>
          </p:sp>
          <p:sp>
            <p:nvSpPr>
              <p:cNvPr id="36" name="Shape 9"/>
              <p:cNvSpPr/>
              <p:nvPr/>
            </p:nvSpPr>
            <p:spPr>
              <a:xfrm>
                <a:off x="2971418" y="1491630"/>
                <a:ext cx="957712" cy="542704"/>
              </a:xfrm>
              <a:prstGeom prst="roundRect">
                <a:avLst>
                  <a:gd name="adj" fmla="val 9412"/>
                </a:avLst>
              </a:prstGeom>
              <a:grpFill/>
              <a:ln/>
            </p:spPr>
          </p:sp>
          <p:sp>
            <p:nvSpPr>
              <p:cNvPr id="37" name="Text 10"/>
              <p:cNvSpPr/>
              <p:nvPr/>
            </p:nvSpPr>
            <p:spPr>
              <a:xfrm>
                <a:off x="2971418" y="1491630"/>
                <a:ext cx="957712" cy="5427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Montserrat" pitchFamily="2" charset="0"/>
                    <a:ea typeface="Calibri" pitchFamily="34" charset="-122"/>
                    <a:cs typeface="Mongolian Baiti" pitchFamily="66" charset="0"/>
                  </a:rPr>
                  <a:t>Segnale</a:t>
                </a:r>
                <a:endParaRPr lang="en-US" sz="1250" dirty="0">
                  <a:latin typeface="Montserrat" pitchFamily="2" charset="0"/>
                  <a:cs typeface="Mongolian Baiti" pitchFamily="66" charset="0"/>
                </a:endParaRPr>
              </a:p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950" dirty="0">
                    <a:solidFill>
                      <a:srgbClr val="E6F0F6"/>
                    </a:solidFill>
                    <a:latin typeface="Montserrat" pitchFamily="2" charset="0"/>
                    <a:ea typeface="Calibri" pitchFamily="34" charset="-122"/>
                    <a:cs typeface="Mongolian Baiti" pitchFamily="66" charset="0"/>
                  </a:rPr>
                  <a:t>segnale</a:t>
                </a:r>
                <a:endParaRPr lang="en-US" sz="1250" dirty="0">
                  <a:latin typeface="Montserrat" pitchFamily="2" charset="0"/>
                  <a:cs typeface="Mongolian Baiti" pitchFamily="66" charset="0"/>
                </a:endParaRPr>
              </a:p>
            </p:txBody>
          </p:sp>
          <p:sp>
            <p:nvSpPr>
              <p:cNvPr id="39" name="Shape 12"/>
              <p:cNvSpPr/>
              <p:nvPr/>
            </p:nvSpPr>
            <p:spPr>
              <a:xfrm>
                <a:off x="4210059" y="1491630"/>
                <a:ext cx="957712" cy="542704"/>
              </a:xfrm>
              <a:prstGeom prst="roundRect">
                <a:avLst>
                  <a:gd name="adj" fmla="val 9412"/>
                </a:avLst>
              </a:prstGeom>
              <a:grpFill/>
              <a:ln/>
            </p:spPr>
          </p:sp>
          <p:sp>
            <p:nvSpPr>
              <p:cNvPr id="40" name="Text 13"/>
              <p:cNvSpPr/>
              <p:nvPr/>
            </p:nvSpPr>
            <p:spPr>
              <a:xfrm>
                <a:off x="4210059" y="1491630"/>
                <a:ext cx="957712" cy="5427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Montserrat" pitchFamily="2" charset="0"/>
                    <a:ea typeface="Calibri" pitchFamily="34" charset="-122"/>
                    <a:cs typeface="Mongolian Baiti" pitchFamily="66" charset="0"/>
                  </a:rPr>
                  <a:t>Filtri</a:t>
                </a:r>
                <a:endParaRPr lang="en-US" sz="1250" dirty="0">
                  <a:latin typeface="Montserrat" pitchFamily="2" charset="0"/>
                  <a:cs typeface="Mongolian Baiti" pitchFamily="66" charset="0"/>
                </a:endParaRPr>
              </a:p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950" dirty="0" err="1">
                    <a:solidFill>
                      <a:srgbClr val="E6F0F6"/>
                    </a:solidFill>
                    <a:latin typeface="Montserrat" pitchFamily="2" charset="0"/>
                    <a:ea typeface="Calibri" pitchFamily="34" charset="-122"/>
                    <a:cs typeface="Mongolian Baiti" pitchFamily="66" charset="0"/>
                  </a:rPr>
                  <a:t>processore</a:t>
                </a:r>
                <a:r>
                  <a:rPr lang="en-US" sz="950" dirty="0" smtClean="0">
                    <a:solidFill>
                      <a:srgbClr val="E6F0F6"/>
                    </a:solidFill>
                    <a:latin typeface="Montserrat" pitchFamily="2" charset="0"/>
                    <a:ea typeface="Calibri" pitchFamily="34" charset="-122"/>
                    <a:cs typeface="Mongolian Baiti" pitchFamily="66" charset="0"/>
                  </a:rPr>
                  <a:t>_</a:t>
                </a:r>
                <a:br>
                  <a:rPr lang="en-US" sz="950" dirty="0" smtClean="0">
                    <a:solidFill>
                      <a:srgbClr val="E6F0F6"/>
                    </a:solidFill>
                    <a:latin typeface="Montserrat" pitchFamily="2" charset="0"/>
                    <a:ea typeface="Calibri" pitchFamily="34" charset="-122"/>
                    <a:cs typeface="Mongolian Baiti" pitchFamily="66" charset="0"/>
                  </a:rPr>
                </a:br>
                <a:r>
                  <a:rPr lang="en-US" sz="950" dirty="0" err="1" smtClean="0">
                    <a:solidFill>
                      <a:srgbClr val="E6F0F6"/>
                    </a:solidFill>
                    <a:latin typeface="Montserrat" pitchFamily="2" charset="0"/>
                    <a:ea typeface="Calibri" pitchFamily="34" charset="-122"/>
                    <a:cs typeface="Mongolian Baiti" pitchFamily="66" charset="0"/>
                  </a:rPr>
                  <a:t>segnale</a:t>
                </a:r>
                <a:endParaRPr lang="en-US" sz="1250" dirty="0">
                  <a:latin typeface="Montserrat" pitchFamily="2" charset="0"/>
                  <a:cs typeface="Mongolian Baiti" pitchFamily="66" charset="0"/>
                </a:endParaRPr>
              </a:p>
            </p:txBody>
          </p:sp>
          <p:sp>
            <p:nvSpPr>
              <p:cNvPr id="42" name="Shape 15"/>
              <p:cNvSpPr/>
              <p:nvPr/>
            </p:nvSpPr>
            <p:spPr>
              <a:xfrm>
                <a:off x="5448698" y="1491630"/>
                <a:ext cx="957712" cy="542704"/>
              </a:xfrm>
              <a:prstGeom prst="roundRect">
                <a:avLst>
                  <a:gd name="adj" fmla="val 9412"/>
                </a:avLst>
              </a:prstGeom>
              <a:grpFill/>
              <a:ln/>
            </p:spPr>
          </p:sp>
          <p:sp>
            <p:nvSpPr>
              <p:cNvPr id="43" name="Text 16"/>
              <p:cNvSpPr/>
              <p:nvPr/>
            </p:nvSpPr>
            <p:spPr>
              <a:xfrm>
                <a:off x="5448697" y="1491630"/>
                <a:ext cx="957712" cy="5427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Montserrat" pitchFamily="2" charset="0"/>
                    <a:ea typeface="Calibri" pitchFamily="34" charset="-122"/>
                    <a:cs typeface="Mongolian Baiti" pitchFamily="66" charset="0"/>
                  </a:rPr>
                  <a:t>Interprete</a:t>
                </a:r>
                <a:endParaRPr lang="en-US" sz="1250" dirty="0">
                  <a:latin typeface="Montserrat" pitchFamily="2" charset="0"/>
                  <a:cs typeface="Mongolian Baiti" pitchFamily="66" charset="0"/>
                </a:endParaRPr>
              </a:p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950" dirty="0">
                    <a:solidFill>
                      <a:srgbClr val="E6F0F6"/>
                    </a:solidFill>
                    <a:latin typeface="Montserrat" pitchFamily="2" charset="0"/>
                    <a:ea typeface="Calibri" pitchFamily="34" charset="-122"/>
                    <a:cs typeface="Mongolian Baiti" pitchFamily="66" charset="0"/>
                  </a:rPr>
                  <a:t>interprete</a:t>
                </a:r>
                <a:endParaRPr lang="en-US" sz="1250" dirty="0">
                  <a:latin typeface="Montserrat" pitchFamily="2" charset="0"/>
                  <a:cs typeface="Mongolian Baiti" pitchFamily="66" charset="0"/>
                </a:endParaRPr>
              </a:p>
            </p:txBody>
          </p:sp>
          <p:sp>
            <p:nvSpPr>
              <p:cNvPr id="45" name="Shape 18"/>
              <p:cNvSpPr/>
              <p:nvPr/>
            </p:nvSpPr>
            <p:spPr>
              <a:xfrm>
                <a:off x="6687338" y="1491630"/>
                <a:ext cx="957712" cy="542704"/>
              </a:xfrm>
              <a:prstGeom prst="roundRect">
                <a:avLst>
                  <a:gd name="adj" fmla="val 9412"/>
                </a:avLst>
              </a:prstGeom>
              <a:grpFill/>
              <a:ln/>
            </p:spPr>
          </p:sp>
          <p:sp>
            <p:nvSpPr>
              <p:cNvPr id="46" name="Text 19"/>
              <p:cNvSpPr/>
              <p:nvPr/>
            </p:nvSpPr>
            <p:spPr>
              <a:xfrm>
                <a:off x="6687338" y="1491630"/>
                <a:ext cx="957712" cy="5427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1250" b="1" dirty="0">
                    <a:solidFill>
                      <a:srgbClr val="FFFFFF"/>
                    </a:solidFill>
                    <a:latin typeface="Montserrat" pitchFamily="2" charset="0"/>
                    <a:ea typeface="Calibri" pitchFamily="34" charset="-122"/>
                    <a:cs typeface="Mongolian Baiti" pitchFamily="66" charset="0"/>
                  </a:rPr>
                  <a:t>Azione</a:t>
                </a:r>
                <a:endParaRPr lang="en-US" sz="1250" dirty="0">
                  <a:latin typeface="Montserrat" pitchFamily="2" charset="0"/>
                  <a:cs typeface="Mongolian Baiti" pitchFamily="66" charset="0"/>
                </a:endParaRPr>
              </a:p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950" dirty="0">
                    <a:solidFill>
                      <a:srgbClr val="E6F0F6"/>
                    </a:solidFill>
                    <a:latin typeface="Montserrat" pitchFamily="2" charset="0"/>
                    <a:ea typeface="Calibri" pitchFamily="34" charset="-122"/>
                    <a:cs typeface="Mongolian Baiti" pitchFamily="66" charset="0"/>
                  </a:rPr>
                  <a:t>azione</a:t>
                </a:r>
                <a:endParaRPr lang="en-US" sz="1250" dirty="0">
                  <a:latin typeface="Montserrat" pitchFamily="2" charset="0"/>
                  <a:cs typeface="Mongolian Baiti" pitchFamily="66" charset="0"/>
                </a:endParaRPr>
              </a:p>
            </p:txBody>
          </p:sp>
          <p:sp>
            <p:nvSpPr>
              <p:cNvPr id="48" name="Shape 21"/>
              <p:cNvSpPr/>
              <p:nvPr/>
            </p:nvSpPr>
            <p:spPr>
              <a:xfrm>
                <a:off x="7925983" y="1491630"/>
                <a:ext cx="957712" cy="542704"/>
              </a:xfrm>
              <a:prstGeom prst="roundRect">
                <a:avLst>
                  <a:gd name="adj" fmla="val 9412"/>
                </a:avLst>
              </a:prstGeom>
              <a:grpFill/>
              <a:ln/>
            </p:spPr>
          </p:sp>
          <p:sp>
            <p:nvSpPr>
              <p:cNvPr id="49" name="Text 22"/>
              <p:cNvSpPr/>
              <p:nvPr/>
            </p:nvSpPr>
            <p:spPr>
              <a:xfrm>
                <a:off x="7925980" y="1491630"/>
                <a:ext cx="957712" cy="5427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Montserrat" pitchFamily="2" charset="0"/>
                    <a:ea typeface="Calibri" pitchFamily="34" charset="-122"/>
                    <a:cs typeface="Mongolian Baiti" pitchFamily="66" charset="0"/>
                  </a:rPr>
                  <a:t>Iniettore</a:t>
                </a:r>
                <a:endParaRPr lang="en-US" sz="1250" dirty="0">
                  <a:latin typeface="Montserrat" pitchFamily="2" charset="0"/>
                  <a:cs typeface="Mongolian Baiti" pitchFamily="66" charset="0"/>
                </a:endParaRPr>
              </a:p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950" dirty="0">
                    <a:solidFill>
                      <a:srgbClr val="E6F0F6"/>
                    </a:solidFill>
                    <a:latin typeface="Montserrat" pitchFamily="2" charset="0"/>
                    <a:ea typeface="Calibri" pitchFamily="34" charset="-122"/>
                    <a:cs typeface="Mongolian Baiti" pitchFamily="66" charset="0"/>
                  </a:rPr>
                  <a:t>SO / Robot</a:t>
                </a:r>
                <a:endParaRPr lang="en-US" sz="1250" dirty="0">
                  <a:latin typeface="Montserrat" pitchFamily="2" charset="0"/>
                  <a:cs typeface="Mongolian Baiti" pitchFamily="66" charset="0"/>
                </a:endParaRPr>
              </a:p>
            </p:txBody>
          </p:sp>
        </p:grpSp>
      </p:grpSp>
      <p:grpSp>
        <p:nvGrpSpPr>
          <p:cNvPr id="5" name="Gruppo 4"/>
          <p:cNvGrpSpPr/>
          <p:nvPr/>
        </p:nvGrpSpPr>
        <p:grpSpPr>
          <a:xfrm>
            <a:off x="451729" y="2355726"/>
            <a:ext cx="7720671" cy="402254"/>
            <a:chOff x="451729" y="2516163"/>
            <a:chExt cx="7720671" cy="402254"/>
          </a:xfrm>
          <a:effectLst>
            <a:outerShdw blurRad="50800" dist="38100" dir="13500000" algn="br" rotWithShape="0">
              <a:schemeClr val="tx2">
                <a:alpha val="40000"/>
              </a:schemeClr>
            </a:outerShdw>
          </a:effectLst>
        </p:grpSpPr>
        <p:sp>
          <p:nvSpPr>
            <p:cNvPr id="52" name="Shape 23"/>
            <p:cNvSpPr/>
            <p:nvPr/>
          </p:nvSpPr>
          <p:spPr>
            <a:xfrm>
              <a:off x="451729" y="2516163"/>
              <a:ext cx="7720671" cy="402254"/>
            </a:xfrm>
            <a:prstGeom prst="roundRect">
              <a:avLst>
                <a:gd name="adj" fmla="val 12903"/>
              </a:avLst>
            </a:prstGeom>
            <a:solidFill>
              <a:schemeClr val="tx1"/>
            </a:solidFill>
            <a:ln/>
          </p:spPr>
        </p:sp>
        <p:sp>
          <p:nvSpPr>
            <p:cNvPr id="53" name="Shape 24"/>
            <p:cNvSpPr/>
            <p:nvPr/>
          </p:nvSpPr>
          <p:spPr>
            <a:xfrm>
              <a:off x="549048" y="2587531"/>
              <a:ext cx="259518" cy="259518"/>
            </a:xfrm>
            <a:prstGeom prst="ellipse">
              <a:avLst/>
            </a:prstGeom>
            <a:solidFill>
              <a:schemeClr val="accent1"/>
            </a:solidFill>
            <a:ln/>
          </p:spPr>
        </p:sp>
        <p:sp>
          <p:nvSpPr>
            <p:cNvPr id="54" name="Text 25"/>
            <p:cNvSpPr/>
            <p:nvPr/>
          </p:nvSpPr>
          <p:spPr>
            <a:xfrm>
              <a:off x="549048" y="2587531"/>
              <a:ext cx="259518" cy="2595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chemeClr val="tx1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1</a:t>
              </a:r>
              <a:endParaRPr lang="en-US" sz="1500" dirty="0">
                <a:solidFill>
                  <a:schemeClr val="tx1"/>
                </a:solidFill>
                <a:latin typeface="Montserrat" pitchFamily="2" charset="0"/>
                <a:cs typeface="Mongolian Baiti" pitchFamily="66" charset="0"/>
              </a:endParaRPr>
            </a:p>
          </p:txBody>
        </p:sp>
        <p:sp>
          <p:nvSpPr>
            <p:cNvPr id="55" name="Text 26"/>
            <p:cNvSpPr/>
            <p:nvPr/>
          </p:nvSpPr>
          <p:spPr>
            <a:xfrm>
              <a:off x="938326" y="2516163"/>
              <a:ext cx="1362471" cy="402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tx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Acquisizione</a:t>
              </a:r>
              <a:endParaRPr lang="en-US" sz="1300" b="1" dirty="0">
                <a:solidFill>
                  <a:schemeClr val="tx2"/>
                </a:solidFill>
                <a:latin typeface="Montserrat" pitchFamily="2" charset="0"/>
                <a:cs typeface="Mongolian Baiti" pitchFamily="66" charset="0"/>
              </a:endParaRPr>
            </a:p>
          </p:txBody>
        </p:sp>
        <p:sp>
          <p:nvSpPr>
            <p:cNvPr id="56" name="Text 27"/>
            <p:cNvSpPr/>
            <p:nvPr/>
          </p:nvSpPr>
          <p:spPr>
            <a:xfrm>
              <a:off x="2300797" y="2516163"/>
              <a:ext cx="5774283" cy="402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Il dispositivo legge una riga dal file di log; il parser la converte in un oggetto ISegnale (continuo o discreto).</a:t>
              </a:r>
              <a:endParaRPr lang="en-US" sz="1200" dirty="0">
                <a:solidFill>
                  <a:schemeClr val="bg2"/>
                </a:solidFill>
                <a:latin typeface="Montserrat" pitchFamily="2" charset="0"/>
                <a:cs typeface="Mongolian Baiti" pitchFamily="66" charset="0"/>
              </a:endParaRPr>
            </a:p>
          </p:txBody>
        </p:sp>
      </p:grpSp>
      <p:grpSp>
        <p:nvGrpSpPr>
          <p:cNvPr id="6" name="Gruppo 5"/>
          <p:cNvGrpSpPr/>
          <p:nvPr/>
        </p:nvGrpSpPr>
        <p:grpSpPr>
          <a:xfrm>
            <a:off x="451729" y="2983296"/>
            <a:ext cx="7720671" cy="402254"/>
            <a:chOff x="451729" y="2983296"/>
            <a:chExt cx="7720671" cy="402254"/>
          </a:xfrm>
          <a:effectLst>
            <a:outerShdw blurRad="50800" dist="38100" algn="l" rotWithShape="0">
              <a:schemeClr val="tx2">
                <a:alpha val="40000"/>
              </a:schemeClr>
            </a:outerShdw>
          </a:effectLst>
        </p:grpSpPr>
        <p:sp>
          <p:nvSpPr>
            <p:cNvPr id="57" name="Shape 28"/>
            <p:cNvSpPr/>
            <p:nvPr/>
          </p:nvSpPr>
          <p:spPr>
            <a:xfrm>
              <a:off x="451729" y="2983296"/>
              <a:ext cx="7720671" cy="402254"/>
            </a:xfrm>
            <a:prstGeom prst="roundRect">
              <a:avLst>
                <a:gd name="adj" fmla="val 12903"/>
              </a:avLst>
            </a:prstGeom>
            <a:solidFill>
              <a:schemeClr val="tx1"/>
            </a:solidFill>
            <a:ln/>
          </p:spPr>
        </p:sp>
        <p:sp>
          <p:nvSpPr>
            <p:cNvPr id="58" name="Shape 29"/>
            <p:cNvSpPr/>
            <p:nvPr/>
          </p:nvSpPr>
          <p:spPr>
            <a:xfrm>
              <a:off x="549048" y="3054664"/>
              <a:ext cx="259518" cy="259518"/>
            </a:xfrm>
            <a:prstGeom prst="ellipse">
              <a:avLst/>
            </a:prstGeom>
            <a:solidFill>
              <a:schemeClr val="accent1"/>
            </a:solidFill>
            <a:ln/>
          </p:spPr>
        </p:sp>
        <p:sp>
          <p:nvSpPr>
            <p:cNvPr id="59" name="Text 30"/>
            <p:cNvSpPr/>
            <p:nvPr/>
          </p:nvSpPr>
          <p:spPr>
            <a:xfrm>
              <a:off x="549048" y="3054664"/>
              <a:ext cx="259518" cy="2595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 smtClean="0">
                  <a:solidFill>
                    <a:schemeClr val="tx1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2</a:t>
              </a:r>
              <a:endParaRPr lang="en-US" sz="1500" dirty="0">
                <a:solidFill>
                  <a:schemeClr val="tx1"/>
                </a:solidFill>
                <a:latin typeface="Montserrat" pitchFamily="2" charset="0"/>
                <a:cs typeface="Mongolian Baiti" pitchFamily="66" charset="0"/>
              </a:endParaRPr>
            </a:p>
          </p:txBody>
        </p:sp>
        <p:sp>
          <p:nvSpPr>
            <p:cNvPr id="60" name="Text 31"/>
            <p:cNvSpPr/>
            <p:nvPr/>
          </p:nvSpPr>
          <p:spPr>
            <a:xfrm>
              <a:off x="938326" y="2983296"/>
              <a:ext cx="1362471" cy="402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tx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Pulizia</a:t>
              </a:r>
              <a:endParaRPr lang="en-US" sz="1300" dirty="0">
                <a:solidFill>
                  <a:schemeClr val="tx2"/>
                </a:solidFill>
                <a:latin typeface="Montserrat" pitchFamily="2" charset="0"/>
                <a:cs typeface="Mongolian Baiti" pitchFamily="66" charset="0"/>
              </a:endParaRPr>
            </a:p>
          </p:txBody>
        </p:sp>
        <p:sp>
          <p:nvSpPr>
            <p:cNvPr id="61" name="Text 32"/>
            <p:cNvSpPr/>
            <p:nvPr/>
          </p:nvSpPr>
          <p:spPr>
            <a:xfrm>
              <a:off x="2300797" y="2983296"/>
              <a:ext cx="5774283" cy="402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Una catena di filtri riduce il rumore, azzera i micro-movimenti e regola la sensibilità secondo il profilo.</a:t>
              </a:r>
              <a:endParaRPr lang="en-US" sz="1200" dirty="0">
                <a:solidFill>
                  <a:schemeClr val="bg2"/>
                </a:solidFill>
                <a:latin typeface="Montserrat" pitchFamily="2" charset="0"/>
                <a:cs typeface="Mongolian Baiti" pitchFamily="66" charset="0"/>
              </a:endParaRPr>
            </a:p>
          </p:txBody>
        </p:sp>
      </p:grpSp>
      <p:grpSp>
        <p:nvGrpSpPr>
          <p:cNvPr id="7" name="Gruppo 6"/>
          <p:cNvGrpSpPr/>
          <p:nvPr/>
        </p:nvGrpSpPr>
        <p:grpSpPr>
          <a:xfrm>
            <a:off x="451729" y="3537648"/>
            <a:ext cx="7720671" cy="402254"/>
            <a:chOff x="451729" y="3450429"/>
            <a:chExt cx="7720671" cy="402254"/>
          </a:xfrm>
          <a:effectLst>
            <a:outerShdw blurRad="50800" dist="38100" dir="10800000" algn="r" rotWithShape="0">
              <a:schemeClr val="tx2">
                <a:alpha val="40000"/>
              </a:schemeClr>
            </a:outerShdw>
          </a:effectLst>
        </p:grpSpPr>
        <p:sp>
          <p:nvSpPr>
            <p:cNvPr id="62" name="Shape 33"/>
            <p:cNvSpPr/>
            <p:nvPr/>
          </p:nvSpPr>
          <p:spPr>
            <a:xfrm>
              <a:off x="451729" y="3450429"/>
              <a:ext cx="7720671" cy="402254"/>
            </a:xfrm>
            <a:prstGeom prst="roundRect">
              <a:avLst>
                <a:gd name="adj" fmla="val 12903"/>
              </a:avLst>
            </a:prstGeom>
            <a:solidFill>
              <a:schemeClr val="tx1"/>
            </a:solidFill>
            <a:ln/>
          </p:spPr>
        </p:sp>
        <p:sp>
          <p:nvSpPr>
            <p:cNvPr id="63" name="Shape 34"/>
            <p:cNvSpPr/>
            <p:nvPr/>
          </p:nvSpPr>
          <p:spPr>
            <a:xfrm>
              <a:off x="549048" y="3521797"/>
              <a:ext cx="259518" cy="259518"/>
            </a:xfrm>
            <a:prstGeom prst="ellipse">
              <a:avLst/>
            </a:prstGeom>
            <a:solidFill>
              <a:schemeClr val="accent1"/>
            </a:solidFill>
            <a:ln/>
          </p:spPr>
        </p:sp>
        <p:sp>
          <p:nvSpPr>
            <p:cNvPr id="64" name="Text 35"/>
            <p:cNvSpPr/>
            <p:nvPr/>
          </p:nvSpPr>
          <p:spPr>
            <a:xfrm>
              <a:off x="549048" y="3521797"/>
              <a:ext cx="259518" cy="2595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chemeClr val="tx1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3</a:t>
              </a:r>
              <a:endParaRPr lang="en-US" sz="1500" dirty="0">
                <a:solidFill>
                  <a:schemeClr val="tx1"/>
                </a:solidFill>
                <a:latin typeface="Montserrat" pitchFamily="2" charset="0"/>
                <a:cs typeface="Mongolian Baiti" pitchFamily="66" charset="0"/>
              </a:endParaRPr>
            </a:p>
          </p:txBody>
        </p:sp>
        <p:sp>
          <p:nvSpPr>
            <p:cNvPr id="65" name="Text 36"/>
            <p:cNvSpPr/>
            <p:nvPr/>
          </p:nvSpPr>
          <p:spPr>
            <a:xfrm>
              <a:off x="938326" y="3450429"/>
              <a:ext cx="1362471" cy="402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tx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Interpretazione</a:t>
              </a:r>
              <a:endParaRPr lang="en-US" sz="1300" dirty="0">
                <a:solidFill>
                  <a:schemeClr val="tx2"/>
                </a:solidFill>
                <a:latin typeface="Montserrat" pitchFamily="2" charset="0"/>
                <a:cs typeface="Mongolian Baiti" pitchFamily="66" charset="0"/>
              </a:endParaRPr>
            </a:p>
          </p:txBody>
        </p:sp>
        <p:sp>
          <p:nvSpPr>
            <p:cNvPr id="66" name="Text 37"/>
            <p:cNvSpPr/>
            <p:nvPr/>
          </p:nvSpPr>
          <p:spPr>
            <a:xfrm>
              <a:off x="2300797" y="3450429"/>
              <a:ext cx="5774283" cy="402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Una macchina a stati riconosce l'intenzione (click, scroll, trascinamento…) e produce un EsitoInterpretazione.</a:t>
              </a:r>
              <a:endParaRPr lang="en-US" sz="1200" dirty="0">
                <a:solidFill>
                  <a:schemeClr val="bg2"/>
                </a:solidFill>
                <a:latin typeface="Montserrat" pitchFamily="2" charset="0"/>
                <a:cs typeface="Mongolian Baiti" pitchFamily="66" charset="0"/>
              </a:endParaRPr>
            </a:p>
          </p:txBody>
        </p:sp>
      </p:grpSp>
      <p:grpSp>
        <p:nvGrpSpPr>
          <p:cNvPr id="8" name="Gruppo 7"/>
          <p:cNvGrpSpPr/>
          <p:nvPr/>
        </p:nvGrpSpPr>
        <p:grpSpPr>
          <a:xfrm>
            <a:off x="451729" y="4113712"/>
            <a:ext cx="7720671" cy="402254"/>
            <a:chOff x="451729" y="3917562"/>
            <a:chExt cx="7720671" cy="402254"/>
          </a:xfrm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grpSpPr>
        <p:sp>
          <p:nvSpPr>
            <p:cNvPr id="67" name="Shape 38"/>
            <p:cNvSpPr/>
            <p:nvPr/>
          </p:nvSpPr>
          <p:spPr>
            <a:xfrm>
              <a:off x="451729" y="3917562"/>
              <a:ext cx="7720671" cy="402254"/>
            </a:xfrm>
            <a:prstGeom prst="roundRect">
              <a:avLst>
                <a:gd name="adj" fmla="val 12903"/>
              </a:avLst>
            </a:prstGeom>
            <a:solidFill>
              <a:schemeClr val="tx1"/>
            </a:solidFill>
            <a:ln/>
          </p:spPr>
        </p:sp>
        <p:sp>
          <p:nvSpPr>
            <p:cNvPr id="68" name="Shape 39"/>
            <p:cNvSpPr/>
            <p:nvPr/>
          </p:nvSpPr>
          <p:spPr>
            <a:xfrm>
              <a:off x="549048" y="3988930"/>
              <a:ext cx="259518" cy="259518"/>
            </a:xfrm>
            <a:prstGeom prst="ellipse">
              <a:avLst/>
            </a:prstGeom>
            <a:solidFill>
              <a:schemeClr val="accent1"/>
            </a:solidFill>
            <a:ln/>
          </p:spPr>
        </p:sp>
        <p:sp>
          <p:nvSpPr>
            <p:cNvPr id="69" name="Text 40"/>
            <p:cNvSpPr/>
            <p:nvPr/>
          </p:nvSpPr>
          <p:spPr>
            <a:xfrm>
              <a:off x="549048" y="3988930"/>
              <a:ext cx="259518" cy="2595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chemeClr val="tx1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4</a:t>
              </a:r>
              <a:endParaRPr lang="en-US" sz="1500" dirty="0">
                <a:solidFill>
                  <a:schemeClr val="tx1"/>
                </a:solidFill>
                <a:latin typeface="Montserrat" pitchFamily="2" charset="0"/>
                <a:cs typeface="Mongolian Baiti" pitchFamily="66" charset="0"/>
              </a:endParaRPr>
            </a:p>
          </p:txBody>
        </p:sp>
        <p:sp>
          <p:nvSpPr>
            <p:cNvPr id="70" name="Text 41"/>
            <p:cNvSpPr/>
            <p:nvPr/>
          </p:nvSpPr>
          <p:spPr>
            <a:xfrm>
              <a:off x="938326" y="3917562"/>
              <a:ext cx="1362471" cy="402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tx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Attuazione</a:t>
              </a:r>
              <a:endParaRPr lang="en-US" sz="1300" dirty="0">
                <a:solidFill>
                  <a:schemeClr val="tx2"/>
                </a:solidFill>
                <a:latin typeface="Montserrat" pitchFamily="2" charset="0"/>
                <a:cs typeface="Mongolian Baiti" pitchFamily="66" charset="0"/>
              </a:endParaRPr>
            </a:p>
          </p:txBody>
        </p:sp>
        <p:sp>
          <p:nvSpPr>
            <p:cNvPr id="71" name="Text 42"/>
            <p:cNvSpPr/>
            <p:nvPr/>
          </p:nvSpPr>
          <p:spPr>
            <a:xfrm>
              <a:off x="2300797" y="3917562"/>
              <a:ext cx="5774283" cy="402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Il GestoreAzione mappa l'evento al </a:t>
              </a:r>
              <a:r>
                <a:rPr lang="en-US" sz="1200" dirty="0" err="1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comando</a:t>
              </a:r>
              <a:r>
                <a:rPr lang="en-US" sz="1200" dirty="0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, </a:t>
              </a:r>
              <a:r>
                <a:rPr lang="en-US" sz="1200" dirty="0" err="1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l'IniettoreAzione</a:t>
              </a:r>
              <a:r>
                <a:rPr lang="en-US" sz="1200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 </a:t>
              </a:r>
              <a:r>
                <a:rPr lang="en-US" sz="1200" dirty="0" err="1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inietta</a:t>
              </a:r>
              <a:r>
                <a:rPr lang="en-US" sz="1200" dirty="0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 </a:t>
              </a:r>
              <a:r>
                <a:rPr lang="en-US" sz="1200" dirty="0" err="1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l’azione</a:t>
              </a:r>
              <a:r>
                <a:rPr lang="en-US" sz="1200" dirty="0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 </a:t>
              </a:r>
              <a:r>
                <a:rPr lang="en-US" sz="1200" dirty="0" err="1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nel</a:t>
              </a:r>
              <a:r>
                <a:rPr lang="en-US" sz="1200" dirty="0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 </a:t>
              </a:r>
              <a:r>
                <a:rPr lang="en-US" sz="1200" dirty="0" err="1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sistema</a:t>
              </a:r>
              <a:r>
                <a:rPr lang="en-US" sz="1200" dirty="0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 </a:t>
              </a:r>
              <a:r>
                <a:rPr lang="en-US" sz="1200" dirty="0" err="1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operativo</a:t>
              </a:r>
              <a:r>
                <a:rPr lang="en-US" sz="1200" dirty="0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 e la </a:t>
              </a:r>
              <a:r>
                <a:rPr lang="en-US" sz="1200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vista </a:t>
              </a:r>
              <a:r>
                <a:rPr lang="en-US" sz="1200" dirty="0" err="1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viene</a:t>
              </a:r>
              <a:r>
                <a:rPr lang="en-US" sz="1200" dirty="0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 </a:t>
              </a:r>
              <a:r>
                <a:rPr lang="en-US" sz="1200" dirty="0" err="1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aggiornata</a:t>
              </a:r>
              <a:r>
                <a:rPr lang="en-US" sz="1200" dirty="0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Mongolian Baiti" pitchFamily="66" charset="0"/>
                </a:rPr>
                <a:t>.</a:t>
              </a:r>
              <a:endParaRPr lang="en-US" sz="1200" dirty="0">
                <a:solidFill>
                  <a:schemeClr val="bg2"/>
                </a:solidFill>
                <a:latin typeface="Montserrat" pitchFamily="2" charset="0"/>
                <a:cs typeface="Mongolian Baiti" pitchFamily="66" charset="0"/>
              </a:endParaRPr>
            </a:p>
          </p:txBody>
        </p:sp>
      </p:grpSp>
      <p:sp>
        <p:nvSpPr>
          <p:cNvPr id="329" name="Google Shape;329;p40"/>
          <p:cNvSpPr/>
          <p:nvPr/>
        </p:nvSpPr>
        <p:spPr>
          <a:xfrm>
            <a:off x="-928950" y="-96492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itchFamily="2" charset="0"/>
              <a:cs typeface="Mongolian Baiti" pitchFamily="66" charset="0"/>
            </a:endParaRPr>
          </a:p>
        </p:txBody>
      </p:sp>
      <p:sp>
        <p:nvSpPr>
          <p:cNvPr id="327" name="Google Shape;327;p40"/>
          <p:cNvSpPr/>
          <p:nvPr/>
        </p:nvSpPr>
        <p:spPr>
          <a:xfrm>
            <a:off x="6818906" y="4630910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itchFamily="2" charset="0"/>
              <a:cs typeface="Mongolian Baiti" pitchFamily="66" charset="0"/>
            </a:endParaRPr>
          </a:p>
        </p:txBody>
      </p:sp>
      <p:sp>
        <p:nvSpPr>
          <p:cNvPr id="330" name="Google Shape;330;p40"/>
          <p:cNvSpPr/>
          <p:nvPr/>
        </p:nvSpPr>
        <p:spPr>
          <a:xfrm>
            <a:off x="8313956" y="3498910"/>
            <a:ext cx="2162700" cy="2162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itchFamily="2" charset="0"/>
              <a:cs typeface="Mongolian Baiti" pitchFamily="66" charset="0"/>
            </a:endParaRPr>
          </a:p>
        </p:txBody>
      </p:sp>
      <p:sp>
        <p:nvSpPr>
          <p:cNvPr id="72" name="Google Shape;329;p40"/>
          <p:cNvSpPr/>
          <p:nvPr/>
        </p:nvSpPr>
        <p:spPr>
          <a:xfrm>
            <a:off x="-215994" y="4930452"/>
            <a:ext cx="431988" cy="432048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itchFamily="2" charset="0"/>
              <a:cs typeface="Mongolian Baiti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51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/>
      <p:bldP spid="329" grpId="0" animBg="1"/>
      <p:bldP spid="327" grpId="0" animBg="1"/>
      <p:bldP spid="330" grpId="0" animBg="1"/>
      <p:bldP spid="7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7"/>
          <p:cNvSpPr txBox="1">
            <a:spLocks noGrp="1"/>
          </p:cNvSpPr>
          <p:nvPr>
            <p:ph type="title"/>
          </p:nvPr>
        </p:nvSpPr>
        <p:spPr>
          <a:xfrm>
            <a:off x="1110796" y="-20538"/>
            <a:ext cx="5109300" cy="12961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sz="3000" b="1" dirty="0" smtClean="0">
                <a:solidFill>
                  <a:schemeClr val="accent2"/>
                </a:solidFill>
                <a:latin typeface="Montserrat" pitchFamily="2" charset="0"/>
              </a:rPr>
              <a:t>Riepilogo pattern</a:t>
            </a:r>
            <a:endParaRPr sz="3000" b="1" dirty="0">
              <a:solidFill>
                <a:schemeClr val="accent2"/>
              </a:solidFill>
              <a:latin typeface="Montserrat" pitchFamily="2" charset="0"/>
            </a:endParaRPr>
          </a:p>
        </p:txBody>
      </p:sp>
      <p:grpSp>
        <p:nvGrpSpPr>
          <p:cNvPr id="3" name="Gruppo 2"/>
          <p:cNvGrpSpPr/>
          <p:nvPr/>
        </p:nvGrpSpPr>
        <p:grpSpPr>
          <a:xfrm>
            <a:off x="896796" y="1419622"/>
            <a:ext cx="7350408" cy="2678487"/>
            <a:chOff x="896796" y="1419622"/>
            <a:chExt cx="7350408" cy="2678487"/>
          </a:xfrm>
        </p:grpSpPr>
        <p:sp>
          <p:nvSpPr>
            <p:cNvPr id="11" name="Shape 3"/>
            <p:cNvSpPr/>
            <p:nvPr/>
          </p:nvSpPr>
          <p:spPr>
            <a:xfrm>
              <a:off x="896796" y="1419622"/>
              <a:ext cx="2376076" cy="802312"/>
            </a:xfrm>
            <a:prstGeom prst="roundRect">
              <a:avLst>
                <a:gd name="adj" fmla="val 6923"/>
              </a:avLst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50800" dist="38100" dir="13500000" algn="br" rotWithShape="0">
                <a:schemeClr val="accent1">
                  <a:alpha val="40000"/>
                </a:schemeClr>
              </a:outerShdw>
            </a:effectLst>
          </p:spPr>
        </p:sp>
        <p:sp>
          <p:nvSpPr>
            <p:cNvPr id="13" name="Text 5"/>
            <p:cNvSpPr/>
            <p:nvPr/>
          </p:nvSpPr>
          <p:spPr>
            <a:xfrm>
              <a:off x="1032572" y="1604771"/>
              <a:ext cx="432014" cy="4320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◆</a:t>
              </a:r>
              <a:endParaRPr lang="en-US" sz="1600" dirty="0">
                <a:latin typeface="Montserrat" pitchFamily="2" charset="0"/>
              </a:endParaRPr>
            </a:p>
          </p:txBody>
        </p:sp>
        <p:sp>
          <p:nvSpPr>
            <p:cNvPr id="14" name="Text 6"/>
            <p:cNvSpPr/>
            <p:nvPr/>
          </p:nvSpPr>
          <p:spPr>
            <a:xfrm>
              <a:off x="1575675" y="1555398"/>
              <a:ext cx="1635481" cy="2777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50" b="1" dirty="0">
                  <a:solidFill>
                    <a:srgbClr val="13233B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Facade</a:t>
              </a:r>
              <a:endParaRPr lang="en-US" sz="1550" dirty="0">
                <a:latin typeface="Montserrat" pitchFamily="2" charset="0"/>
              </a:endParaRPr>
            </a:p>
          </p:txBody>
        </p:sp>
        <p:sp>
          <p:nvSpPr>
            <p:cNvPr id="15" name="Text 7"/>
            <p:cNvSpPr/>
            <p:nvPr/>
          </p:nvSpPr>
          <p:spPr>
            <a:xfrm>
              <a:off x="1575675" y="1826950"/>
              <a:ext cx="1635481" cy="246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5B6B7C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DeviceBridgeFacade</a:t>
              </a:r>
              <a:endParaRPr lang="en-US" sz="1150" dirty="0">
                <a:latin typeface="Montserrat" pitchFamily="2" charset="0"/>
              </a:endParaRPr>
            </a:p>
          </p:txBody>
        </p:sp>
        <p:sp>
          <p:nvSpPr>
            <p:cNvPr id="16" name="Shape 8"/>
            <p:cNvSpPr/>
            <p:nvPr/>
          </p:nvSpPr>
          <p:spPr>
            <a:xfrm>
              <a:off x="3383962" y="1419622"/>
              <a:ext cx="2376076" cy="802312"/>
            </a:xfrm>
            <a:prstGeom prst="roundRect">
              <a:avLst>
                <a:gd name="adj" fmla="val 6923"/>
              </a:avLst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50800" dist="38100" dir="16200000" rotWithShape="0">
                <a:srgbClr val="7030A0">
                  <a:alpha val="40000"/>
                </a:srgbClr>
              </a:outerShdw>
            </a:effectLst>
          </p:spPr>
        </p:sp>
        <p:sp>
          <p:nvSpPr>
            <p:cNvPr id="18" name="Text 10"/>
            <p:cNvSpPr/>
            <p:nvPr/>
          </p:nvSpPr>
          <p:spPr>
            <a:xfrm>
              <a:off x="3519738" y="1604771"/>
              <a:ext cx="432014" cy="4320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◆</a:t>
              </a:r>
              <a:endParaRPr lang="en-US" sz="1600" dirty="0">
                <a:latin typeface="Montserrat" pitchFamily="2" charset="0"/>
              </a:endParaRPr>
            </a:p>
          </p:txBody>
        </p:sp>
        <p:sp>
          <p:nvSpPr>
            <p:cNvPr id="19" name="Text 11"/>
            <p:cNvSpPr/>
            <p:nvPr/>
          </p:nvSpPr>
          <p:spPr>
            <a:xfrm>
              <a:off x="4062841" y="1555398"/>
              <a:ext cx="1635481" cy="2777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50" b="1" dirty="0">
                  <a:solidFill>
                    <a:srgbClr val="13233B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Strategy</a:t>
              </a:r>
              <a:endParaRPr lang="en-US" sz="1550" dirty="0">
                <a:latin typeface="Montserrat" pitchFamily="2" charset="0"/>
              </a:endParaRPr>
            </a:p>
          </p:txBody>
        </p:sp>
        <p:sp>
          <p:nvSpPr>
            <p:cNvPr id="20" name="Text 12"/>
            <p:cNvSpPr/>
            <p:nvPr/>
          </p:nvSpPr>
          <p:spPr>
            <a:xfrm>
              <a:off x="4062841" y="1826950"/>
              <a:ext cx="1635481" cy="246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5B6B7C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dispositivi e parser</a:t>
              </a:r>
              <a:endParaRPr lang="en-US" sz="1150" dirty="0">
                <a:latin typeface="Montserrat" pitchFamily="2" charset="0"/>
              </a:endParaRPr>
            </a:p>
          </p:txBody>
        </p:sp>
        <p:sp>
          <p:nvSpPr>
            <p:cNvPr id="21" name="Shape 13"/>
            <p:cNvSpPr/>
            <p:nvPr/>
          </p:nvSpPr>
          <p:spPr>
            <a:xfrm>
              <a:off x="5871128" y="1419622"/>
              <a:ext cx="2376076" cy="802312"/>
            </a:xfrm>
            <a:prstGeom prst="roundRect">
              <a:avLst>
                <a:gd name="adj" fmla="val 6923"/>
              </a:avLst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50800" dist="38100" dir="18900000" algn="bl" rotWithShape="0">
                <a:schemeClr val="tx2">
                  <a:alpha val="40000"/>
                </a:schemeClr>
              </a:outerShdw>
            </a:effectLst>
          </p:spPr>
        </p:sp>
        <p:sp>
          <p:nvSpPr>
            <p:cNvPr id="23" name="Text 15"/>
            <p:cNvSpPr/>
            <p:nvPr/>
          </p:nvSpPr>
          <p:spPr>
            <a:xfrm>
              <a:off x="6006903" y="1604771"/>
              <a:ext cx="432014" cy="4320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◆</a:t>
              </a:r>
              <a:endParaRPr lang="en-US" sz="1600" dirty="0">
                <a:latin typeface="Montserrat" pitchFamily="2" charset="0"/>
              </a:endParaRPr>
            </a:p>
          </p:txBody>
        </p:sp>
        <p:sp>
          <p:nvSpPr>
            <p:cNvPr id="24" name="Text 16"/>
            <p:cNvSpPr/>
            <p:nvPr/>
          </p:nvSpPr>
          <p:spPr>
            <a:xfrm>
              <a:off x="6550007" y="1555398"/>
              <a:ext cx="1635481" cy="2777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50" b="1" dirty="0">
                  <a:solidFill>
                    <a:srgbClr val="13233B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Chain of Resp.</a:t>
              </a:r>
              <a:endParaRPr lang="en-US" sz="1550" dirty="0">
                <a:latin typeface="Montserrat" pitchFamily="2" charset="0"/>
              </a:endParaRPr>
            </a:p>
          </p:txBody>
        </p:sp>
        <p:sp>
          <p:nvSpPr>
            <p:cNvPr id="25" name="Text 17"/>
            <p:cNvSpPr/>
            <p:nvPr/>
          </p:nvSpPr>
          <p:spPr>
            <a:xfrm>
              <a:off x="6550007" y="1826950"/>
              <a:ext cx="1635481" cy="246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5B6B7C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catena di filtri</a:t>
              </a:r>
              <a:endParaRPr lang="en-US" sz="1150" dirty="0">
                <a:latin typeface="Montserrat" pitchFamily="2" charset="0"/>
              </a:endParaRPr>
            </a:p>
          </p:txBody>
        </p:sp>
        <p:sp>
          <p:nvSpPr>
            <p:cNvPr id="26" name="Shape 18"/>
            <p:cNvSpPr/>
            <p:nvPr/>
          </p:nvSpPr>
          <p:spPr>
            <a:xfrm>
              <a:off x="896796" y="2357710"/>
              <a:ext cx="2376076" cy="802312"/>
            </a:xfrm>
            <a:prstGeom prst="roundRect">
              <a:avLst>
                <a:gd name="adj" fmla="val 6923"/>
              </a:avLst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50800" dist="38100" dir="10800000" algn="r" rotWithShape="0">
                <a:srgbClr val="7030A0">
                  <a:alpha val="40000"/>
                </a:srgbClr>
              </a:outerShdw>
            </a:effectLst>
          </p:spPr>
        </p:sp>
        <p:sp>
          <p:nvSpPr>
            <p:cNvPr id="28" name="Text 20"/>
            <p:cNvSpPr/>
            <p:nvPr/>
          </p:nvSpPr>
          <p:spPr>
            <a:xfrm>
              <a:off x="1032572" y="2542858"/>
              <a:ext cx="432014" cy="4320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◆</a:t>
              </a:r>
              <a:endParaRPr lang="en-US" sz="1600" dirty="0">
                <a:latin typeface="Montserrat" pitchFamily="2" charset="0"/>
              </a:endParaRPr>
            </a:p>
          </p:txBody>
        </p:sp>
        <p:sp>
          <p:nvSpPr>
            <p:cNvPr id="29" name="Text 21"/>
            <p:cNvSpPr/>
            <p:nvPr/>
          </p:nvSpPr>
          <p:spPr>
            <a:xfrm>
              <a:off x="1575675" y="2493485"/>
              <a:ext cx="1635481" cy="2777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50" b="1" dirty="0">
                  <a:solidFill>
                    <a:srgbClr val="13233B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State</a:t>
              </a:r>
              <a:endParaRPr lang="en-US" sz="1550" dirty="0">
                <a:latin typeface="Montserrat" pitchFamily="2" charset="0"/>
              </a:endParaRPr>
            </a:p>
          </p:txBody>
        </p:sp>
        <p:sp>
          <p:nvSpPr>
            <p:cNvPr id="30" name="Text 22"/>
            <p:cNvSpPr/>
            <p:nvPr/>
          </p:nvSpPr>
          <p:spPr>
            <a:xfrm>
              <a:off x="1575675" y="2765037"/>
              <a:ext cx="1635481" cy="246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5B6B7C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l'interprete</a:t>
              </a:r>
              <a:endParaRPr lang="en-US" sz="1150" dirty="0">
                <a:latin typeface="Montserrat" pitchFamily="2" charset="0"/>
              </a:endParaRPr>
            </a:p>
          </p:txBody>
        </p:sp>
        <p:sp>
          <p:nvSpPr>
            <p:cNvPr id="31" name="Shape 23"/>
            <p:cNvSpPr/>
            <p:nvPr/>
          </p:nvSpPr>
          <p:spPr>
            <a:xfrm>
              <a:off x="3383962" y="2357710"/>
              <a:ext cx="2376076" cy="802312"/>
            </a:xfrm>
            <a:prstGeom prst="roundRect">
              <a:avLst>
                <a:gd name="adj" fmla="val 6923"/>
              </a:avLst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63500" sx="102000" sy="102000" algn="ctr" rotWithShape="0">
                <a:srgbClr val="7030A0">
                  <a:alpha val="40000"/>
                </a:srgbClr>
              </a:outerShdw>
            </a:effectLst>
          </p:spPr>
        </p:sp>
        <p:sp>
          <p:nvSpPr>
            <p:cNvPr id="33" name="Text 25"/>
            <p:cNvSpPr/>
            <p:nvPr/>
          </p:nvSpPr>
          <p:spPr>
            <a:xfrm>
              <a:off x="3519738" y="2542858"/>
              <a:ext cx="432014" cy="4320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◆</a:t>
              </a:r>
              <a:endParaRPr lang="en-US" sz="1600" dirty="0">
                <a:latin typeface="Montserrat" pitchFamily="2" charset="0"/>
              </a:endParaRPr>
            </a:p>
          </p:txBody>
        </p:sp>
        <p:sp>
          <p:nvSpPr>
            <p:cNvPr id="34" name="Text 26"/>
            <p:cNvSpPr/>
            <p:nvPr/>
          </p:nvSpPr>
          <p:spPr>
            <a:xfrm>
              <a:off x="4062841" y="2493485"/>
              <a:ext cx="1635481" cy="2777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50" b="1" dirty="0">
                  <a:solidFill>
                    <a:srgbClr val="13233B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Command</a:t>
              </a:r>
              <a:endParaRPr lang="en-US" sz="1550" dirty="0">
                <a:latin typeface="Montserrat" pitchFamily="2" charset="0"/>
              </a:endParaRPr>
            </a:p>
          </p:txBody>
        </p:sp>
        <p:sp>
          <p:nvSpPr>
            <p:cNvPr id="35" name="Text 27"/>
            <p:cNvSpPr/>
            <p:nvPr/>
          </p:nvSpPr>
          <p:spPr>
            <a:xfrm>
              <a:off x="4062841" y="2765037"/>
              <a:ext cx="1635481" cy="246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5B6B7C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le azioni</a:t>
              </a:r>
              <a:endParaRPr lang="en-US" sz="1150" dirty="0">
                <a:latin typeface="Montserrat" pitchFamily="2" charset="0"/>
              </a:endParaRPr>
            </a:p>
          </p:txBody>
        </p:sp>
        <p:sp>
          <p:nvSpPr>
            <p:cNvPr id="36" name="Shape 28"/>
            <p:cNvSpPr/>
            <p:nvPr/>
          </p:nvSpPr>
          <p:spPr>
            <a:xfrm>
              <a:off x="5871128" y="2357710"/>
              <a:ext cx="2376076" cy="802312"/>
            </a:xfrm>
            <a:prstGeom prst="roundRect">
              <a:avLst>
                <a:gd name="adj" fmla="val 6923"/>
              </a:avLst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50800" dist="38100" algn="l" rotWithShape="0">
                <a:schemeClr val="tx2">
                  <a:alpha val="40000"/>
                </a:schemeClr>
              </a:outerShdw>
            </a:effectLst>
          </p:spPr>
        </p:sp>
        <p:sp>
          <p:nvSpPr>
            <p:cNvPr id="38" name="Text 30"/>
            <p:cNvSpPr/>
            <p:nvPr/>
          </p:nvSpPr>
          <p:spPr>
            <a:xfrm>
              <a:off x="6006903" y="2542858"/>
              <a:ext cx="432014" cy="4320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◆</a:t>
              </a:r>
              <a:endParaRPr lang="en-US" sz="1600" dirty="0">
                <a:latin typeface="Montserrat" pitchFamily="2" charset="0"/>
              </a:endParaRPr>
            </a:p>
          </p:txBody>
        </p:sp>
        <p:sp>
          <p:nvSpPr>
            <p:cNvPr id="39" name="Text 31"/>
            <p:cNvSpPr/>
            <p:nvPr/>
          </p:nvSpPr>
          <p:spPr>
            <a:xfrm>
              <a:off x="6550007" y="2493485"/>
              <a:ext cx="1635481" cy="2777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50" b="1" dirty="0">
                  <a:solidFill>
                    <a:srgbClr val="13233B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Observer</a:t>
              </a:r>
              <a:endParaRPr lang="en-US" sz="1550" dirty="0">
                <a:latin typeface="Montserrat" pitchFamily="2" charset="0"/>
              </a:endParaRPr>
            </a:p>
          </p:txBody>
        </p:sp>
        <p:sp>
          <p:nvSpPr>
            <p:cNvPr id="40" name="Text 32"/>
            <p:cNvSpPr/>
            <p:nvPr/>
          </p:nvSpPr>
          <p:spPr>
            <a:xfrm>
              <a:off x="6550007" y="2765037"/>
              <a:ext cx="1635481" cy="246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5B6B7C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modello → vista</a:t>
              </a:r>
              <a:endParaRPr lang="en-US" sz="1150" dirty="0">
                <a:latin typeface="Montserrat" pitchFamily="2" charset="0"/>
              </a:endParaRPr>
            </a:p>
          </p:txBody>
        </p:sp>
        <p:sp>
          <p:nvSpPr>
            <p:cNvPr id="41" name="Shape 33"/>
            <p:cNvSpPr/>
            <p:nvPr/>
          </p:nvSpPr>
          <p:spPr>
            <a:xfrm>
              <a:off x="896796" y="3295797"/>
              <a:ext cx="2376076" cy="802312"/>
            </a:xfrm>
            <a:prstGeom prst="roundRect">
              <a:avLst>
                <a:gd name="adj" fmla="val 6923"/>
              </a:avLst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50800" dist="38100" dir="8100000" algn="tr" rotWithShape="0">
                <a:schemeClr val="tx2">
                  <a:alpha val="40000"/>
                </a:schemeClr>
              </a:outerShdw>
            </a:effectLst>
          </p:spPr>
        </p:sp>
        <p:sp>
          <p:nvSpPr>
            <p:cNvPr id="43" name="Text 35"/>
            <p:cNvSpPr/>
            <p:nvPr/>
          </p:nvSpPr>
          <p:spPr>
            <a:xfrm>
              <a:off x="1032572" y="3480946"/>
              <a:ext cx="432014" cy="4320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◆</a:t>
              </a:r>
              <a:endParaRPr lang="en-US" sz="1600" dirty="0">
                <a:latin typeface="Montserrat" pitchFamily="2" charset="0"/>
              </a:endParaRPr>
            </a:p>
          </p:txBody>
        </p:sp>
        <p:sp>
          <p:nvSpPr>
            <p:cNvPr id="44" name="Text 36"/>
            <p:cNvSpPr/>
            <p:nvPr/>
          </p:nvSpPr>
          <p:spPr>
            <a:xfrm>
              <a:off x="1575675" y="3431573"/>
              <a:ext cx="1635481" cy="2777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50" b="1" dirty="0">
                  <a:solidFill>
                    <a:srgbClr val="13233B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Singleton</a:t>
              </a:r>
              <a:endParaRPr lang="en-US" sz="1550" dirty="0">
                <a:latin typeface="Montserrat" pitchFamily="2" charset="0"/>
              </a:endParaRPr>
            </a:p>
          </p:txBody>
        </p:sp>
        <p:sp>
          <p:nvSpPr>
            <p:cNvPr id="45" name="Text 37"/>
            <p:cNvSpPr/>
            <p:nvPr/>
          </p:nvSpPr>
          <p:spPr>
            <a:xfrm>
              <a:off x="1575675" y="3703125"/>
              <a:ext cx="1635481" cy="246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 err="1" smtClean="0">
                  <a:solidFill>
                    <a:srgbClr val="5B6B7C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IniettoreAzione</a:t>
              </a:r>
              <a:endParaRPr lang="en-US" sz="1150" dirty="0">
                <a:latin typeface="Montserrat" pitchFamily="2" charset="0"/>
              </a:endParaRPr>
            </a:p>
          </p:txBody>
        </p:sp>
        <p:sp>
          <p:nvSpPr>
            <p:cNvPr id="46" name="Shape 38"/>
            <p:cNvSpPr/>
            <p:nvPr/>
          </p:nvSpPr>
          <p:spPr>
            <a:xfrm>
              <a:off x="3383962" y="3295797"/>
              <a:ext cx="2376076" cy="802312"/>
            </a:xfrm>
            <a:prstGeom prst="roundRect">
              <a:avLst>
                <a:gd name="adj" fmla="val 6923"/>
              </a:avLst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50800" dist="38100" dir="5400000" algn="t" rotWithShape="0">
                <a:schemeClr val="tx2">
                  <a:alpha val="40000"/>
                </a:schemeClr>
              </a:outerShdw>
            </a:effectLst>
          </p:spPr>
        </p:sp>
        <p:sp>
          <p:nvSpPr>
            <p:cNvPr id="48" name="Text 40"/>
            <p:cNvSpPr/>
            <p:nvPr/>
          </p:nvSpPr>
          <p:spPr>
            <a:xfrm>
              <a:off x="3519738" y="3480946"/>
              <a:ext cx="432014" cy="4320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◆</a:t>
              </a:r>
              <a:endParaRPr lang="en-US" sz="1600" dirty="0">
                <a:latin typeface="Montserrat" pitchFamily="2" charset="0"/>
              </a:endParaRPr>
            </a:p>
          </p:txBody>
        </p:sp>
        <p:sp>
          <p:nvSpPr>
            <p:cNvPr id="49" name="Text 41"/>
            <p:cNvSpPr/>
            <p:nvPr/>
          </p:nvSpPr>
          <p:spPr>
            <a:xfrm>
              <a:off x="4062841" y="3431573"/>
              <a:ext cx="1635481" cy="2777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50" b="1" dirty="0">
                  <a:solidFill>
                    <a:srgbClr val="13233B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Null Object</a:t>
              </a:r>
              <a:endParaRPr lang="en-US" sz="1550" dirty="0">
                <a:latin typeface="Montserrat" pitchFamily="2" charset="0"/>
              </a:endParaRPr>
            </a:p>
          </p:txBody>
        </p:sp>
        <p:sp>
          <p:nvSpPr>
            <p:cNvPr id="50" name="Text 42"/>
            <p:cNvSpPr/>
            <p:nvPr/>
          </p:nvSpPr>
          <p:spPr>
            <a:xfrm>
              <a:off x="4062841" y="3703125"/>
              <a:ext cx="1635481" cy="246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5B6B7C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NullObjectCommand</a:t>
              </a:r>
              <a:endParaRPr lang="en-US" sz="1150" dirty="0">
                <a:latin typeface="Montserrat" pitchFamily="2" charset="0"/>
              </a:endParaRPr>
            </a:p>
          </p:txBody>
        </p:sp>
        <p:sp>
          <p:nvSpPr>
            <p:cNvPr id="51" name="Shape 43"/>
            <p:cNvSpPr/>
            <p:nvPr/>
          </p:nvSpPr>
          <p:spPr>
            <a:xfrm>
              <a:off x="5871128" y="3295797"/>
              <a:ext cx="2376076" cy="802312"/>
            </a:xfrm>
            <a:prstGeom prst="roundRect">
              <a:avLst>
                <a:gd name="adj" fmla="val 6923"/>
              </a:avLst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schemeClr val="tx2">
                  <a:alpha val="40000"/>
                </a:schemeClr>
              </a:outerShdw>
            </a:effectLst>
          </p:spPr>
        </p:sp>
        <p:grpSp>
          <p:nvGrpSpPr>
            <p:cNvPr id="6" name="Gruppo 5"/>
            <p:cNvGrpSpPr/>
            <p:nvPr/>
          </p:nvGrpSpPr>
          <p:grpSpPr>
            <a:xfrm>
              <a:off x="1032572" y="1604771"/>
              <a:ext cx="5406345" cy="2308189"/>
              <a:chOff x="1032572" y="1604771"/>
              <a:chExt cx="5406345" cy="2308189"/>
            </a:xfrm>
            <a:gradFill flip="none" rotWithShape="1">
              <a:gsLst>
                <a:gs pos="0">
                  <a:schemeClr val="accent1"/>
                </a:gs>
                <a:gs pos="25000">
                  <a:schemeClr val="accent1"/>
                </a:gs>
                <a:gs pos="100000">
                  <a:schemeClr val="tx2"/>
                </a:gs>
              </a:gsLst>
              <a:path path="circle">
                <a:fillToRect r="100000" b="100000"/>
              </a:path>
              <a:tileRect l="-100000" t="-100000"/>
            </a:gradFill>
          </p:grpSpPr>
          <p:sp>
            <p:nvSpPr>
              <p:cNvPr id="12" name="Shape 4"/>
              <p:cNvSpPr/>
              <p:nvPr/>
            </p:nvSpPr>
            <p:spPr>
              <a:xfrm>
                <a:off x="1032572" y="1604771"/>
                <a:ext cx="432014" cy="432014"/>
              </a:xfrm>
              <a:prstGeom prst="ellipse">
                <a:avLst/>
              </a:prstGeom>
              <a:grpFill/>
              <a:ln/>
            </p:spPr>
          </p:sp>
          <p:sp>
            <p:nvSpPr>
              <p:cNvPr id="17" name="Shape 9"/>
              <p:cNvSpPr/>
              <p:nvPr/>
            </p:nvSpPr>
            <p:spPr>
              <a:xfrm>
                <a:off x="3519738" y="1604771"/>
                <a:ext cx="432014" cy="432014"/>
              </a:xfrm>
              <a:prstGeom prst="ellipse">
                <a:avLst/>
              </a:prstGeom>
              <a:grpFill/>
              <a:ln/>
            </p:spPr>
          </p:sp>
          <p:sp>
            <p:nvSpPr>
              <p:cNvPr id="22" name="Shape 14"/>
              <p:cNvSpPr/>
              <p:nvPr/>
            </p:nvSpPr>
            <p:spPr>
              <a:xfrm>
                <a:off x="6006903" y="1604771"/>
                <a:ext cx="432014" cy="432014"/>
              </a:xfrm>
              <a:prstGeom prst="ellipse">
                <a:avLst/>
              </a:prstGeom>
              <a:grpFill/>
              <a:ln/>
            </p:spPr>
          </p:sp>
          <p:sp>
            <p:nvSpPr>
              <p:cNvPr id="27" name="Shape 19"/>
              <p:cNvSpPr/>
              <p:nvPr/>
            </p:nvSpPr>
            <p:spPr>
              <a:xfrm>
                <a:off x="1032572" y="2542858"/>
                <a:ext cx="432014" cy="432014"/>
              </a:xfrm>
              <a:prstGeom prst="ellipse">
                <a:avLst/>
              </a:prstGeom>
              <a:grpFill/>
              <a:ln/>
            </p:spPr>
          </p:sp>
          <p:sp>
            <p:nvSpPr>
              <p:cNvPr id="32" name="Shape 24"/>
              <p:cNvSpPr/>
              <p:nvPr/>
            </p:nvSpPr>
            <p:spPr>
              <a:xfrm>
                <a:off x="3519738" y="2542858"/>
                <a:ext cx="432014" cy="432014"/>
              </a:xfrm>
              <a:prstGeom prst="ellipse">
                <a:avLst/>
              </a:prstGeom>
              <a:grpFill/>
              <a:ln/>
            </p:spPr>
          </p:sp>
          <p:sp>
            <p:nvSpPr>
              <p:cNvPr id="37" name="Shape 29"/>
              <p:cNvSpPr/>
              <p:nvPr/>
            </p:nvSpPr>
            <p:spPr>
              <a:xfrm>
                <a:off x="6006903" y="2542858"/>
                <a:ext cx="432014" cy="432014"/>
              </a:xfrm>
              <a:prstGeom prst="ellipse">
                <a:avLst/>
              </a:prstGeom>
              <a:grpFill/>
              <a:ln/>
            </p:spPr>
          </p:sp>
          <p:sp>
            <p:nvSpPr>
              <p:cNvPr id="42" name="Shape 34"/>
              <p:cNvSpPr/>
              <p:nvPr/>
            </p:nvSpPr>
            <p:spPr>
              <a:xfrm>
                <a:off x="1032572" y="3480946"/>
                <a:ext cx="432014" cy="432014"/>
              </a:xfrm>
              <a:prstGeom prst="ellipse">
                <a:avLst/>
              </a:prstGeom>
              <a:grpFill/>
              <a:ln/>
            </p:spPr>
          </p:sp>
          <p:sp>
            <p:nvSpPr>
              <p:cNvPr id="47" name="Shape 39"/>
              <p:cNvSpPr/>
              <p:nvPr/>
            </p:nvSpPr>
            <p:spPr>
              <a:xfrm>
                <a:off x="3519738" y="3480946"/>
                <a:ext cx="432014" cy="432014"/>
              </a:xfrm>
              <a:prstGeom prst="ellipse">
                <a:avLst/>
              </a:prstGeom>
              <a:grpFill/>
              <a:ln/>
            </p:spPr>
          </p:sp>
          <p:sp>
            <p:nvSpPr>
              <p:cNvPr id="52" name="Shape 44"/>
              <p:cNvSpPr/>
              <p:nvPr/>
            </p:nvSpPr>
            <p:spPr>
              <a:xfrm>
                <a:off x="6006903" y="3480946"/>
                <a:ext cx="432014" cy="432014"/>
              </a:xfrm>
              <a:prstGeom prst="ellipse">
                <a:avLst/>
              </a:prstGeom>
              <a:grpFill/>
              <a:ln/>
            </p:spPr>
          </p:sp>
        </p:grpSp>
        <p:sp>
          <p:nvSpPr>
            <p:cNvPr id="53" name="Text 45"/>
            <p:cNvSpPr/>
            <p:nvPr/>
          </p:nvSpPr>
          <p:spPr>
            <a:xfrm>
              <a:off x="6006903" y="3480946"/>
              <a:ext cx="432014" cy="4320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◆</a:t>
              </a:r>
              <a:endParaRPr lang="en-US" sz="1600" dirty="0">
                <a:latin typeface="Montserrat" pitchFamily="2" charset="0"/>
              </a:endParaRPr>
            </a:p>
          </p:txBody>
        </p:sp>
        <p:sp>
          <p:nvSpPr>
            <p:cNvPr id="54" name="Text 46"/>
            <p:cNvSpPr/>
            <p:nvPr/>
          </p:nvSpPr>
          <p:spPr>
            <a:xfrm>
              <a:off x="6550007" y="3431573"/>
              <a:ext cx="1635481" cy="2777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50" b="1" dirty="0">
                  <a:solidFill>
                    <a:srgbClr val="13233B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DAO</a:t>
              </a:r>
              <a:endParaRPr lang="en-US" sz="1550" dirty="0">
                <a:latin typeface="Montserrat" pitchFamily="2" charset="0"/>
              </a:endParaRPr>
            </a:p>
          </p:txBody>
        </p:sp>
        <p:sp>
          <p:nvSpPr>
            <p:cNvPr id="55" name="Text 47"/>
            <p:cNvSpPr/>
            <p:nvPr/>
          </p:nvSpPr>
          <p:spPr>
            <a:xfrm>
              <a:off x="6550007" y="3703125"/>
              <a:ext cx="1635481" cy="246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5B6B7C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persistenza</a:t>
              </a:r>
              <a:endParaRPr lang="en-US" sz="1150" dirty="0">
                <a:latin typeface="Montserrat" pitchFamily="2" charset="0"/>
              </a:endParaRPr>
            </a:p>
          </p:txBody>
        </p:sp>
        <p:sp>
          <p:nvSpPr>
            <p:cNvPr id="61" name="Text 45"/>
            <p:cNvSpPr/>
            <p:nvPr/>
          </p:nvSpPr>
          <p:spPr>
            <a:xfrm>
              <a:off x="1032572" y="1604771"/>
              <a:ext cx="432014" cy="4320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◆</a:t>
              </a:r>
              <a:endParaRPr lang="en-US" sz="1600" dirty="0">
                <a:latin typeface="Montserrat" pitchFamily="2" charset="0"/>
              </a:endParaRPr>
            </a:p>
          </p:txBody>
        </p:sp>
        <p:sp>
          <p:nvSpPr>
            <p:cNvPr id="62" name="Text 45"/>
            <p:cNvSpPr/>
            <p:nvPr/>
          </p:nvSpPr>
          <p:spPr>
            <a:xfrm>
              <a:off x="1032572" y="2542858"/>
              <a:ext cx="432014" cy="4320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◆</a:t>
              </a:r>
              <a:endParaRPr lang="en-US" sz="1600" dirty="0">
                <a:latin typeface="Montserrat" pitchFamily="2" charset="0"/>
              </a:endParaRPr>
            </a:p>
          </p:txBody>
        </p:sp>
        <p:sp>
          <p:nvSpPr>
            <p:cNvPr id="64" name="Text 45"/>
            <p:cNvSpPr/>
            <p:nvPr/>
          </p:nvSpPr>
          <p:spPr>
            <a:xfrm>
              <a:off x="1032572" y="3480946"/>
              <a:ext cx="432014" cy="4320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◆</a:t>
              </a:r>
              <a:endParaRPr lang="en-US" sz="1600" dirty="0">
                <a:latin typeface="Montserrat" pitchFamily="2" charset="0"/>
              </a:endParaRPr>
            </a:p>
          </p:txBody>
        </p:sp>
        <p:sp>
          <p:nvSpPr>
            <p:cNvPr id="65" name="Text 45"/>
            <p:cNvSpPr/>
            <p:nvPr/>
          </p:nvSpPr>
          <p:spPr>
            <a:xfrm>
              <a:off x="3519738" y="1604771"/>
              <a:ext cx="432014" cy="4320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◆</a:t>
              </a:r>
              <a:endParaRPr lang="en-US" sz="1600" dirty="0">
                <a:latin typeface="Montserrat" pitchFamily="2" charset="0"/>
              </a:endParaRPr>
            </a:p>
          </p:txBody>
        </p:sp>
        <p:sp>
          <p:nvSpPr>
            <p:cNvPr id="66" name="Text 45"/>
            <p:cNvSpPr/>
            <p:nvPr/>
          </p:nvSpPr>
          <p:spPr>
            <a:xfrm>
              <a:off x="3519738" y="2542858"/>
              <a:ext cx="432014" cy="4320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◆</a:t>
              </a:r>
              <a:endParaRPr lang="en-US" sz="1600" dirty="0">
                <a:latin typeface="Montserrat" pitchFamily="2" charset="0"/>
              </a:endParaRPr>
            </a:p>
          </p:txBody>
        </p:sp>
        <p:sp>
          <p:nvSpPr>
            <p:cNvPr id="67" name="Text 45"/>
            <p:cNvSpPr/>
            <p:nvPr/>
          </p:nvSpPr>
          <p:spPr>
            <a:xfrm>
              <a:off x="3519738" y="3480143"/>
              <a:ext cx="432014" cy="4320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◆</a:t>
              </a:r>
              <a:endParaRPr lang="en-US" sz="1600" dirty="0">
                <a:latin typeface="Montserrat" pitchFamily="2" charset="0"/>
              </a:endParaRPr>
            </a:p>
          </p:txBody>
        </p:sp>
        <p:sp>
          <p:nvSpPr>
            <p:cNvPr id="68" name="Text 45"/>
            <p:cNvSpPr/>
            <p:nvPr/>
          </p:nvSpPr>
          <p:spPr>
            <a:xfrm>
              <a:off x="6006903" y="1604771"/>
              <a:ext cx="432014" cy="4320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◆</a:t>
              </a:r>
              <a:endParaRPr lang="en-US" sz="1600" dirty="0">
                <a:latin typeface="Montserrat" pitchFamily="2" charset="0"/>
              </a:endParaRPr>
            </a:p>
          </p:txBody>
        </p:sp>
        <p:sp>
          <p:nvSpPr>
            <p:cNvPr id="69" name="Text 45"/>
            <p:cNvSpPr/>
            <p:nvPr/>
          </p:nvSpPr>
          <p:spPr>
            <a:xfrm>
              <a:off x="6006903" y="2542858"/>
              <a:ext cx="432014" cy="4320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◆</a:t>
              </a:r>
              <a:endParaRPr lang="en-US" sz="1600" dirty="0">
                <a:latin typeface="Montserrat" pitchFamily="2" charset="0"/>
              </a:endParaRPr>
            </a:p>
          </p:txBody>
        </p:sp>
      </p:grpSp>
      <p:sp>
        <p:nvSpPr>
          <p:cNvPr id="494" name="Google Shape;494;p47"/>
          <p:cNvSpPr/>
          <p:nvPr/>
        </p:nvSpPr>
        <p:spPr>
          <a:xfrm>
            <a:off x="-1268700" y="-63567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itchFamily="2" charset="0"/>
            </a:endParaRPr>
          </a:p>
        </p:txBody>
      </p:sp>
      <p:sp>
        <p:nvSpPr>
          <p:cNvPr id="495" name="Google Shape;495;p47"/>
          <p:cNvSpPr/>
          <p:nvPr/>
        </p:nvSpPr>
        <p:spPr>
          <a:xfrm>
            <a:off x="703500" y="-92546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itchFamily="2" charset="0"/>
            </a:endParaRPr>
          </a:p>
        </p:txBody>
      </p:sp>
      <p:sp>
        <p:nvSpPr>
          <p:cNvPr id="496" name="Google Shape;496;p47"/>
          <p:cNvSpPr/>
          <p:nvPr/>
        </p:nvSpPr>
        <p:spPr>
          <a:xfrm>
            <a:off x="8748464" y="473199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786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" grpId="0"/>
      <p:bldP spid="494" grpId="0" animBg="1"/>
      <p:bldP spid="495" grpId="0" animBg="1"/>
      <p:bldP spid="49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9"/>
          <p:cNvSpPr txBox="1">
            <a:spLocks noGrp="1"/>
          </p:cNvSpPr>
          <p:nvPr>
            <p:ph type="title"/>
          </p:nvPr>
        </p:nvSpPr>
        <p:spPr>
          <a:xfrm>
            <a:off x="611560" y="923300"/>
            <a:ext cx="5079748" cy="42431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1" dirty="0" smtClean="0">
                <a:solidFill>
                  <a:schemeClr val="bg2"/>
                </a:solidFill>
                <a:latin typeface="Montserrat" pitchFamily="2" charset="0"/>
              </a:rPr>
              <a:t>Pattern strutturali</a:t>
            </a:r>
            <a:endParaRPr sz="1400" b="1" dirty="0">
              <a:solidFill>
                <a:schemeClr val="bg2"/>
              </a:solidFill>
              <a:latin typeface="Montserrat" pitchFamily="2" charset="0"/>
            </a:endParaRPr>
          </a:p>
        </p:txBody>
      </p:sp>
      <p:grpSp>
        <p:nvGrpSpPr>
          <p:cNvPr id="12" name="Gruppo 11"/>
          <p:cNvGrpSpPr/>
          <p:nvPr/>
        </p:nvGrpSpPr>
        <p:grpSpPr>
          <a:xfrm>
            <a:off x="4605765" y="1537512"/>
            <a:ext cx="3792537" cy="3046996"/>
            <a:chOff x="6172200" y="1783080"/>
            <a:chExt cx="5349240" cy="4297680"/>
          </a:xfrm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grpSpPr>
        <p:sp>
          <p:nvSpPr>
            <p:cNvPr id="13" name="Shape 20"/>
            <p:cNvSpPr/>
            <p:nvPr/>
          </p:nvSpPr>
          <p:spPr>
            <a:xfrm>
              <a:off x="6172200" y="1783080"/>
              <a:ext cx="5349240" cy="4297680"/>
            </a:xfrm>
            <a:prstGeom prst="roundRect">
              <a:avLst>
                <a:gd name="adj" fmla="val 5216"/>
              </a:avLst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76200" dist="25400" dir="5400000" algn="bl" rotWithShape="0">
                <a:srgbClr val="9FB0C0">
                  <a:alpha val="28000"/>
                </a:srgbClr>
              </a:outerShdw>
            </a:effectLst>
          </p:spPr>
        </p:sp>
        <p:sp>
          <p:nvSpPr>
            <p:cNvPr id="16" name="Shape 23"/>
            <p:cNvSpPr/>
            <p:nvPr/>
          </p:nvSpPr>
          <p:spPr>
            <a:xfrm>
              <a:off x="6400800" y="1947672"/>
              <a:ext cx="502920" cy="502920"/>
            </a:xfrm>
            <a:prstGeom prst="ellipse">
              <a:avLst/>
            </a:prstGeom>
            <a:solidFill>
              <a:srgbClr val="43309F"/>
            </a:solidFill>
            <a:ln>
              <a:noFill/>
            </a:ln>
          </p:spPr>
        </p:sp>
        <p:sp>
          <p:nvSpPr>
            <p:cNvPr id="17" name="Text 24"/>
            <p:cNvSpPr/>
            <p:nvPr/>
          </p:nvSpPr>
          <p:spPr>
            <a:xfrm>
              <a:off x="6400800" y="1947672"/>
              <a:ext cx="502920" cy="5029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▤</a:t>
              </a:r>
              <a:endParaRPr lang="en-US" sz="1800" dirty="0">
                <a:latin typeface="Montserrat" pitchFamily="2" charset="0"/>
              </a:endParaRPr>
            </a:p>
          </p:txBody>
        </p:sp>
        <p:sp>
          <p:nvSpPr>
            <p:cNvPr id="18" name="Text 25"/>
            <p:cNvSpPr/>
            <p:nvPr/>
          </p:nvSpPr>
          <p:spPr>
            <a:xfrm>
              <a:off x="7040880" y="1874520"/>
              <a:ext cx="438912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chemeClr val="tx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DAO — Data Access Object</a:t>
              </a:r>
              <a:endParaRPr lang="en-US" sz="1600" dirty="0">
                <a:solidFill>
                  <a:schemeClr val="tx2"/>
                </a:solidFill>
                <a:latin typeface="Montserrat" pitchFamily="2" charset="0"/>
              </a:endParaRPr>
            </a:p>
          </p:txBody>
        </p:sp>
        <p:sp>
          <p:nvSpPr>
            <p:cNvPr id="19" name="Text 26"/>
            <p:cNvSpPr/>
            <p:nvPr/>
          </p:nvSpPr>
          <p:spPr>
            <a:xfrm>
              <a:off x="6400800" y="2581506"/>
              <a:ext cx="4937759" cy="45720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Interfacce che isolano l'app dai dettagli </a:t>
              </a:r>
              <a:r>
                <a:rPr lang="en-US" sz="1250" dirty="0" err="1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dei</a:t>
              </a:r>
              <a:r>
                <a:rPr lang="en-US" sz="1250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50" dirty="0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file, in </a:t>
              </a:r>
              <a:r>
                <a:rPr lang="en-US" sz="1250" dirty="0" err="1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particolare</a:t>
              </a:r>
              <a:r>
                <a:rPr lang="en-US" sz="1250" dirty="0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:</a:t>
              </a:r>
              <a:endParaRPr lang="en-US" sz="1250" dirty="0">
                <a:solidFill>
                  <a:schemeClr val="bg2"/>
                </a:solidFill>
                <a:latin typeface="Montserrat" pitchFamily="2" charset="0"/>
              </a:endParaRPr>
            </a:p>
          </p:txBody>
        </p:sp>
        <p:sp>
          <p:nvSpPr>
            <p:cNvPr id="20" name="Shape 27"/>
            <p:cNvSpPr/>
            <p:nvPr/>
          </p:nvSpPr>
          <p:spPr>
            <a:xfrm>
              <a:off x="6400800" y="3140271"/>
              <a:ext cx="4937759" cy="1011364"/>
            </a:xfrm>
            <a:prstGeom prst="roundRect">
              <a:avLst>
                <a:gd name="adj" fmla="val 6957"/>
              </a:avLst>
            </a:prstGeom>
            <a:solidFill>
              <a:schemeClr val="tx1"/>
            </a:solidFill>
            <a:ln w="12700">
              <a:noFill/>
              <a:prstDash val="solid"/>
            </a:ln>
            <a:effectLst>
              <a:outerShdw blurRad="50800" dist="38100" dir="8100000" algn="tr" rotWithShape="0">
                <a:schemeClr val="tx2">
                  <a:alpha val="40000"/>
                </a:schemeClr>
              </a:outerShdw>
            </a:effectLst>
          </p:spPr>
        </p:sp>
        <p:sp>
          <p:nvSpPr>
            <p:cNvPr id="21" name="Text 28"/>
            <p:cNvSpPr/>
            <p:nvPr/>
          </p:nvSpPr>
          <p:spPr>
            <a:xfrm>
              <a:off x="6583681" y="3237553"/>
              <a:ext cx="457200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chemeClr val="tx2"/>
                  </a:solidFill>
                  <a:latin typeface="Montserrat" pitchFamily="2" charset="0"/>
                  <a:ea typeface="Courier New" pitchFamily="34" charset="-122"/>
                  <a:cs typeface="Courier New" pitchFamily="34" charset="-120"/>
                </a:rPr>
                <a:t>IDAOFileLog  «interface»</a:t>
              </a:r>
              <a:endParaRPr lang="en-US" sz="1200" dirty="0">
                <a:solidFill>
                  <a:schemeClr val="tx2"/>
                </a:solidFill>
                <a:latin typeface="Montserrat" pitchFamily="2" charset="0"/>
              </a:endParaRPr>
            </a:p>
          </p:txBody>
        </p:sp>
        <p:sp>
          <p:nvSpPr>
            <p:cNvPr id="22" name="Text 29"/>
            <p:cNvSpPr/>
            <p:nvPr/>
          </p:nvSpPr>
          <p:spPr>
            <a:xfrm>
              <a:off x="6583681" y="3542247"/>
              <a:ext cx="4572001" cy="5029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200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legge l'ultima riga dei log dei dispositivi (RandomAccessFile)</a:t>
              </a:r>
              <a:endParaRPr lang="en-US" sz="1200" dirty="0">
                <a:solidFill>
                  <a:schemeClr val="bg2"/>
                </a:solidFill>
                <a:latin typeface="Montserrat" pitchFamily="2" charset="0"/>
              </a:endParaRPr>
            </a:p>
          </p:txBody>
        </p:sp>
        <p:sp>
          <p:nvSpPr>
            <p:cNvPr id="23" name="Shape 30"/>
            <p:cNvSpPr/>
            <p:nvPr/>
          </p:nvSpPr>
          <p:spPr>
            <a:xfrm>
              <a:off x="6400800" y="4354765"/>
              <a:ext cx="4937759" cy="792571"/>
            </a:xfrm>
            <a:prstGeom prst="roundRect">
              <a:avLst>
                <a:gd name="adj" fmla="val 6957"/>
              </a:avLst>
            </a:prstGeom>
            <a:solidFill>
              <a:schemeClr val="tx1"/>
            </a:solidFill>
            <a:ln w="12700">
              <a:noFill/>
              <a:prstDash val="solid"/>
            </a:ln>
            <a:effectLst>
              <a:outerShdw blurRad="50800" dist="38100" dir="10800000" algn="r" rotWithShape="0">
                <a:schemeClr val="tx2">
                  <a:alpha val="40000"/>
                </a:schemeClr>
              </a:outerShdw>
            </a:effectLst>
          </p:spPr>
        </p:sp>
        <p:sp>
          <p:nvSpPr>
            <p:cNvPr id="24" name="Text 31"/>
            <p:cNvSpPr/>
            <p:nvPr/>
          </p:nvSpPr>
          <p:spPr>
            <a:xfrm>
              <a:off x="6583681" y="4436383"/>
              <a:ext cx="457200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chemeClr val="tx2"/>
                  </a:solidFill>
                  <a:latin typeface="Montserrat" pitchFamily="2" charset="0"/>
                  <a:ea typeface="Courier New" pitchFamily="34" charset="-122"/>
                  <a:cs typeface="Courier New" pitchFamily="34" charset="-120"/>
                </a:rPr>
                <a:t>IDAOArchivioProfiliUtente  «interface»</a:t>
              </a:r>
              <a:endParaRPr lang="en-US" sz="1200" dirty="0">
                <a:solidFill>
                  <a:schemeClr val="tx2"/>
                </a:solidFill>
                <a:latin typeface="Montserrat" pitchFamily="2" charset="0"/>
              </a:endParaRPr>
            </a:p>
          </p:txBody>
        </p:sp>
        <p:sp>
          <p:nvSpPr>
            <p:cNvPr id="25" name="Text 32"/>
            <p:cNvSpPr/>
            <p:nvPr/>
          </p:nvSpPr>
          <p:spPr>
            <a:xfrm>
              <a:off x="6583681" y="4710401"/>
              <a:ext cx="4572001" cy="335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200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carica e salva i profili in </a:t>
              </a:r>
              <a:r>
                <a:rPr lang="en-US" sz="1200" dirty="0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JSON</a:t>
              </a:r>
              <a:endParaRPr lang="en-US" sz="1200" dirty="0">
                <a:solidFill>
                  <a:schemeClr val="bg2"/>
                </a:solidFill>
                <a:latin typeface="Montserrat" pitchFamily="2" charset="0"/>
              </a:endParaRPr>
            </a:p>
          </p:txBody>
        </p:sp>
        <p:sp>
          <p:nvSpPr>
            <p:cNvPr id="26" name="Shape 33"/>
            <p:cNvSpPr/>
            <p:nvPr/>
          </p:nvSpPr>
          <p:spPr>
            <a:xfrm>
              <a:off x="6400800" y="5370412"/>
              <a:ext cx="4937759" cy="571036"/>
            </a:xfrm>
            <a:prstGeom prst="roundRect">
              <a:avLst>
                <a:gd name="adj" fmla="val 19048"/>
              </a:avLst>
            </a:prstGeom>
            <a:solidFill>
              <a:schemeClr val="tx1"/>
            </a:solidFill>
            <a:ln>
              <a:noFill/>
            </a:ln>
            <a:effectLst>
              <a:outerShdw blurRad="50800" dist="38100" dir="18900000" algn="bl" rotWithShape="0">
                <a:schemeClr val="tx2">
                  <a:alpha val="40000"/>
                </a:schemeClr>
              </a:outerShdw>
            </a:effectLst>
          </p:spPr>
        </p:sp>
        <p:sp>
          <p:nvSpPr>
            <p:cNvPr id="27" name="Text 34"/>
            <p:cNvSpPr/>
            <p:nvPr/>
          </p:nvSpPr>
          <p:spPr>
            <a:xfrm>
              <a:off x="6537960" y="5463903"/>
              <a:ext cx="4754880" cy="3840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i="1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I mock permettono di far girare l'app senza dispositivi fisici.</a:t>
              </a:r>
              <a:endParaRPr lang="en-US" sz="1150" dirty="0">
                <a:solidFill>
                  <a:schemeClr val="bg2"/>
                </a:solidFill>
                <a:latin typeface="Montserrat" pitchFamily="2" charset="0"/>
              </a:endParaRPr>
            </a:p>
          </p:txBody>
        </p:sp>
      </p:grpSp>
      <p:sp>
        <p:nvSpPr>
          <p:cNvPr id="46" name="Google Shape;491;p47"/>
          <p:cNvSpPr txBox="1">
            <a:spLocks/>
          </p:cNvSpPr>
          <p:nvPr/>
        </p:nvSpPr>
        <p:spPr>
          <a:xfrm>
            <a:off x="611560" y="422960"/>
            <a:ext cx="5112568" cy="52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4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r>
              <a:rPr lang="it-IT" sz="3000" b="1" dirty="0" smtClean="0">
                <a:latin typeface="Montserrat" pitchFamily="2" charset="0"/>
              </a:rPr>
              <a:t>Riepilogo pattern</a:t>
            </a:r>
            <a:endParaRPr lang="it-IT" sz="3000" b="1" dirty="0">
              <a:latin typeface="Montserrat" pitchFamily="2" charset="0"/>
            </a:endParaRPr>
          </a:p>
        </p:txBody>
      </p:sp>
      <p:grpSp>
        <p:nvGrpSpPr>
          <p:cNvPr id="2" name="Gruppo 1"/>
          <p:cNvGrpSpPr/>
          <p:nvPr/>
        </p:nvGrpSpPr>
        <p:grpSpPr>
          <a:xfrm>
            <a:off x="683568" y="1537512"/>
            <a:ext cx="3792537" cy="3046996"/>
            <a:chOff x="683568" y="1537512"/>
            <a:chExt cx="3792537" cy="3046996"/>
          </a:xfrm>
        </p:grpSpPr>
        <p:grpSp>
          <p:nvGrpSpPr>
            <p:cNvPr id="11" name="Gruppo 10"/>
            <p:cNvGrpSpPr/>
            <p:nvPr/>
          </p:nvGrpSpPr>
          <p:grpSpPr>
            <a:xfrm>
              <a:off x="683568" y="1537512"/>
              <a:ext cx="3792537" cy="3046996"/>
              <a:chOff x="640080" y="1783080"/>
              <a:chExt cx="5349240" cy="4297680"/>
            </a:xfrm>
            <a:effectLst>
              <a:outerShdw blurRad="50800" dist="38100" dir="13500000" algn="br" rotWithShape="0">
                <a:schemeClr val="accent1">
                  <a:alpha val="40000"/>
                </a:schemeClr>
              </a:outerShdw>
            </a:effectLst>
          </p:grpSpPr>
          <p:sp>
            <p:nvSpPr>
              <p:cNvPr id="28" name="Shape 2"/>
              <p:cNvSpPr/>
              <p:nvPr/>
            </p:nvSpPr>
            <p:spPr>
              <a:xfrm>
                <a:off x="640080" y="1783080"/>
                <a:ext cx="5349240" cy="4297680"/>
              </a:xfrm>
              <a:prstGeom prst="roundRect">
                <a:avLst>
                  <a:gd name="adj" fmla="val 5066"/>
                </a:avLst>
              </a:prstGeom>
              <a:solidFill>
                <a:srgbClr val="FFFFFF"/>
              </a:solidFill>
              <a:ln w="12700">
                <a:noFill/>
                <a:prstDash val="solid"/>
              </a:ln>
              <a:effectLst>
                <a:outerShdw blurRad="76200" dist="25400" dir="5400000" algn="bl" rotWithShape="0">
                  <a:srgbClr val="9FB0C0">
                    <a:alpha val="28000"/>
                  </a:srgbClr>
                </a:outerShdw>
              </a:effectLst>
            </p:spPr>
          </p:sp>
          <p:sp>
            <p:nvSpPr>
              <p:cNvPr id="31" name="Shape 5"/>
              <p:cNvSpPr/>
              <p:nvPr/>
            </p:nvSpPr>
            <p:spPr>
              <a:xfrm>
                <a:off x="868680" y="1947672"/>
                <a:ext cx="502920" cy="502920"/>
              </a:xfrm>
              <a:prstGeom prst="ellipse">
                <a:avLst/>
              </a:prstGeom>
              <a:solidFill>
                <a:srgbClr val="D149CE"/>
              </a:solidFill>
              <a:ln>
                <a:noFill/>
              </a:ln>
            </p:spPr>
          </p:sp>
          <p:sp>
            <p:nvSpPr>
              <p:cNvPr id="32" name="Text 6"/>
              <p:cNvSpPr/>
              <p:nvPr/>
            </p:nvSpPr>
            <p:spPr>
              <a:xfrm>
                <a:off x="868680" y="1947672"/>
                <a:ext cx="50292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2" charset="0"/>
                    <a:ea typeface="Calibri" pitchFamily="34" charset="-122"/>
                    <a:cs typeface="Calibri" pitchFamily="34" charset="-120"/>
                  </a:rPr>
                  <a:t>⬡</a:t>
                </a:r>
                <a:endParaRPr lang="en-US" sz="1800" dirty="0">
                  <a:latin typeface="Montserrat" pitchFamily="2" charset="0"/>
                </a:endParaRPr>
              </a:p>
            </p:txBody>
          </p:sp>
          <p:sp>
            <p:nvSpPr>
              <p:cNvPr id="33" name="Text 7"/>
              <p:cNvSpPr/>
              <p:nvPr/>
            </p:nvSpPr>
            <p:spPr>
              <a:xfrm>
                <a:off x="1508760" y="1874520"/>
                <a:ext cx="4297680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accent1"/>
                    </a:solidFill>
                    <a:latin typeface="Montserrat" pitchFamily="2" charset="0"/>
                    <a:ea typeface="Calibri" pitchFamily="34" charset="-122"/>
                    <a:cs typeface="Calibri" pitchFamily="34" charset="-120"/>
                  </a:rPr>
                  <a:t>Facade</a:t>
                </a:r>
                <a:endParaRPr lang="en-US" sz="1800" dirty="0">
                  <a:solidFill>
                    <a:schemeClr val="accent1"/>
                  </a:solidFill>
                  <a:latin typeface="Montserrat" pitchFamily="2" charset="0"/>
                </a:endParaRPr>
              </a:p>
            </p:txBody>
          </p:sp>
          <p:sp>
            <p:nvSpPr>
              <p:cNvPr id="34" name="Text 8"/>
              <p:cNvSpPr/>
              <p:nvPr/>
            </p:nvSpPr>
            <p:spPr>
              <a:xfrm>
                <a:off x="868680" y="2743200"/>
                <a:ext cx="48463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b="1" dirty="0">
                    <a:solidFill>
                      <a:schemeClr val="accent1"/>
                    </a:solidFill>
                    <a:latin typeface="Montserrat" pitchFamily="2" charset="0"/>
                    <a:ea typeface="Courier New" pitchFamily="34" charset="-122"/>
                    <a:cs typeface="Courier New" pitchFamily="34" charset="-120"/>
                  </a:rPr>
                  <a:t>DeviceBridgeFacade</a:t>
                </a:r>
                <a:endParaRPr lang="en-US" sz="1300" dirty="0">
                  <a:solidFill>
                    <a:schemeClr val="accent1"/>
                  </a:solidFill>
                  <a:latin typeface="Montserrat" pitchFamily="2" charset="0"/>
                </a:endParaRPr>
              </a:p>
            </p:txBody>
          </p:sp>
        </p:grpSp>
        <p:sp>
          <p:nvSpPr>
            <p:cNvPr id="3" name="Rettangolo arrotondato 2"/>
            <p:cNvSpPr/>
            <p:nvPr/>
          </p:nvSpPr>
          <p:spPr>
            <a:xfrm>
              <a:off x="845642" y="2683993"/>
              <a:ext cx="3500804" cy="653180"/>
            </a:xfrm>
            <a:prstGeom prst="roundRect">
              <a:avLst>
                <a:gd name="adj" fmla="val 7153"/>
              </a:avLst>
            </a:prstGeom>
            <a:solidFill>
              <a:schemeClr val="tx1"/>
            </a:solidFill>
            <a:ln>
              <a:noFill/>
            </a:ln>
            <a:effectLst>
              <a:outerShdw blurRad="50800" dist="381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49" name="Rettangolo arrotondato 48"/>
            <p:cNvSpPr/>
            <p:nvPr/>
          </p:nvSpPr>
          <p:spPr>
            <a:xfrm>
              <a:off x="864376" y="3574754"/>
              <a:ext cx="3500804" cy="653180"/>
            </a:xfrm>
            <a:prstGeom prst="roundRect">
              <a:avLst>
                <a:gd name="adj" fmla="val 7153"/>
              </a:avLst>
            </a:prstGeom>
            <a:solidFill>
              <a:schemeClr val="tx1"/>
            </a:solidFill>
            <a:ln>
              <a:noFill/>
            </a:ln>
            <a:effectLst>
              <a:outerShdw blurRad="50800" dist="38100" dir="13500000" algn="b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" name="CasellaDiTesto 3"/>
            <p:cNvSpPr txBox="1"/>
            <p:nvPr/>
          </p:nvSpPr>
          <p:spPr>
            <a:xfrm>
              <a:off x="994694" y="2779750"/>
              <a:ext cx="32172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sz="1200" dirty="0" err="1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Espone</a:t>
              </a:r>
              <a:r>
                <a:rPr lang="en-US" sz="1200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dirty="0" err="1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pochi</a:t>
              </a:r>
              <a:r>
                <a:rPr lang="en-US" sz="1200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dirty="0" err="1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metodi</a:t>
              </a:r>
              <a:r>
                <a:rPr lang="en-US" sz="1200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dirty="0" err="1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semplici</a:t>
              </a:r>
              <a:r>
                <a:rPr lang="en-US" sz="1200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 e </a:t>
              </a:r>
              <a:r>
                <a:rPr lang="en-US" sz="1200" dirty="0" err="1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nasconde</a:t>
              </a:r>
              <a:r>
                <a:rPr lang="en-US" sz="1200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dirty="0" err="1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l'intera</a:t>
              </a:r>
              <a:r>
                <a:rPr lang="en-US" sz="1200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 pipeline </a:t>
              </a:r>
              <a:r>
                <a:rPr lang="en-US" sz="1200" dirty="0" err="1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interna</a:t>
              </a:r>
              <a:r>
                <a:rPr lang="en-US" sz="1200" dirty="0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.</a:t>
              </a:r>
              <a:endParaRPr lang="it-IT" sz="1200" dirty="0">
                <a:solidFill>
                  <a:schemeClr val="bg2"/>
                </a:solidFill>
              </a:endParaRPr>
            </a:p>
          </p:txBody>
        </p:sp>
        <p:sp>
          <p:nvSpPr>
            <p:cNvPr id="5" name="CasellaDiTesto 4"/>
            <p:cNvSpPr txBox="1"/>
            <p:nvPr/>
          </p:nvSpPr>
          <p:spPr>
            <a:xfrm>
              <a:off x="941036" y="3640129"/>
              <a:ext cx="3310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Il chiamante ignora filtri, stati e comandi: parla solo con </a:t>
              </a:r>
              <a:r>
                <a:rPr lang="it-IT" sz="1200" dirty="0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il </a:t>
              </a:r>
              <a:r>
                <a:rPr lang="it-IT" sz="1200" dirty="0" err="1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Facade</a:t>
              </a:r>
              <a:r>
                <a:rPr lang="it-IT" sz="1200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.</a:t>
              </a:r>
            </a:p>
          </p:txBody>
        </p:sp>
      </p:grpSp>
      <p:sp>
        <p:nvSpPr>
          <p:cNvPr id="316" name="Google Shape;316;p39"/>
          <p:cNvSpPr/>
          <p:nvPr/>
        </p:nvSpPr>
        <p:spPr>
          <a:xfrm>
            <a:off x="7693750" y="-5789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itchFamily="2" charset="0"/>
            </a:endParaRPr>
          </a:p>
        </p:txBody>
      </p:sp>
      <p:sp>
        <p:nvSpPr>
          <p:cNvPr id="317" name="Google Shape;317;p39"/>
          <p:cNvSpPr/>
          <p:nvPr/>
        </p:nvSpPr>
        <p:spPr>
          <a:xfrm>
            <a:off x="7317125" y="5931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itchFamily="2" charset="0"/>
            </a:endParaRPr>
          </a:p>
        </p:txBody>
      </p:sp>
      <p:sp>
        <p:nvSpPr>
          <p:cNvPr id="319" name="Google Shape;319;p39"/>
          <p:cNvSpPr/>
          <p:nvPr/>
        </p:nvSpPr>
        <p:spPr>
          <a:xfrm>
            <a:off x="-527650" y="4062958"/>
            <a:ext cx="1042800" cy="10431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itchFamily="2" charset="0"/>
            </a:endParaRPr>
          </a:p>
        </p:txBody>
      </p:sp>
      <p:sp>
        <p:nvSpPr>
          <p:cNvPr id="318" name="Google Shape;318;p39"/>
          <p:cNvSpPr/>
          <p:nvPr/>
        </p:nvSpPr>
        <p:spPr>
          <a:xfrm>
            <a:off x="-119756" y="4927054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150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" grpId="0"/>
      <p:bldP spid="46" grpId="0"/>
      <p:bldP spid="316" grpId="0" animBg="1"/>
      <p:bldP spid="317" grpId="0" animBg="1"/>
      <p:bldP spid="319" grpId="0" animBg="1"/>
      <p:bldP spid="3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po 26"/>
          <p:cNvGrpSpPr/>
          <p:nvPr/>
        </p:nvGrpSpPr>
        <p:grpSpPr>
          <a:xfrm>
            <a:off x="4636122" y="1574266"/>
            <a:ext cx="3751103" cy="3013707"/>
            <a:chOff x="6172200" y="1783080"/>
            <a:chExt cx="5349240" cy="4297680"/>
          </a:xfrm>
        </p:grpSpPr>
        <p:sp>
          <p:nvSpPr>
            <p:cNvPr id="28" name="Shape 13"/>
            <p:cNvSpPr/>
            <p:nvPr/>
          </p:nvSpPr>
          <p:spPr>
            <a:xfrm>
              <a:off x="6172200" y="1783080"/>
              <a:ext cx="5349240" cy="4297680"/>
            </a:xfrm>
            <a:prstGeom prst="roundRect">
              <a:avLst>
                <a:gd name="adj" fmla="val 5253"/>
              </a:avLst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schemeClr val="accent1">
                  <a:alpha val="40000"/>
                </a:schemeClr>
              </a:outerShdw>
            </a:effectLst>
          </p:spPr>
        </p:sp>
        <p:sp>
          <p:nvSpPr>
            <p:cNvPr id="29" name="Shape 14"/>
            <p:cNvSpPr/>
            <p:nvPr/>
          </p:nvSpPr>
          <p:spPr>
            <a:xfrm>
              <a:off x="6400800" y="2011680"/>
              <a:ext cx="548640" cy="548640"/>
            </a:xfrm>
            <a:prstGeom prst="ellipse">
              <a:avLst/>
            </a:prstGeom>
            <a:solidFill>
              <a:schemeClr val="tx2"/>
            </a:solidFill>
            <a:ln/>
          </p:spPr>
        </p:sp>
        <p:sp>
          <p:nvSpPr>
            <p:cNvPr id="30" name="Text 15"/>
            <p:cNvSpPr/>
            <p:nvPr/>
          </p:nvSpPr>
          <p:spPr>
            <a:xfrm>
              <a:off x="6400800" y="201168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⛓</a:t>
              </a:r>
              <a:endParaRPr lang="en-US" sz="1600" dirty="0">
                <a:latin typeface="Montserrat" pitchFamily="2" charset="0"/>
              </a:endParaRPr>
            </a:p>
          </p:txBody>
        </p:sp>
        <p:sp>
          <p:nvSpPr>
            <p:cNvPr id="31" name="Text 16"/>
            <p:cNvSpPr/>
            <p:nvPr/>
          </p:nvSpPr>
          <p:spPr>
            <a:xfrm>
              <a:off x="7086600" y="2011680"/>
              <a:ext cx="42976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chemeClr val="accent1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Chain of Responsibility</a:t>
              </a:r>
              <a:endParaRPr lang="en-US" sz="1700" dirty="0">
                <a:solidFill>
                  <a:schemeClr val="accent1"/>
                </a:solidFill>
                <a:latin typeface="Montserrat" pitchFamily="2" charset="0"/>
              </a:endParaRPr>
            </a:p>
          </p:txBody>
        </p:sp>
        <p:sp>
          <p:nvSpPr>
            <p:cNvPr id="32" name="Text 17"/>
            <p:cNvSpPr/>
            <p:nvPr/>
          </p:nvSpPr>
          <p:spPr>
            <a:xfrm>
              <a:off x="6400800" y="2697480"/>
              <a:ext cx="49377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B4A5A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Il ProcessoreSegnaleResponsability applica i filtri in sequenza:</a:t>
              </a:r>
              <a:endParaRPr lang="en-US" sz="1100" dirty="0">
                <a:latin typeface="Montserrat" pitchFamily="2" charset="0"/>
              </a:endParaRPr>
            </a:p>
          </p:txBody>
        </p:sp>
        <p:sp>
          <p:nvSpPr>
            <p:cNvPr id="33" name="Shape 18"/>
            <p:cNvSpPr/>
            <p:nvPr/>
          </p:nvSpPr>
          <p:spPr>
            <a:xfrm>
              <a:off x="6400800" y="3246120"/>
              <a:ext cx="4937760" cy="594360"/>
            </a:xfrm>
            <a:prstGeom prst="roundRect">
              <a:avLst>
                <a:gd name="adj" fmla="val 12308"/>
              </a:avLst>
            </a:prstGeom>
            <a:solidFill>
              <a:schemeClr val="tx1"/>
            </a:solidFill>
            <a:ln w="12700">
              <a:noFill/>
              <a:prstDash val="solid"/>
            </a:ln>
            <a:effectLst>
              <a:outerShdw blurRad="50800" dist="38100" dir="8100000" algn="tr" rotWithShape="0">
                <a:schemeClr val="accent1">
                  <a:alpha val="40000"/>
                </a:schemeClr>
              </a:outerShdw>
            </a:effectLst>
          </p:spPr>
        </p:sp>
        <p:sp>
          <p:nvSpPr>
            <p:cNvPr id="34" name="Shape 19"/>
            <p:cNvSpPr/>
            <p:nvPr/>
          </p:nvSpPr>
          <p:spPr>
            <a:xfrm>
              <a:off x="6537960" y="3364992"/>
              <a:ext cx="365760" cy="365760"/>
            </a:xfrm>
            <a:prstGeom prst="ellips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/>
          </p:spPr>
        </p:sp>
        <p:sp>
          <p:nvSpPr>
            <p:cNvPr id="35" name="Text 20"/>
            <p:cNvSpPr/>
            <p:nvPr/>
          </p:nvSpPr>
          <p:spPr>
            <a:xfrm>
              <a:off x="6537960" y="3364992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300" dirty="0">
                <a:latin typeface="Montserrat" pitchFamily="2" charset="0"/>
              </a:endParaRPr>
            </a:p>
          </p:txBody>
        </p:sp>
        <p:sp>
          <p:nvSpPr>
            <p:cNvPr id="36" name="Text 21"/>
            <p:cNvSpPr/>
            <p:nvPr/>
          </p:nvSpPr>
          <p:spPr>
            <a:xfrm>
              <a:off x="7040880" y="3246120"/>
              <a:ext cx="42062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 err="1" smtClean="0">
                  <a:solidFill>
                    <a:schemeClr val="accent1"/>
                  </a:solidFill>
                  <a:latin typeface="Montserrat" pitchFamily="2" charset="0"/>
                  <a:ea typeface="Courier New" pitchFamily="34" charset="-122"/>
                  <a:cs typeface="Courier New" pitchFamily="34" charset="-120"/>
                </a:rPr>
                <a:t>FiltroRumore</a:t>
              </a:r>
              <a:endParaRPr lang="en-US" sz="1200" b="1" dirty="0">
                <a:solidFill>
                  <a:srgbClr val="0F6E56"/>
                </a:solidFill>
                <a:latin typeface="Montserrat" pitchFamily="2" charset="0"/>
                <a:ea typeface="Courier New" pitchFamily="34" charset="-122"/>
                <a:cs typeface="Courier New" pitchFamily="34" charset="-120"/>
              </a:endParaRPr>
            </a:p>
            <a:p>
              <a:pPr marL="0" indent="0">
                <a:buNone/>
              </a:pPr>
              <a:r>
                <a:rPr lang="en-US" sz="1000" dirty="0" smtClean="0">
                  <a:solidFill>
                    <a:srgbClr val="35564A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smoothing </a:t>
              </a:r>
              <a:r>
                <a:rPr lang="en-US" sz="1000" dirty="0">
                  <a:solidFill>
                    <a:srgbClr val="35564A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anti-tremolio</a:t>
              </a:r>
              <a:endParaRPr lang="en-US" sz="1050" dirty="0">
                <a:latin typeface="Montserrat" pitchFamily="2" charset="0"/>
              </a:endParaRPr>
            </a:p>
          </p:txBody>
        </p:sp>
        <p:sp>
          <p:nvSpPr>
            <p:cNvPr id="37" name="Shape 22"/>
            <p:cNvSpPr/>
            <p:nvPr/>
          </p:nvSpPr>
          <p:spPr>
            <a:xfrm>
              <a:off x="6656832" y="3849624"/>
              <a:ext cx="164592" cy="164592"/>
            </a:xfrm>
            <a:prstGeom prst="downArrow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/>
          </p:spPr>
        </p:sp>
        <p:sp>
          <p:nvSpPr>
            <p:cNvPr id="38" name="Shape 23"/>
            <p:cNvSpPr/>
            <p:nvPr/>
          </p:nvSpPr>
          <p:spPr>
            <a:xfrm>
              <a:off x="6400800" y="4005072"/>
              <a:ext cx="4937760" cy="594360"/>
            </a:xfrm>
            <a:prstGeom prst="roundRect">
              <a:avLst>
                <a:gd name="adj" fmla="val 12308"/>
              </a:avLst>
            </a:prstGeom>
            <a:solidFill>
              <a:schemeClr val="tx1"/>
            </a:solidFill>
            <a:ln w="12700">
              <a:noFill/>
              <a:prstDash val="solid"/>
            </a:ln>
            <a:effectLst>
              <a:outerShdw blurRad="50800" dist="38100" algn="l" rotWithShape="0">
                <a:schemeClr val="accent1">
                  <a:alpha val="40000"/>
                </a:schemeClr>
              </a:outerShdw>
            </a:effectLst>
          </p:spPr>
        </p:sp>
        <p:sp>
          <p:nvSpPr>
            <p:cNvPr id="39" name="Shape 24"/>
            <p:cNvSpPr/>
            <p:nvPr/>
          </p:nvSpPr>
          <p:spPr>
            <a:xfrm>
              <a:off x="6537960" y="4123944"/>
              <a:ext cx="365760" cy="365760"/>
            </a:xfrm>
            <a:prstGeom prst="ellips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/>
          </p:spPr>
        </p:sp>
        <p:sp>
          <p:nvSpPr>
            <p:cNvPr id="40" name="Text 25"/>
            <p:cNvSpPr/>
            <p:nvPr/>
          </p:nvSpPr>
          <p:spPr>
            <a:xfrm>
              <a:off x="6537960" y="4123944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300" dirty="0">
                <a:latin typeface="Montserrat" pitchFamily="2" charset="0"/>
              </a:endParaRPr>
            </a:p>
          </p:txBody>
        </p:sp>
        <p:sp>
          <p:nvSpPr>
            <p:cNvPr id="41" name="Text 26"/>
            <p:cNvSpPr/>
            <p:nvPr/>
          </p:nvSpPr>
          <p:spPr>
            <a:xfrm>
              <a:off x="7040880" y="4005072"/>
              <a:ext cx="42062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 err="1" smtClean="0">
                  <a:solidFill>
                    <a:schemeClr val="accent1"/>
                  </a:solidFill>
                  <a:latin typeface="Montserrat" pitchFamily="2" charset="0"/>
                  <a:ea typeface="Courier New" pitchFamily="34" charset="-122"/>
                  <a:cs typeface="Courier New" pitchFamily="34" charset="-120"/>
                </a:rPr>
                <a:t>FiltroZoneMorte</a:t>
              </a:r>
              <a:endParaRPr lang="en-US" sz="1200" b="1" dirty="0">
                <a:solidFill>
                  <a:srgbClr val="0F6E56"/>
                </a:solidFill>
                <a:latin typeface="Montserrat" pitchFamily="2" charset="0"/>
                <a:ea typeface="Courier New" pitchFamily="34" charset="-122"/>
                <a:cs typeface="Courier New" pitchFamily="34" charset="-120"/>
              </a:endParaRPr>
            </a:p>
            <a:p>
              <a:pPr marL="0" indent="0">
                <a:buNone/>
              </a:pPr>
              <a:r>
                <a:rPr lang="en-US" sz="1000" dirty="0" err="1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azzera</a:t>
              </a:r>
              <a:r>
                <a:rPr lang="en-US" sz="1000" dirty="0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i micro-movimenti</a:t>
              </a:r>
              <a:endParaRPr lang="en-US" sz="1000" dirty="0">
                <a:solidFill>
                  <a:schemeClr val="bg2"/>
                </a:solidFill>
                <a:latin typeface="Montserrat" pitchFamily="2" charset="0"/>
              </a:endParaRPr>
            </a:p>
          </p:txBody>
        </p:sp>
        <p:sp>
          <p:nvSpPr>
            <p:cNvPr id="42" name="Shape 27"/>
            <p:cNvSpPr/>
            <p:nvPr/>
          </p:nvSpPr>
          <p:spPr>
            <a:xfrm>
              <a:off x="6656832" y="4608576"/>
              <a:ext cx="164592" cy="164592"/>
            </a:xfrm>
            <a:prstGeom prst="downArrow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/>
          </p:spPr>
        </p:sp>
        <p:sp>
          <p:nvSpPr>
            <p:cNvPr id="43" name="Shape 28"/>
            <p:cNvSpPr/>
            <p:nvPr/>
          </p:nvSpPr>
          <p:spPr>
            <a:xfrm>
              <a:off x="6400800" y="4764024"/>
              <a:ext cx="4937760" cy="594360"/>
            </a:xfrm>
            <a:prstGeom prst="roundRect">
              <a:avLst>
                <a:gd name="adj" fmla="val 12308"/>
              </a:avLst>
            </a:prstGeom>
            <a:solidFill>
              <a:schemeClr val="tx1"/>
            </a:solidFill>
            <a:ln w="12700">
              <a:noFill/>
              <a:prstDash val="solid"/>
            </a:ln>
            <a:effectLst>
              <a:outerShdw blurRad="50800" dist="38100" dir="13500000" algn="br" rotWithShape="0">
                <a:schemeClr val="accent1">
                  <a:alpha val="40000"/>
                </a:schemeClr>
              </a:outerShdw>
            </a:effectLst>
          </p:spPr>
        </p:sp>
        <p:sp>
          <p:nvSpPr>
            <p:cNvPr id="44" name="Shape 29"/>
            <p:cNvSpPr/>
            <p:nvPr/>
          </p:nvSpPr>
          <p:spPr>
            <a:xfrm>
              <a:off x="6537960" y="4882896"/>
              <a:ext cx="365760" cy="365760"/>
            </a:xfrm>
            <a:prstGeom prst="ellips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/>
          </p:spPr>
        </p:sp>
        <p:sp>
          <p:nvSpPr>
            <p:cNvPr id="45" name="Text 30"/>
            <p:cNvSpPr/>
            <p:nvPr/>
          </p:nvSpPr>
          <p:spPr>
            <a:xfrm>
              <a:off x="6537960" y="4882896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300" dirty="0">
                <a:latin typeface="Montserrat" pitchFamily="2" charset="0"/>
              </a:endParaRPr>
            </a:p>
          </p:txBody>
        </p:sp>
        <p:sp>
          <p:nvSpPr>
            <p:cNvPr id="46" name="Text 31"/>
            <p:cNvSpPr/>
            <p:nvPr/>
          </p:nvSpPr>
          <p:spPr>
            <a:xfrm>
              <a:off x="7040880" y="4764024"/>
              <a:ext cx="42062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 err="1">
                  <a:solidFill>
                    <a:schemeClr val="accent1"/>
                  </a:solidFill>
                  <a:latin typeface="Montserrat" pitchFamily="2" charset="0"/>
                  <a:ea typeface="Courier New" pitchFamily="34" charset="-122"/>
                  <a:cs typeface="Courier New" pitchFamily="34" charset="-120"/>
                </a:rPr>
                <a:t>FiltroSensibilità</a:t>
              </a:r>
              <a:r>
                <a:rPr lang="en-US" sz="1200" b="1" dirty="0">
                  <a:solidFill>
                    <a:srgbClr val="0F6E56"/>
                  </a:solidFill>
                  <a:latin typeface="Montserrat" pitchFamily="2" charset="0"/>
                  <a:ea typeface="Courier New" pitchFamily="34" charset="-122"/>
                  <a:cs typeface="Courier New" pitchFamily="34" charset="-120"/>
                </a:rPr>
                <a:t>  </a:t>
              </a:r>
              <a:endParaRPr lang="en-US" sz="1200" b="1" dirty="0" smtClean="0">
                <a:solidFill>
                  <a:srgbClr val="0F6E56"/>
                </a:solidFill>
                <a:latin typeface="Montserrat" pitchFamily="2" charset="0"/>
                <a:ea typeface="Courier New" pitchFamily="34" charset="-122"/>
                <a:cs typeface="Courier New" pitchFamily="34" charset="-120"/>
              </a:endParaRPr>
            </a:p>
            <a:p>
              <a:pPr marL="0" indent="0">
                <a:buNone/>
              </a:pPr>
              <a:r>
                <a:rPr lang="en-US" sz="1000" dirty="0" err="1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amplifica</a:t>
              </a:r>
              <a:r>
                <a:rPr lang="en-US" sz="1000" dirty="0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/ attenua</a:t>
              </a:r>
              <a:endParaRPr lang="en-US" sz="1000" dirty="0">
                <a:solidFill>
                  <a:schemeClr val="bg2"/>
                </a:solidFill>
                <a:latin typeface="Montserrat" pitchFamily="2" charset="0"/>
              </a:endParaRPr>
            </a:p>
          </p:txBody>
        </p:sp>
        <p:sp>
          <p:nvSpPr>
            <p:cNvPr id="47" name="Text 32"/>
            <p:cNvSpPr/>
            <p:nvPr/>
          </p:nvSpPr>
          <p:spPr>
            <a:xfrm>
              <a:off x="6400801" y="5567328"/>
              <a:ext cx="4937761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35564A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Le soglie arrivano dal ProfiloUtente → pulizia personalizzata.</a:t>
              </a:r>
              <a:endParaRPr lang="en-US" sz="1100" dirty="0">
                <a:latin typeface="Montserrat" pitchFamily="2" charset="0"/>
              </a:endParaRPr>
            </a:p>
          </p:txBody>
        </p:sp>
      </p:grpSp>
      <p:sp>
        <p:nvSpPr>
          <p:cNvPr id="60" name="Google Shape;313;p39"/>
          <p:cNvSpPr txBox="1">
            <a:spLocks noGrp="1"/>
          </p:cNvSpPr>
          <p:nvPr>
            <p:ph type="title"/>
          </p:nvPr>
        </p:nvSpPr>
        <p:spPr>
          <a:xfrm>
            <a:off x="611560" y="923300"/>
            <a:ext cx="5079748" cy="42431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1" dirty="0" smtClean="0">
                <a:solidFill>
                  <a:schemeClr val="bg2"/>
                </a:solidFill>
                <a:latin typeface="Montserrat" pitchFamily="2" charset="0"/>
              </a:rPr>
              <a:t>Pattern comportamentali</a:t>
            </a:r>
            <a:endParaRPr sz="1400" b="1" dirty="0">
              <a:solidFill>
                <a:schemeClr val="bg2"/>
              </a:solidFill>
              <a:latin typeface="Montserrat" pitchFamily="2" charset="0"/>
            </a:endParaRPr>
          </a:p>
        </p:txBody>
      </p:sp>
      <p:sp>
        <p:nvSpPr>
          <p:cNvPr id="61" name="Google Shape;491;p47"/>
          <p:cNvSpPr txBox="1">
            <a:spLocks/>
          </p:cNvSpPr>
          <p:nvPr/>
        </p:nvSpPr>
        <p:spPr>
          <a:xfrm>
            <a:off x="611560" y="422960"/>
            <a:ext cx="5112568" cy="52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4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r>
              <a:rPr lang="it-IT" sz="3000" b="1" dirty="0" smtClean="0">
                <a:latin typeface="Montserrat" pitchFamily="2" charset="0"/>
              </a:rPr>
              <a:t>Riepilogo pattern</a:t>
            </a:r>
            <a:endParaRPr lang="it-IT" sz="3000" b="1" dirty="0">
              <a:latin typeface="Montserrat" pitchFamily="2" charset="0"/>
            </a:endParaRPr>
          </a:p>
        </p:txBody>
      </p:sp>
      <p:grpSp>
        <p:nvGrpSpPr>
          <p:cNvPr id="6" name="Gruppo 5"/>
          <p:cNvGrpSpPr/>
          <p:nvPr/>
        </p:nvGrpSpPr>
        <p:grpSpPr>
          <a:xfrm>
            <a:off x="756775" y="1574266"/>
            <a:ext cx="3751104" cy="3013707"/>
            <a:chOff x="756775" y="1574266"/>
            <a:chExt cx="3751104" cy="3013707"/>
          </a:xfrm>
        </p:grpSpPr>
        <p:grpSp>
          <p:nvGrpSpPr>
            <p:cNvPr id="26" name="Gruppo 25"/>
            <p:cNvGrpSpPr/>
            <p:nvPr/>
          </p:nvGrpSpPr>
          <p:grpSpPr>
            <a:xfrm>
              <a:off x="756775" y="1574266"/>
              <a:ext cx="3751104" cy="3013707"/>
              <a:chOff x="640079" y="1783080"/>
              <a:chExt cx="5349241" cy="4297680"/>
            </a:xfrm>
          </p:grpSpPr>
          <p:sp>
            <p:nvSpPr>
              <p:cNvPr id="48" name="Shape 2"/>
              <p:cNvSpPr/>
              <p:nvPr/>
            </p:nvSpPr>
            <p:spPr>
              <a:xfrm>
                <a:off x="640079" y="1783080"/>
                <a:ext cx="5349241" cy="4297680"/>
              </a:xfrm>
              <a:prstGeom prst="roundRect">
                <a:avLst>
                  <a:gd name="adj" fmla="val 4646"/>
                </a:avLst>
              </a:prstGeom>
              <a:solidFill>
                <a:srgbClr val="FFFFFF"/>
              </a:solidFill>
              <a:ln w="12700">
                <a:noFill/>
                <a:prstDash val="solid"/>
              </a:ln>
              <a:effectLst>
                <a:outerShdw blurRad="50800" dist="38100" dir="13500000" algn="br" rotWithShape="0">
                  <a:schemeClr val="tx2">
                    <a:alpha val="40000"/>
                  </a:schemeClr>
                </a:outerShdw>
              </a:effectLst>
            </p:spPr>
          </p:sp>
          <p:sp>
            <p:nvSpPr>
              <p:cNvPr id="49" name="Shape 3"/>
              <p:cNvSpPr/>
              <p:nvPr/>
            </p:nvSpPr>
            <p:spPr>
              <a:xfrm>
                <a:off x="868680" y="2011680"/>
                <a:ext cx="548640" cy="548640"/>
              </a:xfrm>
              <a:prstGeom prst="ellipse">
                <a:avLst/>
              </a:prstGeom>
              <a:solidFill>
                <a:schemeClr val="accent1"/>
              </a:solidFill>
              <a:ln/>
            </p:spPr>
          </p:sp>
          <p:sp>
            <p:nvSpPr>
              <p:cNvPr id="50" name="Text 4"/>
              <p:cNvSpPr/>
              <p:nvPr/>
            </p:nvSpPr>
            <p:spPr>
              <a:xfrm>
                <a:off x="868680" y="2011680"/>
                <a:ext cx="54864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2" charset="0"/>
                    <a:ea typeface="Calibri" pitchFamily="34" charset="-122"/>
                    <a:cs typeface="Calibri" pitchFamily="34" charset="-120"/>
                  </a:rPr>
                  <a:t>⇉</a:t>
                </a:r>
                <a:endParaRPr lang="en-US" sz="1800" dirty="0">
                  <a:latin typeface="Montserrat" pitchFamily="2" charset="0"/>
                </a:endParaRPr>
              </a:p>
            </p:txBody>
          </p:sp>
          <p:sp>
            <p:nvSpPr>
              <p:cNvPr id="51" name="Text 5"/>
              <p:cNvSpPr/>
              <p:nvPr/>
            </p:nvSpPr>
            <p:spPr>
              <a:xfrm>
                <a:off x="1554480" y="2011680"/>
                <a:ext cx="420624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2"/>
                    </a:solidFill>
                    <a:latin typeface="Montserrat" pitchFamily="2" charset="0"/>
                    <a:ea typeface="Calibri" pitchFamily="34" charset="-122"/>
                    <a:cs typeface="Calibri" pitchFamily="34" charset="-120"/>
                  </a:rPr>
                  <a:t>Strategy</a:t>
                </a:r>
                <a:endParaRPr lang="en-US" sz="1800" dirty="0">
                  <a:solidFill>
                    <a:schemeClr val="tx2"/>
                  </a:solidFill>
                  <a:latin typeface="Montserrat" pitchFamily="2" charset="0"/>
                </a:endParaRPr>
              </a:p>
            </p:txBody>
          </p:sp>
          <p:sp>
            <p:nvSpPr>
              <p:cNvPr id="52" name="Text 6"/>
              <p:cNvSpPr/>
              <p:nvPr/>
            </p:nvSpPr>
            <p:spPr>
              <a:xfrm>
                <a:off x="868681" y="2589417"/>
                <a:ext cx="4937761" cy="11521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chemeClr val="bg2"/>
                    </a:solidFill>
                    <a:latin typeface="Montserrat" pitchFamily="2" charset="0"/>
                    <a:ea typeface="Calibri" pitchFamily="34" charset="-122"/>
                    <a:cs typeface="Calibri" pitchFamily="34" charset="-120"/>
                  </a:rPr>
                  <a:t>Algoritmi intercambiabili </a:t>
                </a:r>
                <a:r>
                  <a:rPr lang="en-US" sz="1100" dirty="0" err="1">
                    <a:solidFill>
                      <a:schemeClr val="bg2"/>
                    </a:solidFill>
                    <a:latin typeface="Montserrat" pitchFamily="2" charset="0"/>
                    <a:ea typeface="Calibri" pitchFamily="34" charset="-122"/>
                    <a:cs typeface="Calibri" pitchFamily="34" charset="-120"/>
                  </a:rPr>
                  <a:t>dietro</a:t>
                </a:r>
                <a:r>
                  <a:rPr lang="en-US" sz="1100" dirty="0">
                    <a:solidFill>
                      <a:schemeClr val="bg2"/>
                    </a:solidFill>
                    <a:latin typeface="Montserrat" pitchFamily="2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100" dirty="0" err="1" smtClean="0">
                    <a:solidFill>
                      <a:schemeClr val="bg2"/>
                    </a:solidFill>
                    <a:latin typeface="Montserrat" pitchFamily="2" charset="0"/>
                    <a:ea typeface="Calibri" pitchFamily="34" charset="-122"/>
                    <a:cs typeface="Calibri" pitchFamily="34" charset="-120"/>
                  </a:rPr>
                  <a:t>un'interfaccia</a:t>
                </a:r>
                <a:r>
                  <a:rPr lang="en-US" sz="1100" dirty="0" smtClean="0">
                    <a:solidFill>
                      <a:schemeClr val="bg2"/>
                    </a:solidFill>
                    <a:latin typeface="Montserrat" pitchFamily="2" charset="0"/>
                    <a:ea typeface="Calibri" pitchFamily="34" charset="-122"/>
                    <a:cs typeface="Calibri" pitchFamily="34" charset="-120"/>
                  </a:rPr>
                  <a:t>; A</a:t>
                </a:r>
                <a:r>
                  <a:rPr lang="it-IT" sz="1100" dirty="0" err="1" smtClean="0">
                    <a:solidFill>
                      <a:schemeClr val="bg2"/>
                    </a:solidFill>
                    <a:latin typeface="Montserrat" pitchFamily="2" charset="0"/>
                    <a:ea typeface="Calibri" pitchFamily="34" charset="-122"/>
                    <a:cs typeface="Calibri" pitchFamily="34" charset="-120"/>
                  </a:rPr>
                  <a:t>ggiungere</a:t>
                </a:r>
                <a:r>
                  <a:rPr lang="it-IT" sz="1100" dirty="0" smtClean="0">
                    <a:solidFill>
                      <a:schemeClr val="bg2"/>
                    </a:solidFill>
                    <a:latin typeface="Montserrat" pitchFamily="2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it-IT" sz="1100" dirty="0">
                    <a:solidFill>
                      <a:schemeClr val="bg2"/>
                    </a:solidFill>
                    <a:latin typeface="Montserrat" pitchFamily="2" charset="0"/>
                    <a:ea typeface="Calibri" pitchFamily="34" charset="-122"/>
                    <a:cs typeface="Calibri" pitchFamily="34" charset="-120"/>
                  </a:rPr>
                  <a:t>un nuovo elemento, significa scrivere una nuova strategia -&gt; nessuna modifica al resto del sistema</a:t>
                </a:r>
                <a:r>
                  <a:rPr lang="it-IT" sz="1100" dirty="0" smtClean="0">
                    <a:solidFill>
                      <a:schemeClr val="bg2"/>
                    </a:solidFill>
                    <a:latin typeface="Montserrat" pitchFamily="2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it-IT" sz="1100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endParaRPr>
              </a:p>
            </p:txBody>
          </p:sp>
        </p:grpSp>
        <p:sp>
          <p:nvSpPr>
            <p:cNvPr id="63" name="Rettangolo arrotondato 62"/>
            <p:cNvSpPr/>
            <p:nvPr/>
          </p:nvSpPr>
          <p:spPr>
            <a:xfrm>
              <a:off x="847954" y="3003798"/>
              <a:ext cx="3500804" cy="653180"/>
            </a:xfrm>
            <a:prstGeom prst="roundRect">
              <a:avLst>
                <a:gd name="adj" fmla="val 7153"/>
              </a:avLst>
            </a:prstGeom>
            <a:solidFill>
              <a:schemeClr val="tx1"/>
            </a:solidFill>
            <a:ln>
              <a:noFill/>
            </a:ln>
            <a:effectLst>
              <a:outerShdw blurRad="50800" dist="38100" dir="2700000" algn="tl" rotWithShape="0">
                <a:schemeClr val="tx2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latin typeface="Montserrat" pitchFamily="2" charset="0"/>
              </a:endParaRPr>
            </a:p>
          </p:txBody>
        </p:sp>
        <p:sp>
          <p:nvSpPr>
            <p:cNvPr id="64" name="Rettangolo arrotondato 63"/>
            <p:cNvSpPr/>
            <p:nvPr/>
          </p:nvSpPr>
          <p:spPr>
            <a:xfrm>
              <a:off x="866688" y="3800994"/>
              <a:ext cx="3500804" cy="653180"/>
            </a:xfrm>
            <a:prstGeom prst="roundRect">
              <a:avLst>
                <a:gd name="adj" fmla="val 7153"/>
              </a:avLst>
            </a:prstGeom>
            <a:solidFill>
              <a:schemeClr val="tx1"/>
            </a:solidFill>
            <a:ln>
              <a:noFill/>
            </a:ln>
            <a:effectLst>
              <a:outerShdw blurRad="50800" dist="38100" dir="13500000" algn="br" rotWithShape="0">
                <a:schemeClr val="tx2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Montserrat" pitchFamily="2" charset="0"/>
              </a:endParaRPr>
            </a:p>
          </p:txBody>
        </p:sp>
        <p:sp>
          <p:nvSpPr>
            <p:cNvPr id="2" name="CasellaDiTesto 1"/>
            <p:cNvSpPr txBox="1"/>
            <p:nvPr/>
          </p:nvSpPr>
          <p:spPr>
            <a:xfrm>
              <a:off x="971600" y="3061885"/>
              <a:ext cx="19094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200" b="1" dirty="0" err="1" smtClean="0">
                  <a:solidFill>
                    <a:schemeClr val="tx2"/>
                  </a:solidFill>
                  <a:latin typeface="Montserrat" pitchFamily="2" charset="0"/>
                </a:rPr>
                <a:t>IInputDeviceStrategy</a:t>
              </a:r>
              <a:endParaRPr lang="it-IT" sz="1200" b="1" dirty="0">
                <a:solidFill>
                  <a:schemeClr val="tx2"/>
                </a:solidFill>
                <a:latin typeface="Montserrat" pitchFamily="2" charset="0"/>
              </a:endParaRPr>
            </a:p>
          </p:txBody>
        </p:sp>
        <p:sp>
          <p:nvSpPr>
            <p:cNvPr id="3" name="CasellaDiTesto 2"/>
            <p:cNvSpPr txBox="1"/>
            <p:nvPr/>
          </p:nvSpPr>
          <p:spPr>
            <a:xfrm>
              <a:off x="971600" y="3355873"/>
              <a:ext cx="333456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050" dirty="0" err="1">
                  <a:solidFill>
                    <a:schemeClr val="bg2"/>
                  </a:solidFill>
                  <a:latin typeface="Montserrat" pitchFamily="2" charset="0"/>
                </a:rPr>
                <a:t>EyeTracker</a:t>
              </a:r>
              <a:r>
                <a:rPr lang="it-IT" sz="1050" dirty="0">
                  <a:solidFill>
                    <a:schemeClr val="bg2"/>
                  </a:solidFill>
                  <a:latin typeface="Montserrat" pitchFamily="2" charset="0"/>
                </a:rPr>
                <a:t> · </a:t>
              </a:r>
              <a:r>
                <a:rPr lang="it-IT" sz="1050" dirty="0" err="1">
                  <a:solidFill>
                    <a:schemeClr val="bg2"/>
                  </a:solidFill>
                  <a:latin typeface="Montserrat" pitchFamily="2" charset="0"/>
                </a:rPr>
                <a:t>HeadPointer</a:t>
              </a:r>
              <a:r>
                <a:rPr lang="it-IT" sz="1050" dirty="0">
                  <a:solidFill>
                    <a:schemeClr val="bg2"/>
                  </a:solidFill>
                  <a:latin typeface="Montserrat" pitchFamily="2" charset="0"/>
                </a:rPr>
                <a:t> · </a:t>
              </a:r>
              <a:r>
                <a:rPr lang="it-IT" sz="1050" dirty="0" err="1">
                  <a:solidFill>
                    <a:schemeClr val="bg2"/>
                  </a:solidFill>
                  <a:latin typeface="Montserrat" pitchFamily="2" charset="0"/>
                </a:rPr>
                <a:t>SipAndPuff</a:t>
              </a:r>
              <a:r>
                <a:rPr lang="it-IT" sz="1050" dirty="0">
                  <a:solidFill>
                    <a:schemeClr val="bg2"/>
                  </a:solidFill>
                  <a:latin typeface="Montserrat" pitchFamily="2" charset="0"/>
                </a:rPr>
                <a:t> · </a:t>
              </a:r>
              <a:r>
                <a:rPr lang="it-IT" sz="1050" dirty="0" smtClean="0">
                  <a:solidFill>
                    <a:schemeClr val="bg2"/>
                  </a:solidFill>
                  <a:latin typeface="Montserrat" pitchFamily="2" charset="0"/>
                </a:rPr>
                <a:t>Switch</a:t>
              </a:r>
              <a:endParaRPr lang="it-IT" sz="1050" dirty="0">
                <a:solidFill>
                  <a:schemeClr val="bg2"/>
                </a:solidFill>
                <a:latin typeface="Montserrat" pitchFamily="2" charset="0"/>
              </a:endParaRPr>
            </a:p>
          </p:txBody>
        </p:sp>
        <p:sp>
          <p:nvSpPr>
            <p:cNvPr id="67" name="CasellaDiTesto 66"/>
            <p:cNvSpPr txBox="1"/>
            <p:nvPr/>
          </p:nvSpPr>
          <p:spPr>
            <a:xfrm>
              <a:off x="971600" y="3856599"/>
              <a:ext cx="19094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200" b="1" dirty="0" err="1">
                  <a:solidFill>
                    <a:schemeClr val="tx2"/>
                  </a:solidFill>
                  <a:latin typeface="Montserrat" pitchFamily="2" charset="0"/>
                </a:rPr>
                <a:t>IInputParserStrategy</a:t>
              </a:r>
              <a:endParaRPr lang="it-IT" sz="1200" b="1" dirty="0" smtClean="0">
                <a:solidFill>
                  <a:schemeClr val="tx2"/>
                </a:solidFill>
                <a:latin typeface="Montserrat" pitchFamily="2" charset="0"/>
              </a:endParaRPr>
            </a:p>
          </p:txBody>
        </p:sp>
        <p:sp>
          <p:nvSpPr>
            <p:cNvPr id="68" name="CasellaDiTesto 67"/>
            <p:cNvSpPr txBox="1"/>
            <p:nvPr/>
          </p:nvSpPr>
          <p:spPr>
            <a:xfrm>
              <a:off x="971600" y="4150587"/>
              <a:ext cx="226857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000" dirty="0" err="1">
                  <a:solidFill>
                    <a:schemeClr val="bg2"/>
                  </a:solidFill>
                  <a:latin typeface="Montserrat" pitchFamily="2" charset="0"/>
                </a:rPr>
                <a:t>ParserContinuo</a:t>
              </a:r>
              <a:r>
                <a:rPr lang="it-IT" sz="1000" dirty="0">
                  <a:solidFill>
                    <a:schemeClr val="bg2"/>
                  </a:solidFill>
                  <a:latin typeface="Montserrat" pitchFamily="2" charset="0"/>
                </a:rPr>
                <a:t> ·  </a:t>
              </a:r>
              <a:r>
                <a:rPr lang="it-IT" sz="1000" dirty="0" err="1">
                  <a:solidFill>
                    <a:schemeClr val="bg2"/>
                  </a:solidFill>
                  <a:latin typeface="Montserrat" pitchFamily="2" charset="0"/>
                </a:rPr>
                <a:t>ParserDiscreto</a:t>
              </a:r>
              <a:endParaRPr lang="it-IT" sz="1000" dirty="0">
                <a:solidFill>
                  <a:schemeClr val="bg2"/>
                </a:solidFill>
                <a:latin typeface="Montserrat" pitchFamily="2" charset="0"/>
              </a:endParaRPr>
            </a:p>
          </p:txBody>
        </p:sp>
      </p:grpSp>
      <p:sp>
        <p:nvSpPr>
          <p:cNvPr id="352" name="Google Shape;352;p41"/>
          <p:cNvSpPr/>
          <p:nvPr/>
        </p:nvSpPr>
        <p:spPr>
          <a:xfrm>
            <a:off x="6693075" y="-188737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itchFamily="2" charset="0"/>
            </a:endParaRPr>
          </a:p>
        </p:txBody>
      </p:sp>
      <p:sp>
        <p:nvSpPr>
          <p:cNvPr id="353" name="Google Shape;353;p41"/>
          <p:cNvSpPr/>
          <p:nvPr/>
        </p:nvSpPr>
        <p:spPr>
          <a:xfrm>
            <a:off x="8183775" y="2619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284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/>
      <p:bldP spid="352" grpId="0" animBg="1"/>
      <p:bldP spid="35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2"/>
          <p:cNvSpPr/>
          <p:nvPr/>
        </p:nvSpPr>
        <p:spPr>
          <a:xfrm>
            <a:off x="8050000" y="4289825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itchFamily="2" charset="0"/>
            </a:endParaRPr>
          </a:p>
        </p:txBody>
      </p:sp>
      <p:grpSp>
        <p:nvGrpSpPr>
          <p:cNvPr id="41" name="Gruppo 40"/>
          <p:cNvGrpSpPr/>
          <p:nvPr/>
        </p:nvGrpSpPr>
        <p:grpSpPr>
          <a:xfrm>
            <a:off x="539551" y="1254387"/>
            <a:ext cx="3778151" cy="3035437"/>
            <a:chOff x="640080" y="1783080"/>
            <a:chExt cx="5349240" cy="4297680"/>
          </a:xfrm>
        </p:grpSpPr>
        <p:sp>
          <p:nvSpPr>
            <p:cNvPr id="62" name="Shape 2"/>
            <p:cNvSpPr/>
            <p:nvPr/>
          </p:nvSpPr>
          <p:spPr>
            <a:xfrm>
              <a:off x="640080" y="1783080"/>
              <a:ext cx="5349240" cy="4297680"/>
            </a:xfrm>
            <a:prstGeom prst="roundRect">
              <a:avLst>
                <a:gd name="adj" fmla="val 5954"/>
              </a:avLst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50800" dist="38100" dir="13500000" algn="br" rotWithShape="0">
                <a:schemeClr val="accent1">
                  <a:alpha val="40000"/>
                </a:schemeClr>
              </a:outerShdw>
            </a:effectLst>
          </p:spPr>
        </p:sp>
        <p:sp>
          <p:nvSpPr>
            <p:cNvPr id="63" name="Shape 3"/>
            <p:cNvSpPr/>
            <p:nvPr/>
          </p:nvSpPr>
          <p:spPr>
            <a:xfrm>
              <a:off x="868680" y="2011680"/>
              <a:ext cx="548640" cy="548640"/>
            </a:xfrm>
            <a:prstGeom prst="ellipse">
              <a:avLst/>
            </a:prstGeom>
            <a:solidFill>
              <a:schemeClr val="tx2"/>
            </a:solidFill>
            <a:ln/>
          </p:spPr>
        </p:sp>
        <p:sp>
          <p:nvSpPr>
            <p:cNvPr id="64" name="Text 4"/>
            <p:cNvSpPr/>
            <p:nvPr/>
          </p:nvSpPr>
          <p:spPr>
            <a:xfrm>
              <a:off x="868680" y="201168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⟳</a:t>
              </a:r>
              <a:endParaRPr lang="en-US" sz="1700" dirty="0">
                <a:latin typeface="Montserrat" pitchFamily="2" charset="0"/>
              </a:endParaRPr>
            </a:p>
          </p:txBody>
        </p:sp>
        <p:sp>
          <p:nvSpPr>
            <p:cNvPr id="65" name="Text 5"/>
            <p:cNvSpPr/>
            <p:nvPr/>
          </p:nvSpPr>
          <p:spPr>
            <a:xfrm>
              <a:off x="1554480" y="2011680"/>
              <a:ext cx="42062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chemeClr val="accent1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State</a:t>
              </a:r>
              <a:endParaRPr lang="en-US" sz="1800" dirty="0">
                <a:solidFill>
                  <a:schemeClr val="accent1"/>
                </a:solidFill>
                <a:latin typeface="Montserrat" pitchFamily="2" charset="0"/>
              </a:endParaRPr>
            </a:p>
          </p:txBody>
        </p:sp>
        <p:sp>
          <p:nvSpPr>
            <p:cNvPr id="66" name="Text 6"/>
            <p:cNvSpPr/>
            <p:nvPr/>
          </p:nvSpPr>
          <p:spPr>
            <a:xfrm>
              <a:off x="868680" y="2651760"/>
              <a:ext cx="49377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050" dirty="0" err="1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L'Interprete</a:t>
              </a:r>
              <a:r>
                <a:rPr lang="en-US" sz="1050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50" dirty="0" err="1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delega</a:t>
              </a:r>
              <a:r>
                <a:rPr lang="en-US" sz="1050" dirty="0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50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allo </a:t>
              </a:r>
              <a:r>
                <a:rPr lang="en-US" sz="1050" dirty="0" err="1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stato</a:t>
              </a:r>
              <a:r>
                <a:rPr lang="en-US" sz="1050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50" dirty="0" err="1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corrente</a:t>
              </a:r>
              <a:r>
                <a:rPr lang="en-US" sz="1050" dirty="0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en-US" sz="1050" dirty="0" err="1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il</a:t>
              </a:r>
              <a:r>
                <a:rPr lang="en-US" sz="1050" dirty="0" smtClean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 quale </a:t>
              </a:r>
              <a:r>
                <a:rPr lang="en-US" sz="1050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decide l'evento e lo stato successivo.</a:t>
              </a:r>
              <a:endParaRPr lang="en-US" sz="1050" dirty="0">
                <a:solidFill>
                  <a:schemeClr val="bg2"/>
                </a:solidFill>
                <a:latin typeface="Montserrat" pitchFamily="2" charset="0"/>
              </a:endParaRPr>
            </a:p>
          </p:txBody>
        </p:sp>
        <p:sp>
          <p:nvSpPr>
            <p:cNvPr id="67" name="Shape 7"/>
            <p:cNvSpPr/>
            <p:nvPr/>
          </p:nvSpPr>
          <p:spPr>
            <a:xfrm>
              <a:off x="868680" y="3291840"/>
              <a:ext cx="2331720" cy="530352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schemeClr val="accent1">
                  <a:alpha val="40000"/>
                </a:schemeClr>
              </a:outerShdw>
            </a:effectLst>
          </p:spPr>
        </p:sp>
        <p:sp>
          <p:nvSpPr>
            <p:cNvPr id="68" name="Text 8"/>
            <p:cNvSpPr/>
            <p:nvPr/>
          </p:nvSpPr>
          <p:spPr>
            <a:xfrm>
              <a:off x="868680" y="3291840"/>
              <a:ext cx="233172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chemeClr val="tx2"/>
                  </a:solidFill>
                  <a:latin typeface="Montserrat" pitchFamily="2" charset="0"/>
                  <a:ea typeface="Courier New" pitchFamily="34" charset="-122"/>
                  <a:cs typeface="Courier New" pitchFamily="34" charset="-120"/>
                </a:rPr>
                <a:t>AttesaState</a:t>
              </a:r>
              <a:endParaRPr lang="en-US" sz="1150" dirty="0">
                <a:solidFill>
                  <a:schemeClr val="tx2"/>
                </a:solidFill>
                <a:latin typeface="Montserrat" pitchFamily="2" charset="0"/>
              </a:endParaRPr>
            </a:p>
          </p:txBody>
        </p:sp>
        <p:sp>
          <p:nvSpPr>
            <p:cNvPr id="69" name="Shape 9"/>
            <p:cNvSpPr/>
            <p:nvPr/>
          </p:nvSpPr>
          <p:spPr>
            <a:xfrm>
              <a:off x="3383280" y="3291840"/>
              <a:ext cx="2331720" cy="530352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12700">
              <a:noFill/>
              <a:prstDash val="solid"/>
            </a:ln>
            <a:effectLst>
              <a:outerShdw blurRad="50800" dist="38100" dir="18900000" algn="bl" rotWithShape="0">
                <a:schemeClr val="accent1">
                  <a:alpha val="40000"/>
                </a:schemeClr>
              </a:outerShdw>
            </a:effectLst>
          </p:spPr>
        </p:sp>
        <p:sp>
          <p:nvSpPr>
            <p:cNvPr id="70" name="Text 10"/>
            <p:cNvSpPr/>
            <p:nvPr/>
          </p:nvSpPr>
          <p:spPr>
            <a:xfrm>
              <a:off x="3383280" y="3291840"/>
              <a:ext cx="233172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chemeClr val="tx2"/>
                  </a:solidFill>
                  <a:latin typeface="Montserrat" pitchFamily="2" charset="0"/>
                  <a:ea typeface="Courier New" pitchFamily="34" charset="-122"/>
                  <a:cs typeface="Courier New" pitchFamily="34" charset="-120"/>
                </a:rPr>
                <a:t>AcquisizioneState</a:t>
              </a:r>
              <a:endParaRPr lang="en-US" sz="1150" dirty="0">
                <a:solidFill>
                  <a:schemeClr val="tx2"/>
                </a:solidFill>
                <a:latin typeface="Montserrat" pitchFamily="2" charset="0"/>
              </a:endParaRPr>
            </a:p>
          </p:txBody>
        </p:sp>
        <p:sp>
          <p:nvSpPr>
            <p:cNvPr id="71" name="Shape 11"/>
            <p:cNvSpPr/>
            <p:nvPr/>
          </p:nvSpPr>
          <p:spPr>
            <a:xfrm>
              <a:off x="868680" y="3950208"/>
              <a:ext cx="2331720" cy="530352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12700">
              <a:noFill/>
              <a:prstDash val="solid"/>
            </a:ln>
            <a:effectLst>
              <a:outerShdw blurRad="50800" dist="38100" dir="10800000" algn="r" rotWithShape="0">
                <a:schemeClr val="accent1">
                  <a:alpha val="40000"/>
                </a:schemeClr>
              </a:outerShdw>
            </a:effectLst>
          </p:spPr>
        </p:sp>
        <p:sp>
          <p:nvSpPr>
            <p:cNvPr id="72" name="Text 12"/>
            <p:cNvSpPr/>
            <p:nvPr/>
          </p:nvSpPr>
          <p:spPr>
            <a:xfrm>
              <a:off x="868680" y="3950208"/>
              <a:ext cx="233172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chemeClr val="tx2"/>
                  </a:solidFill>
                  <a:latin typeface="Montserrat" pitchFamily="2" charset="0"/>
                  <a:ea typeface="Courier New" pitchFamily="34" charset="-122"/>
                  <a:cs typeface="Courier New" pitchFamily="34" charset="-120"/>
                </a:rPr>
                <a:t>MovimentoState</a:t>
              </a:r>
              <a:endParaRPr lang="en-US" sz="1150" dirty="0">
                <a:solidFill>
                  <a:schemeClr val="tx2"/>
                </a:solidFill>
                <a:latin typeface="Montserrat" pitchFamily="2" charset="0"/>
              </a:endParaRPr>
            </a:p>
          </p:txBody>
        </p:sp>
        <p:sp>
          <p:nvSpPr>
            <p:cNvPr id="73" name="Shape 13"/>
            <p:cNvSpPr/>
            <p:nvPr/>
          </p:nvSpPr>
          <p:spPr>
            <a:xfrm>
              <a:off x="3383280" y="3950208"/>
              <a:ext cx="2331720" cy="530352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12700">
              <a:noFill/>
              <a:prstDash val="solid"/>
            </a:ln>
            <a:effectLst>
              <a:outerShdw blurRad="50800" dist="38100" dir="13500000" algn="br" rotWithShape="0">
                <a:schemeClr val="accent1">
                  <a:alpha val="40000"/>
                </a:schemeClr>
              </a:outerShdw>
            </a:effectLst>
          </p:spPr>
        </p:sp>
        <p:sp>
          <p:nvSpPr>
            <p:cNvPr id="74" name="Text 14"/>
            <p:cNvSpPr/>
            <p:nvPr/>
          </p:nvSpPr>
          <p:spPr>
            <a:xfrm>
              <a:off x="3383280" y="3950208"/>
              <a:ext cx="233172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chemeClr val="tx2"/>
                  </a:solidFill>
                  <a:latin typeface="Montserrat" pitchFamily="2" charset="0"/>
                  <a:ea typeface="Courier New" pitchFamily="34" charset="-122"/>
                  <a:cs typeface="Courier New" pitchFamily="34" charset="-120"/>
                </a:rPr>
                <a:t>ScrollState</a:t>
              </a:r>
              <a:endParaRPr lang="en-US" sz="1150" dirty="0">
                <a:solidFill>
                  <a:schemeClr val="tx2"/>
                </a:solidFill>
                <a:latin typeface="Montserrat" pitchFamily="2" charset="0"/>
              </a:endParaRPr>
            </a:p>
          </p:txBody>
        </p:sp>
        <p:sp>
          <p:nvSpPr>
            <p:cNvPr id="75" name="Shape 15"/>
            <p:cNvSpPr/>
            <p:nvPr/>
          </p:nvSpPr>
          <p:spPr>
            <a:xfrm>
              <a:off x="868680" y="4608576"/>
              <a:ext cx="2331720" cy="530352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12700">
              <a:noFill/>
              <a:prstDash val="solid"/>
            </a:ln>
            <a:effectLst>
              <a:outerShdw blurRad="50800" dist="38100" dir="18900000" algn="bl" rotWithShape="0">
                <a:schemeClr val="accent1">
                  <a:alpha val="40000"/>
                </a:schemeClr>
              </a:outerShdw>
            </a:effectLst>
          </p:spPr>
        </p:sp>
        <p:sp>
          <p:nvSpPr>
            <p:cNvPr id="76" name="Text 16"/>
            <p:cNvSpPr/>
            <p:nvPr/>
          </p:nvSpPr>
          <p:spPr>
            <a:xfrm>
              <a:off x="868680" y="4608576"/>
              <a:ext cx="233172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chemeClr val="tx2"/>
                  </a:solidFill>
                  <a:latin typeface="Montserrat" pitchFamily="2" charset="0"/>
                  <a:ea typeface="Courier New" pitchFamily="34" charset="-122"/>
                  <a:cs typeface="Courier New" pitchFamily="34" charset="-120"/>
                </a:rPr>
                <a:t>TrascinamentoState</a:t>
              </a:r>
              <a:endParaRPr lang="en-US" sz="1150" dirty="0">
                <a:solidFill>
                  <a:schemeClr val="tx2"/>
                </a:solidFill>
                <a:latin typeface="Montserrat" pitchFamily="2" charset="0"/>
              </a:endParaRPr>
            </a:p>
          </p:txBody>
        </p:sp>
        <p:sp>
          <p:nvSpPr>
            <p:cNvPr id="77" name="Shape 17"/>
            <p:cNvSpPr/>
            <p:nvPr/>
          </p:nvSpPr>
          <p:spPr>
            <a:xfrm>
              <a:off x="3383280" y="4608576"/>
              <a:ext cx="2331720" cy="530352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schemeClr val="accent1">
                  <a:alpha val="40000"/>
                </a:schemeClr>
              </a:outerShdw>
            </a:effectLst>
          </p:spPr>
        </p:sp>
        <p:sp>
          <p:nvSpPr>
            <p:cNvPr id="78" name="Text 18"/>
            <p:cNvSpPr/>
            <p:nvPr/>
          </p:nvSpPr>
          <p:spPr>
            <a:xfrm>
              <a:off x="3383280" y="4608576"/>
              <a:ext cx="233172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chemeClr val="tx2"/>
                  </a:solidFill>
                  <a:latin typeface="Montserrat" pitchFamily="2" charset="0"/>
                  <a:ea typeface="Courier New" pitchFamily="34" charset="-122"/>
                  <a:cs typeface="Courier New" pitchFamily="34" charset="-120"/>
                </a:rPr>
                <a:t>CalibrazioneState</a:t>
              </a:r>
              <a:endParaRPr lang="en-US" sz="1150" dirty="0">
                <a:solidFill>
                  <a:schemeClr val="tx2"/>
                </a:solidFill>
                <a:latin typeface="Montserrat" pitchFamily="2" charset="0"/>
              </a:endParaRPr>
            </a:p>
          </p:txBody>
        </p:sp>
        <p:sp>
          <p:nvSpPr>
            <p:cNvPr id="79" name="Text 19"/>
            <p:cNvSpPr/>
            <p:nvPr/>
          </p:nvSpPr>
          <p:spPr>
            <a:xfrm>
              <a:off x="868680" y="5440680"/>
              <a:ext cx="4937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Il cambio di stato avviene nel loop, in base all'esito.</a:t>
              </a:r>
              <a:endParaRPr lang="en-US" sz="1100" dirty="0">
                <a:solidFill>
                  <a:schemeClr val="bg2"/>
                </a:solidFill>
                <a:latin typeface="Montserrat" pitchFamily="2" charset="0"/>
              </a:endParaRPr>
            </a:p>
          </p:txBody>
        </p:sp>
      </p:grpSp>
      <p:sp>
        <p:nvSpPr>
          <p:cNvPr id="81" name="Google Shape;313;p39"/>
          <p:cNvSpPr txBox="1">
            <a:spLocks noGrp="1"/>
          </p:cNvSpPr>
          <p:nvPr>
            <p:ph type="title"/>
          </p:nvPr>
        </p:nvSpPr>
        <p:spPr>
          <a:xfrm>
            <a:off x="539552" y="695826"/>
            <a:ext cx="5079748" cy="42431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1" dirty="0" smtClean="0">
                <a:solidFill>
                  <a:schemeClr val="bg2"/>
                </a:solidFill>
                <a:latin typeface="Montserrat" pitchFamily="2" charset="0"/>
              </a:rPr>
              <a:t>Pattern comportamentali</a:t>
            </a:r>
            <a:endParaRPr sz="1400" b="1" dirty="0">
              <a:solidFill>
                <a:schemeClr val="bg2"/>
              </a:solidFill>
              <a:latin typeface="Montserrat" pitchFamily="2" charset="0"/>
            </a:endParaRPr>
          </a:p>
        </p:txBody>
      </p:sp>
      <p:sp>
        <p:nvSpPr>
          <p:cNvPr id="82" name="Google Shape;491;p47"/>
          <p:cNvSpPr txBox="1">
            <a:spLocks/>
          </p:cNvSpPr>
          <p:nvPr/>
        </p:nvSpPr>
        <p:spPr>
          <a:xfrm>
            <a:off x="539552" y="195486"/>
            <a:ext cx="5112568" cy="52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4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r>
              <a:rPr lang="it-IT" sz="3000" b="1" dirty="0" smtClean="0">
                <a:latin typeface="Montserrat" pitchFamily="2" charset="0"/>
              </a:rPr>
              <a:t>Riepilogo pattern</a:t>
            </a:r>
            <a:endParaRPr lang="it-IT" sz="3000" b="1" dirty="0">
              <a:latin typeface="Montserrat" pitchFamily="2" charset="0"/>
            </a:endParaRPr>
          </a:p>
        </p:txBody>
      </p:sp>
      <p:grpSp>
        <p:nvGrpSpPr>
          <p:cNvPr id="2" name="Gruppo 1"/>
          <p:cNvGrpSpPr/>
          <p:nvPr/>
        </p:nvGrpSpPr>
        <p:grpSpPr>
          <a:xfrm>
            <a:off x="4446869" y="1254387"/>
            <a:ext cx="3778151" cy="3035437"/>
            <a:chOff x="4446869" y="1254387"/>
            <a:chExt cx="3778151" cy="3035437"/>
          </a:xfrm>
        </p:grpSpPr>
        <p:grpSp>
          <p:nvGrpSpPr>
            <p:cNvPr id="42" name="Gruppo 41"/>
            <p:cNvGrpSpPr/>
            <p:nvPr/>
          </p:nvGrpSpPr>
          <p:grpSpPr>
            <a:xfrm>
              <a:off x="4446869" y="1254387"/>
              <a:ext cx="3778151" cy="3035437"/>
              <a:chOff x="6172200" y="1783080"/>
              <a:chExt cx="5349240" cy="4297680"/>
            </a:xfrm>
          </p:grpSpPr>
          <p:sp>
            <p:nvSpPr>
              <p:cNvPr id="43" name="Shape 20"/>
              <p:cNvSpPr/>
              <p:nvPr/>
            </p:nvSpPr>
            <p:spPr>
              <a:xfrm>
                <a:off x="6172200" y="1783080"/>
                <a:ext cx="5349240" cy="4297680"/>
              </a:xfrm>
              <a:prstGeom prst="roundRect">
                <a:avLst>
                  <a:gd name="adj" fmla="val 5282"/>
                </a:avLst>
              </a:prstGeom>
              <a:solidFill>
                <a:srgbClr val="FFFFFF"/>
              </a:solidFill>
              <a:ln w="12700">
                <a:noFill/>
                <a:prstDash val="solid"/>
              </a:ln>
              <a:effectLst>
                <a:outerShdw blurRad="50800" dist="38100" dir="2700000" algn="tl" rotWithShape="0">
                  <a:schemeClr val="tx2">
                    <a:alpha val="40000"/>
                  </a:schemeClr>
                </a:outerShdw>
              </a:effectLst>
            </p:spPr>
          </p:sp>
          <p:sp>
            <p:nvSpPr>
              <p:cNvPr id="44" name="Shape 21"/>
              <p:cNvSpPr/>
              <p:nvPr/>
            </p:nvSpPr>
            <p:spPr>
              <a:xfrm>
                <a:off x="6400800" y="2011680"/>
                <a:ext cx="548640" cy="548640"/>
              </a:xfrm>
              <a:prstGeom prst="ellipse">
                <a:avLst/>
              </a:prstGeom>
              <a:solidFill>
                <a:schemeClr val="accent1"/>
              </a:solidFill>
              <a:ln/>
            </p:spPr>
          </p:sp>
          <p:sp>
            <p:nvSpPr>
              <p:cNvPr id="45" name="Text 22"/>
              <p:cNvSpPr/>
              <p:nvPr/>
            </p:nvSpPr>
            <p:spPr>
              <a:xfrm>
                <a:off x="6400800" y="2011680"/>
                <a:ext cx="54864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Montserrat" pitchFamily="2" charset="0"/>
                    <a:ea typeface="Calibri" pitchFamily="34" charset="-122"/>
                    <a:cs typeface="Calibri" pitchFamily="34" charset="-120"/>
                  </a:rPr>
                  <a:t>▷</a:t>
                </a:r>
                <a:endParaRPr lang="en-US" sz="1600" dirty="0">
                  <a:latin typeface="Montserrat" pitchFamily="2" charset="0"/>
                </a:endParaRPr>
              </a:p>
            </p:txBody>
          </p:sp>
          <p:sp>
            <p:nvSpPr>
              <p:cNvPr id="46" name="Text 23"/>
              <p:cNvSpPr/>
              <p:nvPr/>
            </p:nvSpPr>
            <p:spPr>
              <a:xfrm>
                <a:off x="7086600" y="2011680"/>
                <a:ext cx="429768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2"/>
                    </a:solidFill>
                    <a:latin typeface="Montserrat" pitchFamily="2" charset="0"/>
                    <a:ea typeface="Calibri" pitchFamily="34" charset="-122"/>
                    <a:cs typeface="Calibri" pitchFamily="34" charset="-120"/>
                  </a:rPr>
                  <a:t>Command</a:t>
                </a:r>
                <a:endParaRPr lang="en-US" sz="1800" dirty="0">
                  <a:solidFill>
                    <a:schemeClr val="tx2"/>
                  </a:solidFill>
                  <a:latin typeface="Montserrat" pitchFamily="2" charset="0"/>
                </a:endParaRPr>
              </a:p>
            </p:txBody>
          </p:sp>
          <p:sp>
            <p:nvSpPr>
              <p:cNvPr id="47" name="Text 24"/>
              <p:cNvSpPr/>
              <p:nvPr/>
            </p:nvSpPr>
            <p:spPr>
              <a:xfrm>
                <a:off x="6400800" y="2651760"/>
                <a:ext cx="493776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lnSpc>
                    <a:spcPct val="105000"/>
                  </a:lnSpc>
                  <a:buNone/>
                </a:pPr>
                <a:r>
                  <a:rPr lang="en-US" sz="1050" dirty="0">
                    <a:solidFill>
                      <a:schemeClr val="bg2"/>
                    </a:solidFill>
                    <a:latin typeface="Montserrat" pitchFamily="2" charset="0"/>
                    <a:ea typeface="Calibri" pitchFamily="34" charset="-122"/>
                    <a:cs typeface="Calibri" pitchFamily="34" charset="-120"/>
                  </a:rPr>
                  <a:t>Ogni azione è un comando. Il </a:t>
                </a:r>
                <a:r>
                  <a:rPr lang="en-US" sz="1050" dirty="0" err="1">
                    <a:solidFill>
                      <a:schemeClr val="bg2"/>
                    </a:solidFill>
                    <a:latin typeface="Montserrat" pitchFamily="2" charset="0"/>
                    <a:ea typeface="Calibri" pitchFamily="34" charset="-122"/>
                    <a:cs typeface="Calibri" pitchFamily="34" charset="-120"/>
                  </a:rPr>
                  <a:t>GestoreAzione</a:t>
                </a:r>
                <a:r>
                  <a:rPr lang="en-US" sz="1050" dirty="0">
                    <a:solidFill>
                      <a:schemeClr val="bg2"/>
                    </a:solidFill>
                    <a:latin typeface="Montserrat" pitchFamily="2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050" dirty="0" err="1" smtClean="0">
                    <a:solidFill>
                      <a:schemeClr val="bg2"/>
                    </a:solidFill>
                    <a:latin typeface="Montserrat" pitchFamily="2" charset="0"/>
                    <a:ea typeface="Calibri" pitchFamily="34" charset="-122"/>
                    <a:cs typeface="Calibri" pitchFamily="34" charset="-120"/>
                  </a:rPr>
                  <a:t>sceglie</a:t>
                </a:r>
                <a:r>
                  <a:rPr lang="en-US" sz="1050" dirty="0" smtClean="0">
                    <a:solidFill>
                      <a:schemeClr val="bg2"/>
                    </a:solidFill>
                    <a:latin typeface="Montserrat" pitchFamily="2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050" dirty="0">
                    <a:solidFill>
                      <a:schemeClr val="bg2"/>
                    </a:solidFill>
                    <a:latin typeface="Montserrat" pitchFamily="2" charset="0"/>
                    <a:ea typeface="Calibri" pitchFamily="34" charset="-122"/>
                    <a:cs typeface="Calibri" pitchFamily="34" charset="-120"/>
                  </a:rPr>
                  <a:t>il comando; l'IniettoreAzione lo esegue sul SO.</a:t>
                </a:r>
                <a:endParaRPr lang="en-US" sz="1050" dirty="0">
                  <a:solidFill>
                    <a:schemeClr val="bg2"/>
                  </a:solidFill>
                  <a:latin typeface="Montserrat" pitchFamily="2" charset="0"/>
                </a:endParaRPr>
              </a:p>
            </p:txBody>
          </p:sp>
          <p:sp>
            <p:nvSpPr>
              <p:cNvPr id="48" name="Shape 25"/>
              <p:cNvSpPr/>
              <p:nvPr/>
            </p:nvSpPr>
            <p:spPr>
              <a:xfrm>
                <a:off x="6400801" y="3291840"/>
                <a:ext cx="2731172" cy="457200"/>
              </a:xfrm>
              <a:prstGeom prst="roundRect">
                <a:avLst>
                  <a:gd name="adj" fmla="val 16000"/>
                </a:avLst>
              </a:prstGeom>
              <a:solidFill>
                <a:schemeClr val="tx1"/>
              </a:solidFill>
              <a:ln w="12700">
                <a:noFill/>
                <a:prstDash val="solid"/>
              </a:ln>
              <a:effectLst>
                <a:outerShdw blurRad="50800" dist="38100" dir="13500000" algn="br" rotWithShape="0">
                  <a:schemeClr val="tx2">
                    <a:alpha val="40000"/>
                  </a:schemeClr>
                </a:outerShdw>
              </a:effectLst>
            </p:spPr>
          </p:sp>
          <p:sp>
            <p:nvSpPr>
              <p:cNvPr id="49" name="Text 26"/>
              <p:cNvSpPr/>
              <p:nvPr/>
            </p:nvSpPr>
            <p:spPr>
              <a:xfrm>
                <a:off x="6537961" y="3291840"/>
                <a:ext cx="2527353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chemeClr val="accent1"/>
                    </a:solidFill>
                    <a:latin typeface="Montserrat" pitchFamily="2" charset="0"/>
                    <a:ea typeface="Courier New" pitchFamily="34" charset="-122"/>
                    <a:cs typeface="Courier New" pitchFamily="34" charset="-120"/>
                  </a:rPr>
                  <a:t>ClickCommand</a:t>
                </a:r>
                <a:endParaRPr lang="en-US" sz="1100" dirty="0">
                  <a:solidFill>
                    <a:schemeClr val="accent1"/>
                  </a:solidFill>
                  <a:latin typeface="Montserrat" pitchFamily="2" charset="0"/>
                </a:endParaRPr>
              </a:p>
            </p:txBody>
          </p:sp>
          <p:sp>
            <p:nvSpPr>
              <p:cNvPr id="50" name="Shape 27"/>
              <p:cNvSpPr/>
              <p:nvPr/>
            </p:nvSpPr>
            <p:spPr>
              <a:xfrm>
                <a:off x="6400801" y="3840480"/>
                <a:ext cx="2731172" cy="457200"/>
              </a:xfrm>
              <a:prstGeom prst="roundRect">
                <a:avLst>
                  <a:gd name="adj" fmla="val 16000"/>
                </a:avLst>
              </a:prstGeom>
              <a:solidFill>
                <a:schemeClr val="tx1"/>
              </a:solidFill>
              <a:ln w="12700">
                <a:noFill/>
                <a:prstDash val="solid"/>
              </a:ln>
              <a:effectLst>
                <a:outerShdw blurRad="50800" dist="38100" dir="18900000" algn="bl" rotWithShape="0">
                  <a:schemeClr val="tx2">
                    <a:alpha val="40000"/>
                  </a:schemeClr>
                </a:outerShdw>
              </a:effectLst>
            </p:spPr>
          </p:sp>
          <p:sp>
            <p:nvSpPr>
              <p:cNvPr id="51" name="Text 28"/>
              <p:cNvSpPr/>
              <p:nvPr/>
            </p:nvSpPr>
            <p:spPr>
              <a:xfrm>
                <a:off x="6537961" y="3840480"/>
                <a:ext cx="2527353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chemeClr val="accent1"/>
                    </a:solidFill>
                    <a:latin typeface="Montserrat" pitchFamily="2" charset="0"/>
                    <a:ea typeface="Courier New" pitchFamily="34" charset="-122"/>
                    <a:cs typeface="Courier New" pitchFamily="34" charset="-120"/>
                  </a:rPr>
                  <a:t>ScrollCommand</a:t>
                </a:r>
                <a:endParaRPr lang="en-US" sz="1100" dirty="0">
                  <a:solidFill>
                    <a:schemeClr val="accent1"/>
                  </a:solidFill>
                  <a:latin typeface="Montserrat" pitchFamily="2" charset="0"/>
                </a:endParaRPr>
              </a:p>
            </p:txBody>
          </p:sp>
          <p:sp>
            <p:nvSpPr>
              <p:cNvPr id="52" name="Shape 29"/>
              <p:cNvSpPr/>
              <p:nvPr/>
            </p:nvSpPr>
            <p:spPr>
              <a:xfrm>
                <a:off x="6400801" y="4389120"/>
                <a:ext cx="2731172" cy="457200"/>
              </a:xfrm>
              <a:prstGeom prst="roundRect">
                <a:avLst>
                  <a:gd name="adj" fmla="val 16000"/>
                </a:avLst>
              </a:prstGeom>
              <a:solidFill>
                <a:schemeClr val="tx1"/>
              </a:solidFill>
              <a:ln w="12700">
                <a:noFill/>
                <a:prstDash val="solid"/>
              </a:ln>
              <a:effectLst>
                <a:outerShdw blurRad="50800" dist="38100" dir="13500000" algn="br" rotWithShape="0">
                  <a:schemeClr val="tx2">
                    <a:alpha val="40000"/>
                  </a:schemeClr>
                </a:outerShdw>
              </a:effectLst>
            </p:spPr>
          </p:sp>
          <p:sp>
            <p:nvSpPr>
              <p:cNvPr id="53" name="Text 30"/>
              <p:cNvSpPr/>
              <p:nvPr/>
            </p:nvSpPr>
            <p:spPr>
              <a:xfrm>
                <a:off x="6537961" y="4389120"/>
                <a:ext cx="2527353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chemeClr val="accent1"/>
                    </a:solidFill>
                    <a:latin typeface="Montserrat" pitchFamily="2" charset="0"/>
                    <a:ea typeface="Courier New" pitchFamily="34" charset="-122"/>
                    <a:cs typeface="Courier New" pitchFamily="34" charset="-120"/>
                  </a:rPr>
                  <a:t>MovimentoCommand</a:t>
                </a:r>
                <a:endParaRPr lang="en-US" sz="1100" dirty="0">
                  <a:solidFill>
                    <a:schemeClr val="accent1"/>
                  </a:solidFill>
                  <a:latin typeface="Montserrat" pitchFamily="2" charset="0"/>
                </a:endParaRPr>
              </a:p>
            </p:txBody>
          </p:sp>
          <p:sp>
            <p:nvSpPr>
              <p:cNvPr id="54" name="Shape 31"/>
              <p:cNvSpPr/>
              <p:nvPr/>
            </p:nvSpPr>
            <p:spPr>
              <a:xfrm>
                <a:off x="6400801" y="4937760"/>
                <a:ext cx="2731172" cy="457200"/>
              </a:xfrm>
              <a:prstGeom prst="roundRect">
                <a:avLst>
                  <a:gd name="adj" fmla="val 16000"/>
                </a:avLst>
              </a:prstGeom>
              <a:solidFill>
                <a:schemeClr val="tx1"/>
              </a:solidFill>
              <a:ln w="12700">
                <a:noFill/>
                <a:prstDash val="solid"/>
              </a:ln>
              <a:effectLst>
                <a:outerShdw blurRad="50800" dist="38100" dir="18900000" algn="bl" rotWithShape="0">
                  <a:schemeClr val="tx2">
                    <a:alpha val="40000"/>
                  </a:schemeClr>
                </a:outerShdw>
              </a:effectLst>
            </p:spPr>
          </p:sp>
          <p:sp>
            <p:nvSpPr>
              <p:cNvPr id="55" name="Text 32"/>
              <p:cNvSpPr/>
              <p:nvPr/>
            </p:nvSpPr>
            <p:spPr>
              <a:xfrm>
                <a:off x="6537961" y="4937760"/>
                <a:ext cx="2527353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chemeClr val="accent1"/>
                    </a:solidFill>
                    <a:latin typeface="Montserrat" pitchFamily="2" charset="0"/>
                    <a:ea typeface="Courier New" pitchFamily="34" charset="-122"/>
                    <a:cs typeface="Courier New" pitchFamily="34" charset="-120"/>
                  </a:rPr>
                  <a:t>RilascioCommand</a:t>
                </a:r>
                <a:endParaRPr lang="en-US" sz="1100" dirty="0">
                  <a:solidFill>
                    <a:schemeClr val="accent1"/>
                  </a:solidFill>
                  <a:latin typeface="Montserrat" pitchFamily="2" charset="0"/>
                </a:endParaRPr>
              </a:p>
            </p:txBody>
          </p:sp>
          <p:sp>
            <p:nvSpPr>
              <p:cNvPr id="56" name="Shape 33"/>
              <p:cNvSpPr/>
              <p:nvPr/>
            </p:nvSpPr>
            <p:spPr>
              <a:xfrm>
                <a:off x="6400801" y="5486401"/>
                <a:ext cx="2731172" cy="457200"/>
              </a:xfrm>
              <a:prstGeom prst="roundRect">
                <a:avLst>
                  <a:gd name="adj" fmla="val 16000"/>
                </a:avLst>
              </a:prstGeom>
              <a:solidFill>
                <a:schemeClr val="tx1"/>
              </a:solidFill>
              <a:ln w="12700">
                <a:noFill/>
                <a:prstDash val="solid"/>
              </a:ln>
              <a:effectLst>
                <a:outerShdw blurRad="50800" dist="38100" dir="13500000" algn="br" rotWithShape="0">
                  <a:schemeClr val="tx2">
                    <a:alpha val="40000"/>
                  </a:schemeClr>
                </a:outerShdw>
              </a:effectLst>
            </p:spPr>
          </p:sp>
          <p:sp>
            <p:nvSpPr>
              <p:cNvPr id="57" name="Text 34"/>
              <p:cNvSpPr/>
              <p:nvPr/>
            </p:nvSpPr>
            <p:spPr>
              <a:xfrm>
                <a:off x="6537961" y="5486401"/>
                <a:ext cx="2527353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chemeClr val="accent1"/>
                    </a:solidFill>
                    <a:latin typeface="Montserrat" pitchFamily="2" charset="0"/>
                    <a:ea typeface="Courier New" pitchFamily="34" charset="-122"/>
                    <a:cs typeface="Courier New" pitchFamily="34" charset="-120"/>
                  </a:rPr>
                  <a:t>PressioneProlungata</a:t>
                </a:r>
                <a:endParaRPr lang="en-US" sz="1100" dirty="0">
                  <a:solidFill>
                    <a:schemeClr val="accent1"/>
                  </a:solidFill>
                  <a:latin typeface="Montserrat" pitchFamily="2" charset="0"/>
                </a:endParaRPr>
              </a:p>
            </p:txBody>
          </p:sp>
          <p:sp>
            <p:nvSpPr>
              <p:cNvPr id="58" name="Shape 35"/>
              <p:cNvSpPr/>
              <p:nvPr/>
            </p:nvSpPr>
            <p:spPr>
              <a:xfrm>
                <a:off x="9305958" y="3291840"/>
                <a:ext cx="2032603" cy="1280160"/>
              </a:xfrm>
              <a:prstGeom prst="roundRect">
                <a:avLst>
                  <a:gd name="adj" fmla="val 6429"/>
                </a:avLst>
              </a:prstGeom>
              <a:solidFill>
                <a:schemeClr val="tx1"/>
              </a:solidFill>
              <a:ln/>
              <a:effectLst>
                <a:outerShdw blurRad="50800" dist="38100" dir="13500000" algn="br" rotWithShape="0">
                  <a:schemeClr val="accent1">
                    <a:alpha val="40000"/>
                  </a:schemeClr>
                </a:outerShdw>
              </a:effectLst>
            </p:spPr>
          </p:sp>
          <p:sp>
            <p:nvSpPr>
              <p:cNvPr id="59" name="Text 36"/>
              <p:cNvSpPr/>
              <p:nvPr/>
            </p:nvSpPr>
            <p:spPr>
              <a:xfrm>
                <a:off x="9449873" y="3383280"/>
                <a:ext cx="1797247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250" b="1" dirty="0">
                    <a:solidFill>
                      <a:schemeClr val="tx2"/>
                    </a:solidFill>
                    <a:latin typeface="Montserrat" pitchFamily="2" charset="0"/>
                    <a:ea typeface="Calibri" pitchFamily="34" charset="-122"/>
                    <a:cs typeface="Calibri" pitchFamily="34" charset="-120"/>
                  </a:rPr>
                  <a:t>Null Object</a:t>
                </a:r>
                <a:r>
                  <a:rPr lang="en-US" sz="1250" b="1" dirty="0">
                    <a:solidFill>
                      <a:schemeClr val="accent1"/>
                    </a:solidFill>
                    <a:latin typeface="Montserrat" pitchFamily="2" charset="0"/>
                    <a:ea typeface="Calibri" pitchFamily="34" charset="-122"/>
                    <a:cs typeface="Calibri" pitchFamily="34" charset="-120"/>
                  </a:rPr>
                  <a:t>
</a:t>
                </a:r>
                <a:endParaRPr lang="en-US" sz="1100" dirty="0">
                  <a:solidFill>
                    <a:schemeClr val="accent1"/>
                  </a:solidFill>
                  <a:latin typeface="Montserrat" pitchFamily="2" charset="0"/>
                </a:endParaRPr>
              </a:p>
            </p:txBody>
          </p:sp>
          <p:sp>
            <p:nvSpPr>
              <p:cNvPr id="60" name="Shape 37"/>
              <p:cNvSpPr/>
              <p:nvPr/>
            </p:nvSpPr>
            <p:spPr>
              <a:xfrm>
                <a:off x="9305958" y="4769716"/>
                <a:ext cx="2032603" cy="1143000"/>
              </a:xfrm>
              <a:prstGeom prst="roundRect">
                <a:avLst>
                  <a:gd name="adj" fmla="val 7200"/>
                </a:avLst>
              </a:prstGeom>
              <a:solidFill>
                <a:schemeClr val="tx1"/>
              </a:solidFill>
              <a:ln/>
              <a:effectLst>
                <a:outerShdw blurRad="50800" dist="38100" dir="18900000" algn="bl" rotWithShape="0">
                  <a:schemeClr val="accent1">
                    <a:alpha val="40000"/>
                  </a:schemeClr>
                </a:outerShdw>
              </a:effectLst>
            </p:spPr>
          </p:sp>
          <p:sp>
            <p:nvSpPr>
              <p:cNvPr id="61" name="Text 38"/>
              <p:cNvSpPr/>
              <p:nvPr/>
            </p:nvSpPr>
            <p:spPr>
              <a:xfrm>
                <a:off x="9449873" y="4861155"/>
                <a:ext cx="1797247" cy="96012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250" b="1" dirty="0">
                    <a:solidFill>
                      <a:schemeClr val="tx2"/>
                    </a:solidFill>
                    <a:latin typeface="Montserrat" pitchFamily="2" charset="0"/>
                    <a:ea typeface="Calibri" pitchFamily="34" charset="-122"/>
                    <a:cs typeface="Calibri" pitchFamily="34" charset="-120"/>
                  </a:rPr>
                  <a:t>Singleton</a:t>
                </a:r>
                <a:r>
                  <a:rPr lang="en-US" sz="1250" b="1" dirty="0">
                    <a:solidFill>
                      <a:srgbClr val="534AB7"/>
                    </a:solidFill>
                    <a:latin typeface="Montserrat" pitchFamily="2" charset="0"/>
                    <a:ea typeface="Calibri" pitchFamily="34" charset="-122"/>
                    <a:cs typeface="Calibri" pitchFamily="34" charset="-120"/>
                  </a:rPr>
                  <a:t>
</a:t>
                </a:r>
                <a:r>
                  <a:rPr lang="en-US" sz="1000" dirty="0">
                    <a:solidFill>
                      <a:schemeClr val="bg2"/>
                    </a:solidFill>
                    <a:latin typeface="Montserrat" pitchFamily="2" charset="0"/>
                    <a:ea typeface="Calibri" pitchFamily="34" charset="-122"/>
                    <a:cs typeface="Calibri" pitchFamily="34" charset="-120"/>
                  </a:rPr>
                  <a:t>IniettoreAzione: unico punto d'accesso a Robot</a:t>
                </a:r>
                <a:endParaRPr lang="en-US" dirty="0">
                  <a:solidFill>
                    <a:schemeClr val="bg2"/>
                  </a:solidFill>
                  <a:latin typeface="Montserrat" pitchFamily="2" charset="0"/>
                </a:endParaRPr>
              </a:p>
            </p:txBody>
          </p:sp>
        </p:grpSp>
        <p:sp>
          <p:nvSpPr>
            <p:cNvPr id="80" name="Shape 25"/>
            <p:cNvSpPr/>
            <p:nvPr/>
          </p:nvSpPr>
          <p:spPr>
            <a:xfrm>
              <a:off x="6689871" y="2715766"/>
              <a:ext cx="1360129" cy="322919"/>
            </a:xfrm>
            <a:prstGeom prst="roundRect">
              <a:avLst>
                <a:gd name="adj" fmla="val 16000"/>
              </a:avLst>
            </a:prstGeom>
            <a:solidFill>
              <a:schemeClr val="tx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schemeClr val="tx2">
                  <a:alpha val="40000"/>
                </a:schemeClr>
              </a:outerShdw>
            </a:effectLst>
          </p:spPr>
        </p:sp>
        <p:sp>
          <p:nvSpPr>
            <p:cNvPr id="83" name="Text 26"/>
            <p:cNvSpPr/>
            <p:nvPr/>
          </p:nvSpPr>
          <p:spPr>
            <a:xfrm>
              <a:off x="6728811" y="2715766"/>
              <a:ext cx="1295035" cy="3229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 err="1" smtClean="0">
                  <a:solidFill>
                    <a:schemeClr val="accent1"/>
                  </a:solidFill>
                  <a:latin typeface="Montserrat" pitchFamily="2" charset="0"/>
                  <a:ea typeface="Courier New" pitchFamily="34" charset="-122"/>
                  <a:cs typeface="Courier New" pitchFamily="34" charset="-120"/>
                </a:rPr>
                <a:t>NullObjectCommand</a:t>
              </a:r>
              <a:endParaRPr lang="en-US" sz="900" dirty="0">
                <a:solidFill>
                  <a:schemeClr val="accent1"/>
                </a:solidFill>
                <a:latin typeface="Montserra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499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" grpId="0" animBg="1"/>
      <p:bldP spid="81" grpId="0"/>
      <p:bldP spid="8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o 1"/>
          <p:cNvGrpSpPr/>
          <p:nvPr/>
        </p:nvGrpSpPr>
        <p:grpSpPr>
          <a:xfrm>
            <a:off x="179512" y="1690990"/>
            <a:ext cx="2053932" cy="1960880"/>
            <a:chOff x="179512" y="1690990"/>
            <a:chExt cx="2053932" cy="1960880"/>
          </a:xfrm>
        </p:grpSpPr>
        <p:sp>
          <p:nvSpPr>
            <p:cNvPr id="14" name="Shape 3"/>
            <p:cNvSpPr/>
            <p:nvPr/>
          </p:nvSpPr>
          <p:spPr>
            <a:xfrm>
              <a:off x="179512" y="1690990"/>
              <a:ext cx="2053932" cy="1960880"/>
            </a:xfrm>
            <a:prstGeom prst="roundRect">
              <a:avLst>
                <a:gd name="adj" fmla="val 6972"/>
              </a:avLst>
            </a:prstGeom>
            <a:solidFill>
              <a:schemeClr val="tx1"/>
            </a:solidFill>
            <a:ln w="19050">
              <a:noFill/>
              <a:prstDash val="solid"/>
            </a:ln>
            <a:effectLst>
              <a:outerShdw blurRad="50800" dist="38100" dir="13500000" algn="br" rotWithShape="0">
                <a:schemeClr val="tx2">
                  <a:alpha val="40000"/>
                </a:schemeClr>
              </a:outerShdw>
            </a:effectLst>
          </p:spPr>
        </p:sp>
        <p:sp>
          <p:nvSpPr>
            <p:cNvPr id="15" name="Shape 4"/>
            <p:cNvSpPr/>
            <p:nvPr/>
          </p:nvSpPr>
          <p:spPr>
            <a:xfrm>
              <a:off x="289229" y="1779662"/>
              <a:ext cx="452511" cy="452511"/>
            </a:xfrm>
            <a:prstGeom prst="ellips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tx2"/>
                </a:gs>
              </a:gsLst>
              <a:path path="circle">
                <a:fillToRect l="100000" t="100000"/>
              </a:path>
              <a:tileRect r="-100000" b="-100000"/>
            </a:gradFill>
            <a:ln/>
          </p:spPr>
        </p:sp>
        <p:sp>
          <p:nvSpPr>
            <p:cNvPr id="16" name="Text 5"/>
            <p:cNvSpPr/>
            <p:nvPr/>
          </p:nvSpPr>
          <p:spPr>
            <a:xfrm>
              <a:off x="289229" y="1779662"/>
              <a:ext cx="452511" cy="4525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◆</a:t>
              </a:r>
              <a:endParaRPr lang="en-US" sz="1600" dirty="0">
                <a:solidFill>
                  <a:schemeClr val="tx1"/>
                </a:solidFill>
                <a:latin typeface="Montserrat" pitchFamily="2" charset="0"/>
              </a:endParaRPr>
            </a:p>
          </p:txBody>
        </p:sp>
        <p:sp>
          <p:nvSpPr>
            <p:cNvPr id="17" name="Text 6"/>
            <p:cNvSpPr/>
            <p:nvPr/>
          </p:nvSpPr>
          <p:spPr>
            <a:xfrm>
              <a:off x="817159" y="1779662"/>
              <a:ext cx="1265450" cy="4525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chemeClr val="tx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Subject</a:t>
              </a:r>
              <a:endParaRPr lang="en-US" sz="1500" dirty="0">
                <a:solidFill>
                  <a:schemeClr val="tx2"/>
                </a:solidFill>
                <a:latin typeface="Montserrat" pitchFamily="2" charset="0"/>
              </a:endParaRPr>
            </a:p>
          </p:txBody>
        </p:sp>
        <p:sp>
          <p:nvSpPr>
            <p:cNvPr id="18" name="Text 7"/>
            <p:cNvSpPr/>
            <p:nvPr/>
          </p:nvSpPr>
          <p:spPr>
            <a:xfrm>
              <a:off x="251521" y="2383010"/>
              <a:ext cx="1831088" cy="6033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lnSpc>
                  <a:spcPct val="115000"/>
                </a:lnSpc>
                <a:buClr>
                  <a:schemeClr val="tx2"/>
                </a:buClr>
                <a:buFont typeface="Courier New" pitchFamily="49" charset="0"/>
                <a:buChar char="o"/>
              </a:pPr>
              <a:r>
                <a:rPr lang="en-US" sz="1100" dirty="0">
                  <a:solidFill>
                    <a:schemeClr val="bg2"/>
                  </a:solidFill>
                  <a:latin typeface="Montserrat" pitchFamily="2" charset="0"/>
                  <a:ea typeface="Courier New" pitchFamily="34" charset="-122"/>
                  <a:cs typeface="Courier New" pitchFamily="34" charset="-120"/>
                </a:rPr>
                <a:t>DeviceBridgeFacade</a:t>
              </a:r>
              <a:endParaRPr lang="en-US" sz="1100" dirty="0">
                <a:solidFill>
                  <a:schemeClr val="bg2"/>
                </a:solidFill>
                <a:latin typeface="Montserrat" pitchFamily="2" charset="0"/>
              </a:endParaRPr>
            </a:p>
            <a:p>
              <a:pPr marL="171450" indent="-171450">
                <a:lnSpc>
                  <a:spcPct val="115000"/>
                </a:lnSpc>
                <a:buClr>
                  <a:schemeClr val="tx2"/>
                </a:buClr>
                <a:buFont typeface="Courier New" pitchFamily="49" charset="0"/>
                <a:buChar char="o"/>
              </a:pPr>
              <a:r>
                <a:rPr lang="en-US" sz="1100" dirty="0">
                  <a:solidFill>
                    <a:schemeClr val="bg2"/>
                  </a:solidFill>
                  <a:latin typeface="Montserrat" pitchFamily="2" charset="0"/>
                  <a:ea typeface="Courier New" pitchFamily="34" charset="-122"/>
                  <a:cs typeface="Courier New" pitchFamily="34" charset="-120"/>
                </a:rPr>
                <a:t>Interprete</a:t>
              </a:r>
              <a:endParaRPr lang="en-US" sz="1100" dirty="0">
                <a:solidFill>
                  <a:schemeClr val="bg2"/>
                </a:solidFill>
                <a:latin typeface="Montserrat" pitchFamily="2" charset="0"/>
              </a:endParaRPr>
            </a:p>
          </p:txBody>
        </p:sp>
        <p:sp>
          <p:nvSpPr>
            <p:cNvPr id="19" name="Text 8"/>
            <p:cNvSpPr/>
            <p:nvPr/>
          </p:nvSpPr>
          <p:spPr>
            <a:xfrm>
              <a:off x="251520" y="2986358"/>
              <a:ext cx="1831089" cy="5279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050" dirty="0">
                  <a:solidFill>
                    <a:schemeClr val="bg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mantengono la lista degli observer e chiamano i loro metodi</a:t>
              </a:r>
              <a:endParaRPr lang="en-US" sz="1050" dirty="0">
                <a:solidFill>
                  <a:schemeClr val="bg2"/>
                </a:solidFill>
                <a:latin typeface="Montserrat" pitchFamily="2" charset="0"/>
              </a:endParaRPr>
            </a:p>
          </p:txBody>
        </p:sp>
      </p:grpSp>
      <p:grpSp>
        <p:nvGrpSpPr>
          <p:cNvPr id="6" name="Gruppo 5"/>
          <p:cNvGrpSpPr/>
          <p:nvPr/>
        </p:nvGrpSpPr>
        <p:grpSpPr>
          <a:xfrm>
            <a:off x="2339752" y="2181210"/>
            <a:ext cx="829603" cy="678766"/>
            <a:chOff x="2339752" y="2181210"/>
            <a:chExt cx="829603" cy="678766"/>
          </a:xfrm>
        </p:grpSpPr>
        <p:sp>
          <p:nvSpPr>
            <p:cNvPr id="20" name="Shape 9"/>
            <p:cNvSpPr/>
            <p:nvPr/>
          </p:nvSpPr>
          <p:spPr>
            <a:xfrm>
              <a:off x="2415170" y="2482884"/>
              <a:ext cx="678766" cy="377092"/>
            </a:xfrm>
            <a:prstGeom prst="rightArrow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tx2"/>
                </a:gs>
              </a:gsLst>
              <a:path path="circle">
                <a:fillToRect l="100000" t="100000"/>
              </a:path>
              <a:tileRect r="-100000" b="-100000"/>
            </a:gradFill>
            <a:ln/>
          </p:spPr>
        </p:sp>
        <p:sp>
          <p:nvSpPr>
            <p:cNvPr id="21" name="Text 10"/>
            <p:cNvSpPr/>
            <p:nvPr/>
          </p:nvSpPr>
          <p:spPr>
            <a:xfrm>
              <a:off x="2339752" y="2181210"/>
              <a:ext cx="829603" cy="2639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i="1" dirty="0">
                  <a:solidFill>
                    <a:schemeClr val="tx2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notifica</a:t>
              </a:r>
              <a:endParaRPr lang="en-US" sz="1050" dirty="0">
                <a:solidFill>
                  <a:schemeClr val="tx2"/>
                </a:solidFill>
                <a:latin typeface="Montserrat" pitchFamily="2" charset="0"/>
              </a:endParaRPr>
            </a:p>
          </p:txBody>
        </p:sp>
      </p:grpSp>
      <p:grpSp>
        <p:nvGrpSpPr>
          <p:cNvPr id="7" name="Gruppo 6"/>
          <p:cNvGrpSpPr/>
          <p:nvPr/>
        </p:nvGrpSpPr>
        <p:grpSpPr>
          <a:xfrm>
            <a:off x="3347864" y="2123038"/>
            <a:ext cx="1775550" cy="1272846"/>
            <a:chOff x="3347864" y="2123038"/>
            <a:chExt cx="1775550" cy="1272846"/>
          </a:xfrm>
        </p:grpSpPr>
        <p:sp>
          <p:nvSpPr>
            <p:cNvPr id="22" name="Shape 11"/>
            <p:cNvSpPr/>
            <p:nvPr/>
          </p:nvSpPr>
          <p:spPr>
            <a:xfrm>
              <a:off x="3347864" y="2123038"/>
              <a:ext cx="1775550" cy="552766"/>
            </a:xfrm>
            <a:prstGeom prst="roundRect">
              <a:avLst>
                <a:gd name="adj" fmla="val 16741"/>
              </a:avLst>
            </a:prstGeom>
            <a:solidFill>
              <a:srgbClr val="FFFFFF"/>
            </a:solidFill>
            <a:ln/>
            <a:effectLst>
              <a:outerShdw blurRad="50800" dist="38100" dir="13500000" algn="br" rotWithShape="0">
                <a:schemeClr val="accent1">
                  <a:alpha val="40000"/>
                </a:schemeClr>
              </a:outerShdw>
            </a:effectLst>
          </p:spPr>
        </p:sp>
        <p:sp>
          <p:nvSpPr>
            <p:cNvPr id="23" name="Text 12"/>
            <p:cNvSpPr/>
            <p:nvPr/>
          </p:nvSpPr>
          <p:spPr>
            <a:xfrm>
              <a:off x="3460992" y="2267822"/>
              <a:ext cx="1648725" cy="2639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chemeClr val="accent1"/>
                  </a:solidFill>
                  <a:latin typeface="Montserrat" pitchFamily="2" charset="0"/>
                  <a:ea typeface="Courier New" pitchFamily="34" charset="-122"/>
                  <a:cs typeface="Courier New" pitchFamily="34" charset="-120"/>
                </a:rPr>
                <a:t>IDeviceObserver  «interface»</a:t>
              </a:r>
              <a:endParaRPr lang="en-US" sz="1150" dirty="0">
                <a:solidFill>
                  <a:schemeClr val="accent1"/>
                </a:solidFill>
                <a:latin typeface="Montserrat" pitchFamily="2" charset="0"/>
              </a:endParaRPr>
            </a:p>
          </p:txBody>
        </p:sp>
        <p:sp>
          <p:nvSpPr>
            <p:cNvPr id="25" name="Shape 14"/>
            <p:cNvSpPr/>
            <p:nvPr/>
          </p:nvSpPr>
          <p:spPr>
            <a:xfrm>
              <a:off x="3347864" y="2843118"/>
              <a:ext cx="1775550" cy="552766"/>
            </a:xfrm>
            <a:prstGeom prst="roundRect">
              <a:avLst>
                <a:gd name="adj" fmla="val 14893"/>
              </a:avLst>
            </a:prstGeom>
            <a:solidFill>
              <a:srgbClr val="FFFFFF"/>
            </a:solidFill>
            <a:ln/>
            <a:effectLst>
              <a:outerShdw blurRad="50800" dist="38100" dir="18900000" algn="bl" rotWithShape="0">
                <a:schemeClr val="accent1">
                  <a:alpha val="40000"/>
                </a:schemeClr>
              </a:outerShdw>
            </a:effectLst>
          </p:spPr>
        </p:sp>
        <p:sp>
          <p:nvSpPr>
            <p:cNvPr id="26" name="Text 15"/>
            <p:cNvSpPr/>
            <p:nvPr/>
          </p:nvSpPr>
          <p:spPr>
            <a:xfrm>
              <a:off x="3460992" y="2987903"/>
              <a:ext cx="1648725" cy="2639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chemeClr val="accent1"/>
                  </a:solidFill>
                  <a:latin typeface="Montserrat" pitchFamily="2" charset="0"/>
                  <a:ea typeface="Courier New" pitchFamily="34" charset="-122"/>
                  <a:cs typeface="Courier New" pitchFamily="34" charset="-120"/>
                </a:rPr>
                <a:t>IInterpreteObserver  «interface»</a:t>
              </a:r>
              <a:endParaRPr lang="en-US" sz="1150" dirty="0">
                <a:solidFill>
                  <a:schemeClr val="accent1"/>
                </a:solidFill>
                <a:latin typeface="Montserrat" pitchFamily="2" charset="0"/>
              </a:endParaRPr>
            </a:p>
          </p:txBody>
        </p:sp>
      </p:grpSp>
      <p:grpSp>
        <p:nvGrpSpPr>
          <p:cNvPr id="5" name="Gruppo 4"/>
          <p:cNvGrpSpPr/>
          <p:nvPr/>
        </p:nvGrpSpPr>
        <p:grpSpPr>
          <a:xfrm>
            <a:off x="5179146" y="2211710"/>
            <a:ext cx="905022" cy="678766"/>
            <a:chOff x="5179146" y="2211710"/>
            <a:chExt cx="905022" cy="678766"/>
          </a:xfrm>
        </p:grpSpPr>
        <p:sp>
          <p:nvSpPr>
            <p:cNvPr id="28" name="Shape 17"/>
            <p:cNvSpPr/>
            <p:nvPr/>
          </p:nvSpPr>
          <p:spPr>
            <a:xfrm>
              <a:off x="5292273" y="2513384"/>
              <a:ext cx="678766" cy="377092"/>
            </a:xfrm>
            <a:prstGeom prst="rightArrow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tx2"/>
                </a:gs>
              </a:gsLst>
              <a:path path="circle">
                <a:fillToRect l="100000" t="100000"/>
              </a:path>
              <a:tileRect r="-100000" b="-100000"/>
            </a:gradFill>
            <a:ln/>
          </p:spPr>
        </p:sp>
        <p:sp>
          <p:nvSpPr>
            <p:cNvPr id="29" name="Text 18"/>
            <p:cNvSpPr/>
            <p:nvPr/>
          </p:nvSpPr>
          <p:spPr>
            <a:xfrm>
              <a:off x="5179146" y="2211710"/>
              <a:ext cx="905022" cy="2639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i="1" dirty="0">
                  <a:solidFill>
                    <a:schemeClr val="accent1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implementa</a:t>
              </a:r>
              <a:endParaRPr lang="en-US" sz="1050" dirty="0">
                <a:solidFill>
                  <a:schemeClr val="accent1"/>
                </a:solidFill>
                <a:latin typeface="Montserrat" pitchFamily="2" charset="0"/>
              </a:endParaRPr>
            </a:p>
          </p:txBody>
        </p:sp>
      </p:grpSp>
      <p:grpSp>
        <p:nvGrpSpPr>
          <p:cNvPr id="3" name="Gruppo 2"/>
          <p:cNvGrpSpPr/>
          <p:nvPr/>
        </p:nvGrpSpPr>
        <p:grpSpPr>
          <a:xfrm>
            <a:off x="6129828" y="1419622"/>
            <a:ext cx="2808312" cy="2734193"/>
            <a:chOff x="6129828" y="1419622"/>
            <a:chExt cx="2808312" cy="2734193"/>
          </a:xfrm>
        </p:grpSpPr>
        <p:grpSp>
          <p:nvGrpSpPr>
            <p:cNvPr id="858" name="Google Shape;858;p63"/>
            <p:cNvGrpSpPr/>
            <p:nvPr/>
          </p:nvGrpSpPr>
          <p:grpSpPr>
            <a:xfrm>
              <a:off x="6129828" y="1419622"/>
              <a:ext cx="2808312" cy="2734193"/>
              <a:chOff x="4694185" y="1326115"/>
              <a:chExt cx="3516213" cy="2364878"/>
            </a:xfrm>
          </p:grpSpPr>
          <p:sp>
            <p:nvSpPr>
              <p:cNvPr id="859" name="Google Shape;859;p63"/>
              <p:cNvSpPr/>
              <p:nvPr/>
            </p:nvSpPr>
            <p:spPr>
              <a:xfrm>
                <a:off x="5829659" y="3116217"/>
                <a:ext cx="1311340" cy="574776"/>
              </a:xfrm>
              <a:custGeom>
                <a:avLst/>
                <a:gdLst/>
                <a:ahLst/>
                <a:cxnLst/>
                <a:rect l="l" t="t" r="r" b="b"/>
                <a:pathLst>
                  <a:path w="35598" h="15603" extrusionOk="0">
                    <a:moveTo>
                      <a:pt x="26985" y="0"/>
                    </a:moveTo>
                    <a:lnTo>
                      <a:pt x="8613" y="0"/>
                    </a:lnTo>
                    <a:lnTo>
                      <a:pt x="1" y="15603"/>
                    </a:lnTo>
                    <a:lnTo>
                      <a:pt x="35597" y="1560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 pitchFamily="2" charset="0"/>
                </a:endParaRPr>
              </a:p>
            </p:txBody>
          </p:sp>
          <p:sp>
            <p:nvSpPr>
              <p:cNvPr id="860" name="Google Shape;860;p63"/>
              <p:cNvSpPr/>
              <p:nvPr/>
            </p:nvSpPr>
            <p:spPr>
              <a:xfrm>
                <a:off x="4694185" y="1326115"/>
                <a:ext cx="3516213" cy="2062200"/>
              </a:xfrm>
              <a:custGeom>
                <a:avLst/>
                <a:gdLst/>
                <a:ahLst/>
                <a:cxnLst/>
                <a:rect l="l" t="t" r="r" b="b"/>
                <a:pathLst>
                  <a:path w="95452" h="55981" extrusionOk="0">
                    <a:moveTo>
                      <a:pt x="4431" y="0"/>
                    </a:moveTo>
                    <a:cubicBezTo>
                      <a:pt x="1977" y="0"/>
                      <a:pt x="1" y="1976"/>
                      <a:pt x="1" y="4430"/>
                    </a:cubicBezTo>
                    <a:lnTo>
                      <a:pt x="1" y="51552"/>
                    </a:lnTo>
                    <a:cubicBezTo>
                      <a:pt x="1" y="54006"/>
                      <a:pt x="1977" y="55980"/>
                      <a:pt x="4431" y="55980"/>
                    </a:cubicBezTo>
                    <a:lnTo>
                      <a:pt x="91021" y="55980"/>
                    </a:lnTo>
                    <a:cubicBezTo>
                      <a:pt x="93475" y="55980"/>
                      <a:pt x="95451" y="54006"/>
                      <a:pt x="95451" y="51552"/>
                    </a:cubicBezTo>
                    <a:lnTo>
                      <a:pt x="95451" y="4430"/>
                    </a:lnTo>
                    <a:cubicBezTo>
                      <a:pt x="95451" y="1976"/>
                      <a:pt x="93475" y="0"/>
                      <a:pt x="910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 pitchFamily="2" charset="0"/>
                </a:endParaRPr>
              </a:p>
            </p:txBody>
          </p:sp>
          <p:sp>
            <p:nvSpPr>
              <p:cNvPr id="861" name="Google Shape;861;p63"/>
              <p:cNvSpPr/>
              <p:nvPr/>
            </p:nvSpPr>
            <p:spPr>
              <a:xfrm>
                <a:off x="4904218" y="3215751"/>
                <a:ext cx="49583" cy="49583"/>
              </a:xfrm>
              <a:custGeom>
                <a:avLst/>
                <a:gdLst/>
                <a:ahLst/>
                <a:cxnLst/>
                <a:rect l="l" t="t" r="r" b="b"/>
                <a:pathLst>
                  <a:path w="1346" h="1346" extrusionOk="0">
                    <a:moveTo>
                      <a:pt x="576" y="1346"/>
                    </a:moveTo>
                    <a:cubicBezTo>
                      <a:pt x="1088" y="1346"/>
                      <a:pt x="1346" y="727"/>
                      <a:pt x="982" y="364"/>
                    </a:cubicBezTo>
                    <a:cubicBezTo>
                      <a:pt x="619" y="1"/>
                      <a:pt x="0" y="256"/>
                      <a:pt x="0" y="770"/>
                    </a:cubicBezTo>
                    <a:cubicBezTo>
                      <a:pt x="0" y="1088"/>
                      <a:pt x="258" y="1346"/>
                      <a:pt x="576" y="13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 pitchFamily="2" charset="0"/>
                </a:endParaRPr>
              </a:p>
            </p:txBody>
          </p:sp>
          <p:sp>
            <p:nvSpPr>
              <p:cNvPr id="862" name="Google Shape;862;p63"/>
              <p:cNvSpPr/>
              <p:nvPr/>
            </p:nvSpPr>
            <p:spPr>
              <a:xfrm>
                <a:off x="4986956" y="3215751"/>
                <a:ext cx="49583" cy="49583"/>
              </a:xfrm>
              <a:custGeom>
                <a:avLst/>
                <a:gdLst/>
                <a:ahLst/>
                <a:cxnLst/>
                <a:rect l="l" t="t" r="r" b="b"/>
                <a:pathLst>
                  <a:path w="1346" h="1346" extrusionOk="0">
                    <a:moveTo>
                      <a:pt x="576" y="1346"/>
                    </a:moveTo>
                    <a:cubicBezTo>
                      <a:pt x="1088" y="1346"/>
                      <a:pt x="1346" y="727"/>
                      <a:pt x="985" y="364"/>
                    </a:cubicBezTo>
                    <a:cubicBezTo>
                      <a:pt x="624" y="1"/>
                      <a:pt x="3" y="256"/>
                      <a:pt x="3" y="770"/>
                    </a:cubicBezTo>
                    <a:cubicBezTo>
                      <a:pt x="1" y="1085"/>
                      <a:pt x="259" y="1344"/>
                      <a:pt x="576" y="13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 pitchFamily="2" charset="0"/>
                </a:endParaRPr>
              </a:p>
            </p:txBody>
          </p:sp>
          <p:sp>
            <p:nvSpPr>
              <p:cNvPr id="863" name="Google Shape;863;p63"/>
              <p:cNvSpPr/>
              <p:nvPr/>
            </p:nvSpPr>
            <p:spPr>
              <a:xfrm>
                <a:off x="5069694" y="3215751"/>
                <a:ext cx="49620" cy="49583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346" extrusionOk="0">
                    <a:moveTo>
                      <a:pt x="577" y="1346"/>
                    </a:moveTo>
                    <a:cubicBezTo>
                      <a:pt x="1088" y="1346"/>
                      <a:pt x="1346" y="727"/>
                      <a:pt x="983" y="364"/>
                    </a:cubicBezTo>
                    <a:cubicBezTo>
                      <a:pt x="622" y="1"/>
                      <a:pt x="1" y="256"/>
                      <a:pt x="1" y="770"/>
                    </a:cubicBezTo>
                    <a:cubicBezTo>
                      <a:pt x="1" y="1088"/>
                      <a:pt x="259" y="1346"/>
                      <a:pt x="577" y="13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ontserrat" pitchFamily="2" charset="0"/>
                </a:endParaRPr>
              </a:p>
            </p:txBody>
          </p:sp>
        </p:grpSp>
        <p:sp>
          <p:nvSpPr>
            <p:cNvPr id="30" name="Shape 19"/>
            <p:cNvSpPr/>
            <p:nvPr/>
          </p:nvSpPr>
          <p:spPr>
            <a:xfrm>
              <a:off x="6278075" y="1594453"/>
              <a:ext cx="2520195" cy="1960880"/>
            </a:xfrm>
            <a:prstGeom prst="roundRect">
              <a:avLst>
                <a:gd name="adj" fmla="val 3846"/>
              </a:avLst>
            </a:prstGeom>
            <a:solidFill>
              <a:schemeClr val="tx1"/>
            </a:solidFill>
            <a:ln w="19050">
              <a:noFill/>
              <a:prstDash val="solid"/>
            </a:ln>
          </p:spPr>
        </p:sp>
      </p:grpSp>
      <p:grpSp>
        <p:nvGrpSpPr>
          <p:cNvPr id="4" name="Gruppo 3"/>
          <p:cNvGrpSpPr/>
          <p:nvPr/>
        </p:nvGrpSpPr>
        <p:grpSpPr>
          <a:xfrm>
            <a:off x="6624658" y="1779662"/>
            <a:ext cx="2173613" cy="1641766"/>
            <a:chOff x="6624658" y="1779662"/>
            <a:chExt cx="2173613" cy="1641766"/>
          </a:xfrm>
        </p:grpSpPr>
        <p:sp>
          <p:nvSpPr>
            <p:cNvPr id="31" name="Shape 20"/>
            <p:cNvSpPr/>
            <p:nvPr/>
          </p:nvSpPr>
          <p:spPr>
            <a:xfrm>
              <a:off x="6624658" y="1779662"/>
              <a:ext cx="452511" cy="452511"/>
            </a:xfrm>
            <a:prstGeom prst="ellips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tx2"/>
                </a:gs>
              </a:gsLst>
              <a:path path="circle">
                <a:fillToRect r="100000" b="100000"/>
              </a:path>
              <a:tileRect l="-100000" t="-100000"/>
            </a:gradFill>
            <a:ln/>
          </p:spPr>
        </p:sp>
        <p:sp>
          <p:nvSpPr>
            <p:cNvPr id="32" name="Text 21"/>
            <p:cNvSpPr/>
            <p:nvPr/>
          </p:nvSpPr>
          <p:spPr>
            <a:xfrm>
              <a:off x="6624658" y="1779662"/>
              <a:ext cx="452511" cy="4525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◱</a:t>
              </a:r>
              <a:endParaRPr lang="en-US" sz="1500" dirty="0">
                <a:latin typeface="Montserrat" pitchFamily="2" charset="0"/>
              </a:endParaRPr>
            </a:p>
          </p:txBody>
        </p:sp>
        <p:sp>
          <p:nvSpPr>
            <p:cNvPr id="33" name="Text 22"/>
            <p:cNvSpPr/>
            <p:nvPr/>
          </p:nvSpPr>
          <p:spPr>
            <a:xfrm>
              <a:off x="7114878" y="1779662"/>
              <a:ext cx="1206695" cy="4525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accent1"/>
                  </a:solidFill>
                  <a:latin typeface="Montserrat" pitchFamily="2" charset="0"/>
                  <a:ea typeface="Calibri" pitchFamily="34" charset="-122"/>
                  <a:cs typeface="Calibri" pitchFamily="34" charset="-120"/>
                </a:rPr>
                <a:t>Observer</a:t>
              </a:r>
              <a:endParaRPr lang="en-US" sz="1400" dirty="0">
                <a:solidFill>
                  <a:schemeClr val="accent1"/>
                </a:solidFill>
                <a:latin typeface="Montserrat" pitchFamily="2" charset="0"/>
              </a:endParaRPr>
            </a:p>
          </p:txBody>
        </p:sp>
        <p:sp>
          <p:nvSpPr>
            <p:cNvPr id="34" name="Text 23"/>
            <p:cNvSpPr/>
            <p:nvPr/>
          </p:nvSpPr>
          <p:spPr>
            <a:xfrm>
              <a:off x="6636838" y="2290151"/>
              <a:ext cx="2161433" cy="11312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lnSpc>
                  <a:spcPct val="115000"/>
                </a:lnSpc>
                <a:buClr>
                  <a:schemeClr val="accent1"/>
                </a:buClr>
                <a:buFont typeface="Courier New" pitchFamily="49" charset="0"/>
                <a:buChar char="o"/>
              </a:pPr>
              <a:r>
                <a:rPr lang="en-US" sz="1100" dirty="0">
                  <a:solidFill>
                    <a:schemeClr val="bg2"/>
                  </a:solidFill>
                  <a:latin typeface="Montserrat" pitchFamily="2" charset="0"/>
                  <a:ea typeface="Courier New" pitchFamily="34" charset="-122"/>
                  <a:cs typeface="Courier New" pitchFamily="34" charset="-120"/>
                </a:rPr>
                <a:t>VistaPrincipale</a:t>
              </a:r>
              <a:endParaRPr lang="en-US" sz="1100" dirty="0">
                <a:solidFill>
                  <a:schemeClr val="bg2"/>
                </a:solidFill>
                <a:latin typeface="Montserrat" pitchFamily="2" charset="0"/>
              </a:endParaRPr>
            </a:p>
            <a:p>
              <a:pPr marL="171450" indent="-171450">
                <a:lnSpc>
                  <a:spcPct val="115000"/>
                </a:lnSpc>
                <a:buClr>
                  <a:schemeClr val="accent1"/>
                </a:buClr>
                <a:buFont typeface="Courier New" pitchFamily="49" charset="0"/>
                <a:buChar char="o"/>
              </a:pPr>
              <a:r>
                <a:rPr lang="en-US" sz="1100" dirty="0" err="1" smtClean="0">
                  <a:solidFill>
                    <a:schemeClr val="bg2"/>
                  </a:solidFill>
                  <a:latin typeface="Montserrat" pitchFamily="2" charset="0"/>
                  <a:ea typeface="Courier New" pitchFamily="34" charset="-122"/>
                  <a:cs typeface="Courier New" pitchFamily="34" charset="-120"/>
                </a:rPr>
                <a:t>WindowDurataSegnale</a:t>
              </a:r>
              <a:endParaRPr lang="en-US" sz="1100" dirty="0">
                <a:solidFill>
                  <a:schemeClr val="bg2"/>
                </a:solidFill>
                <a:latin typeface="Montserrat" pitchFamily="2" charset="0"/>
              </a:endParaRPr>
            </a:p>
            <a:p>
              <a:pPr marL="171450" indent="-171450">
                <a:lnSpc>
                  <a:spcPct val="115000"/>
                </a:lnSpc>
                <a:buClr>
                  <a:schemeClr val="accent1"/>
                </a:buClr>
                <a:buFont typeface="Courier New" pitchFamily="49" charset="0"/>
                <a:buChar char="o"/>
              </a:pPr>
              <a:r>
                <a:rPr lang="en-US" sz="1100" dirty="0">
                  <a:solidFill>
                    <a:schemeClr val="bg2"/>
                  </a:solidFill>
                  <a:latin typeface="Montserrat" pitchFamily="2" charset="0"/>
                  <a:ea typeface="Courier New" pitchFamily="34" charset="-122"/>
                  <a:cs typeface="Courier New" pitchFamily="34" charset="-120"/>
                </a:rPr>
                <a:t>VistaDurataSegnale</a:t>
              </a:r>
              <a:endParaRPr lang="en-US" sz="1100" dirty="0">
                <a:solidFill>
                  <a:schemeClr val="bg2"/>
                </a:solidFill>
                <a:latin typeface="Montserrat" pitchFamily="2" charset="0"/>
              </a:endParaRPr>
            </a:p>
            <a:p>
              <a:pPr marL="171450" indent="-171450">
                <a:lnSpc>
                  <a:spcPct val="115000"/>
                </a:lnSpc>
                <a:buClr>
                  <a:schemeClr val="accent1"/>
                </a:buClr>
                <a:buFont typeface="Courier New" pitchFamily="49" charset="0"/>
                <a:buChar char="o"/>
              </a:pPr>
              <a:r>
                <a:rPr lang="en-US" sz="1100" dirty="0">
                  <a:solidFill>
                    <a:schemeClr val="bg2"/>
                  </a:solidFill>
                  <a:latin typeface="Montserrat" pitchFamily="2" charset="0"/>
                  <a:ea typeface="Courier New" pitchFamily="34" charset="-122"/>
                  <a:cs typeface="Courier New" pitchFamily="34" charset="-120"/>
                </a:rPr>
                <a:t>Controlli di</a:t>
              </a:r>
              <a:endParaRPr lang="en-US" sz="1100" dirty="0">
                <a:solidFill>
                  <a:schemeClr val="bg2"/>
                </a:solidFill>
                <a:latin typeface="Montserrat" pitchFamily="2" charset="0"/>
              </a:endParaRPr>
            </a:p>
            <a:p>
              <a:pPr marL="171450" indent="-171450">
                <a:lnSpc>
                  <a:spcPct val="115000"/>
                </a:lnSpc>
                <a:buClr>
                  <a:schemeClr val="accent1"/>
                </a:buClr>
                <a:buFont typeface="Courier New" pitchFamily="49" charset="0"/>
                <a:buChar char="o"/>
              </a:pPr>
              <a:r>
                <a:rPr lang="en-US" sz="1100" dirty="0">
                  <a:solidFill>
                    <a:schemeClr val="bg2"/>
                  </a:solidFill>
                  <a:latin typeface="Montserrat" pitchFamily="2" charset="0"/>
                  <a:ea typeface="Courier New" pitchFamily="34" charset="-122"/>
                  <a:cs typeface="Courier New" pitchFamily="34" charset="-120"/>
                </a:rPr>
                <a:t>calibrazione</a:t>
              </a:r>
              <a:endParaRPr lang="en-US" sz="1100" dirty="0">
                <a:solidFill>
                  <a:schemeClr val="bg2"/>
                </a:solidFill>
                <a:latin typeface="Montserrat" pitchFamily="2" charset="0"/>
              </a:endParaRPr>
            </a:p>
          </p:txBody>
        </p:sp>
      </p:grpSp>
      <p:sp>
        <p:nvSpPr>
          <p:cNvPr id="36" name="Google Shape;313;p39"/>
          <p:cNvSpPr txBox="1">
            <a:spLocks/>
          </p:cNvSpPr>
          <p:nvPr/>
        </p:nvSpPr>
        <p:spPr>
          <a:xfrm>
            <a:off x="539552" y="923300"/>
            <a:ext cx="5079748" cy="424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r>
              <a:rPr lang="it-IT" sz="1400" b="1" dirty="0" smtClean="0">
                <a:solidFill>
                  <a:schemeClr val="bg2"/>
                </a:solidFill>
                <a:latin typeface="Montserrat" pitchFamily="2" charset="0"/>
              </a:rPr>
              <a:t>Pattern comportamentali</a:t>
            </a:r>
            <a:endParaRPr lang="it-IT" sz="1400" b="1" dirty="0">
              <a:solidFill>
                <a:schemeClr val="bg2"/>
              </a:solidFill>
              <a:latin typeface="Montserrat" pitchFamily="2" charset="0"/>
            </a:endParaRPr>
          </a:p>
        </p:txBody>
      </p:sp>
      <p:sp>
        <p:nvSpPr>
          <p:cNvPr id="37" name="Google Shape;491;p47"/>
          <p:cNvSpPr txBox="1">
            <a:spLocks/>
          </p:cNvSpPr>
          <p:nvPr/>
        </p:nvSpPr>
        <p:spPr>
          <a:xfrm>
            <a:off x="539552" y="422960"/>
            <a:ext cx="5112568" cy="52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45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r>
              <a:rPr lang="it-IT" sz="3000" b="1" dirty="0" smtClean="0">
                <a:latin typeface="Montserrat" pitchFamily="2" charset="0"/>
              </a:rPr>
              <a:t>Riepilogo pattern</a:t>
            </a:r>
            <a:endParaRPr lang="it-IT" sz="3000" b="1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576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o 4"/>
          <p:cNvGrpSpPr/>
          <p:nvPr/>
        </p:nvGrpSpPr>
        <p:grpSpPr>
          <a:xfrm>
            <a:off x="5580112" y="966750"/>
            <a:ext cx="4338600" cy="3210000"/>
            <a:chOff x="-764524" y="966750"/>
            <a:chExt cx="4338600" cy="3210000"/>
          </a:xfrm>
        </p:grpSpPr>
        <p:sp>
          <p:nvSpPr>
            <p:cNvPr id="3" name="Rettangolo arrotondato 2"/>
            <p:cNvSpPr/>
            <p:nvPr/>
          </p:nvSpPr>
          <p:spPr>
            <a:xfrm>
              <a:off x="-764524" y="966750"/>
              <a:ext cx="4338600" cy="3210000"/>
            </a:xfrm>
            <a:prstGeom prst="roundRect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tx2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" name="Immagine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04484" y="1993037"/>
              <a:ext cx="3177246" cy="1157425"/>
            </a:xfrm>
            <a:prstGeom prst="rect">
              <a:avLst/>
            </a:prstGeom>
          </p:spPr>
        </p:pic>
      </p:grpSp>
      <p:sp>
        <p:nvSpPr>
          <p:cNvPr id="234" name="Google Shape;234;p33"/>
          <p:cNvSpPr txBox="1">
            <a:spLocks noGrp="1"/>
          </p:cNvSpPr>
          <p:nvPr>
            <p:ph type="ctrTitle"/>
          </p:nvPr>
        </p:nvSpPr>
        <p:spPr>
          <a:xfrm>
            <a:off x="1259632" y="2211710"/>
            <a:ext cx="4104456" cy="8117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solidFill>
                  <a:schemeClr val="accent2"/>
                </a:solidFill>
                <a:latin typeface="Montserrat" pitchFamily="2" charset="0"/>
              </a:rPr>
              <a:t>Demo live</a:t>
            </a:r>
            <a:endParaRPr b="1" dirty="0">
              <a:solidFill>
                <a:schemeClr val="lt2"/>
              </a:solidFill>
              <a:latin typeface="Montserrat" pitchFamily="2" charset="0"/>
            </a:endParaRPr>
          </a:p>
        </p:txBody>
      </p:sp>
      <p:sp>
        <p:nvSpPr>
          <p:cNvPr id="11" name="Google Shape;234;p33"/>
          <p:cNvSpPr txBox="1">
            <a:spLocks/>
          </p:cNvSpPr>
          <p:nvPr/>
        </p:nvSpPr>
        <p:spPr>
          <a:xfrm>
            <a:off x="1296358" y="2997108"/>
            <a:ext cx="3715621" cy="445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37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r>
              <a:rPr lang="it-IT" sz="2000" b="1" dirty="0" smtClean="0">
                <a:solidFill>
                  <a:schemeClr val="lt2"/>
                </a:solidFill>
                <a:latin typeface="Montserrat" pitchFamily="2" charset="0"/>
              </a:rPr>
              <a:t>&gt;&gt;</a:t>
            </a:r>
            <a:endParaRPr lang="it-IT" sz="2000" b="1" dirty="0">
              <a:solidFill>
                <a:schemeClr val="lt2"/>
              </a:solidFill>
              <a:latin typeface="Montserrat" pitchFamily="2" charset="0"/>
            </a:endParaRPr>
          </a:p>
        </p:txBody>
      </p:sp>
      <p:sp>
        <p:nvSpPr>
          <p:cNvPr id="237" name="Google Shape;237;p33"/>
          <p:cNvSpPr/>
          <p:nvPr/>
        </p:nvSpPr>
        <p:spPr>
          <a:xfrm flipH="1" flipV="1">
            <a:off x="-612576" y="-1761581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33"/>
          <p:cNvSpPr/>
          <p:nvPr/>
        </p:nvSpPr>
        <p:spPr>
          <a:xfrm flipH="1" flipV="1">
            <a:off x="1376049" y="1499169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33"/>
          <p:cNvSpPr/>
          <p:nvPr/>
        </p:nvSpPr>
        <p:spPr>
          <a:xfrm flipH="1" flipV="1">
            <a:off x="-575851" y="576994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33"/>
          <p:cNvSpPr/>
          <p:nvPr/>
        </p:nvSpPr>
        <p:spPr>
          <a:xfrm>
            <a:off x="7452320" y="3579862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33"/>
          <p:cNvSpPr/>
          <p:nvPr/>
        </p:nvSpPr>
        <p:spPr>
          <a:xfrm>
            <a:off x="7020272" y="4661362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242;p33"/>
          <p:cNvSpPr/>
          <p:nvPr/>
        </p:nvSpPr>
        <p:spPr>
          <a:xfrm>
            <a:off x="6814820" y="592684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7563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" grpId="0"/>
      <p:bldP spid="11" grpId="0"/>
      <p:bldP spid="237" grpId="0" animBg="1"/>
      <p:bldP spid="238" grpId="0" animBg="1"/>
      <p:bldP spid="239" grpId="0" animBg="1"/>
      <p:bldP spid="241" grpId="0" animBg="1"/>
      <p:bldP spid="242" grpId="0" animBg="1"/>
      <p:bldP spid="15" grpId="0" animBg="1"/>
    </p:bldLst>
  </p:timing>
</p:sld>
</file>

<file path=ppt/theme/theme1.xml><?xml version="1.0" encoding="utf-8"?>
<a:theme xmlns:a="http://schemas.openxmlformats.org/drawingml/2006/main" name="Computer Science &amp; Mathematics Major For College: Mathematics by Slidesgo">
  <a:themeElements>
    <a:clrScheme name="Simple Light">
      <a:dk1>
        <a:srgbClr val="FFFFFF"/>
      </a:dk1>
      <a:lt1>
        <a:srgbClr val="F3F3F3"/>
      </a:lt1>
      <a:dk2>
        <a:srgbClr val="666666"/>
      </a:dk2>
      <a:lt2>
        <a:srgbClr val="D149CE"/>
      </a:lt2>
      <a:accent1>
        <a:srgbClr val="43309F"/>
      </a:accent1>
      <a:accent2>
        <a:srgbClr val="00000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6666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614</Words>
  <Application>Microsoft Office PowerPoint</Application>
  <PresentationFormat>Presentazione su schermo (16:9)</PresentationFormat>
  <Paragraphs>185</Paragraphs>
  <Slides>11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2" baseType="lpstr">
      <vt:lpstr>Computer Science &amp; Mathematics Major For College: Mathematics by Slidesgo</vt:lpstr>
      <vt:lpstr>Input Device Bridge</vt:lpstr>
      <vt:lpstr>Scenario di progetto</vt:lpstr>
      <vt:lpstr>Way of Working</vt:lpstr>
      <vt:lpstr>Struttura delle fasi</vt:lpstr>
      <vt:lpstr>Descrizione flusso completo</vt:lpstr>
      <vt:lpstr>Riepilogo pattern</vt:lpstr>
      <vt:lpstr>Pattern strutturali</vt:lpstr>
      <vt:lpstr>Pattern comportamentali</vt:lpstr>
      <vt:lpstr>Pattern comportamentali</vt:lpstr>
      <vt:lpstr>Presentazione standard di PowerPoint</vt:lpstr>
      <vt:lpstr>Demo live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Input Device Bridge</dc:title>
  <cp:lastModifiedBy>Ismaele Califano</cp:lastModifiedBy>
  <cp:revision>40</cp:revision>
  <cp:lastPrinted>2026-07-14T09:46:58Z</cp:lastPrinted>
  <dcterms:modified xsi:type="dcterms:W3CDTF">2026-07-14T14:08:54Z</dcterms:modified>
</cp:coreProperties>
</file>