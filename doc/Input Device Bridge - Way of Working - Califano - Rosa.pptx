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0" r:id="rId1"/>
    <p:sldMasterId id="2147483709" r:id="rId2"/>
  </p:sldMasterIdLst>
  <p:notesMasterIdLst>
    <p:notesMasterId r:id="rId12"/>
  </p:notesMasterIdLst>
  <p:sldIdLst>
    <p:sldId id="256" r:id="rId3"/>
    <p:sldId id="283" r:id="rId4"/>
    <p:sldId id="312" r:id="rId5"/>
    <p:sldId id="319" r:id="rId6"/>
    <p:sldId id="320" r:id="rId7"/>
    <p:sldId id="318" r:id="rId8"/>
    <p:sldId id="314" r:id="rId9"/>
    <p:sldId id="316" r:id="rId10"/>
    <p:sldId id="317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0008A23C-6446-4AE6-A63F-8AF3A4B9D192}">
  <a:tblStyle styleId="{0008A23C-6446-4AE6-A63F-8AF3A4B9D1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9" d="100"/>
          <a:sy n="139" d="100"/>
        </p:scale>
        <p:origin x="-184" y="-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035496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2d4e97ef0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2d4e97ef0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12cdc6cee93_0_6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12cdc6cee93_0_6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2d4e97ef00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2d4e97ef00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12cdc6cee93_0_10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12cdc6cee93_0_10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2da052de2e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2da052de2e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2cdc6cee93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12cdc6cee93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2cdc6cee93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12cdc6cee93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2d4e97ef00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2d4e97ef00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2da052de2e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2da052de2e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01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926475" y="1039950"/>
            <a:ext cx="4649100" cy="19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7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926475" y="3373050"/>
            <a:ext cx="2656200" cy="7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66666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it-IT" smtClean="0"/>
              <a:t>Fare clic per modificare lo stile del sottotitolo dello schema</a:t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044" scaled="0"/>
        </a:gra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267638" y="2711350"/>
            <a:ext cx="29424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 idx="2"/>
          </p:nvPr>
        </p:nvSpPr>
        <p:spPr>
          <a:xfrm>
            <a:off x="4933895" y="2711350"/>
            <a:ext cx="29424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4933895" y="3068050"/>
            <a:ext cx="2942400" cy="10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it-IT" smtClean="0"/>
              <a:t>Fare clic per modificare lo stile del sottotitolo dello schema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3"/>
          </p:nvPr>
        </p:nvSpPr>
        <p:spPr>
          <a:xfrm>
            <a:off x="1267638" y="3068050"/>
            <a:ext cx="2942400" cy="10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it-IT" smtClean="0"/>
              <a:t>Fare clic per modificare lo stile del sottotitolo dello schema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 idx="4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0" y="4822200"/>
            <a:ext cx="28575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0801400" scaled="0"/>
        </a:gra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it-IT" dirty="0" smtClean="0"/>
              <a:t>Fare clic per modificare lo stile del titolo</a:t>
            </a:r>
            <a:endParaRPr dirty="0"/>
          </a:p>
        </p:txBody>
      </p:sp>
      <p:sp>
        <p:nvSpPr>
          <p:cNvPr id="36" name="Google Shape;36;p6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6"/>
          <p:cNvSpPr/>
          <p:nvPr/>
        </p:nvSpPr>
        <p:spPr>
          <a:xfrm rot="10800000" flipH="1">
            <a:off x="0" y="0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6"/>
          <p:cNvSpPr/>
          <p:nvPr/>
        </p:nvSpPr>
        <p:spPr>
          <a:xfrm>
            <a:off x="-777475" y="4424625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3372600" y="838625"/>
            <a:ext cx="4104600" cy="8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ubTitle" idx="1"/>
          </p:nvPr>
        </p:nvSpPr>
        <p:spPr>
          <a:xfrm>
            <a:off x="3372600" y="2233671"/>
            <a:ext cx="4104600" cy="20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it-IT" smtClean="0"/>
              <a:t>Fare clic per modificare lo stile del sottotitolo dello schema</a:t>
            </a:r>
            <a:endParaRPr/>
          </a:p>
        </p:txBody>
      </p:sp>
      <p:sp>
        <p:nvSpPr>
          <p:cNvPr id="42" name="Google Shape;42;p7"/>
          <p:cNvSpPr/>
          <p:nvPr/>
        </p:nvSpPr>
        <p:spPr>
          <a:xfrm flipH="1">
            <a:off x="6286800" y="4822125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-777475" y="-951200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7"/>
          <p:cNvSpPr/>
          <p:nvPr/>
        </p:nvSpPr>
        <p:spPr>
          <a:xfrm>
            <a:off x="-308275" y="142607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0800025" scaled="0"/>
        </a:gra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1772463" y="1654725"/>
            <a:ext cx="26385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"/>
          </p:nvPr>
        </p:nvSpPr>
        <p:spPr>
          <a:xfrm>
            <a:off x="1772463" y="2012990"/>
            <a:ext cx="2638500" cy="52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it-IT" smtClean="0"/>
              <a:t>Fare clic per modificare lo stile del sottotitolo dello schema</a:t>
            </a:r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2"/>
          </p:nvPr>
        </p:nvSpPr>
        <p:spPr>
          <a:xfrm>
            <a:off x="5474937" y="1654725"/>
            <a:ext cx="26385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3"/>
          </p:nvPr>
        </p:nvSpPr>
        <p:spPr>
          <a:xfrm>
            <a:off x="5474937" y="2012990"/>
            <a:ext cx="2638500" cy="52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it-IT" smtClean="0"/>
              <a:t>Fare clic per modificare lo stile del sottotitolo dello schema</a:t>
            </a:r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4" hasCustomPrompt="1"/>
          </p:nvPr>
        </p:nvSpPr>
        <p:spPr>
          <a:xfrm>
            <a:off x="1030563" y="1654725"/>
            <a:ext cx="6657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5" hasCustomPrompt="1"/>
          </p:nvPr>
        </p:nvSpPr>
        <p:spPr>
          <a:xfrm>
            <a:off x="4733038" y="1654725"/>
            <a:ext cx="6657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6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7"/>
          </p:nvPr>
        </p:nvSpPr>
        <p:spPr>
          <a:xfrm>
            <a:off x="1772463" y="3061675"/>
            <a:ext cx="26385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8"/>
          </p:nvPr>
        </p:nvSpPr>
        <p:spPr>
          <a:xfrm>
            <a:off x="1772463" y="3419940"/>
            <a:ext cx="2638500" cy="52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it-IT" smtClean="0"/>
              <a:t>Fare clic per modificare lo stile del sottotitolo dello schema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9"/>
          </p:nvPr>
        </p:nvSpPr>
        <p:spPr>
          <a:xfrm>
            <a:off x="5474937" y="3061675"/>
            <a:ext cx="26385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3"/>
          </p:nvPr>
        </p:nvSpPr>
        <p:spPr>
          <a:xfrm>
            <a:off x="5474937" y="3419940"/>
            <a:ext cx="2638500" cy="52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it-IT" smtClean="0"/>
              <a:t>Fare clic per modificare lo stile del sottotitolo dello schema</a:t>
            </a:r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14" hasCustomPrompt="1"/>
          </p:nvPr>
        </p:nvSpPr>
        <p:spPr>
          <a:xfrm>
            <a:off x="1030563" y="3061675"/>
            <a:ext cx="6657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15" hasCustomPrompt="1"/>
          </p:nvPr>
        </p:nvSpPr>
        <p:spPr>
          <a:xfrm>
            <a:off x="4733038" y="3061675"/>
            <a:ext cx="665700" cy="35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/>
          <p:nvPr/>
        </p:nvSpPr>
        <p:spPr>
          <a:xfrm>
            <a:off x="0" y="4822200"/>
            <a:ext cx="28575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969750" y="3381325"/>
            <a:ext cx="33456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subTitle" idx="1"/>
          </p:nvPr>
        </p:nvSpPr>
        <p:spPr>
          <a:xfrm>
            <a:off x="969750" y="1405475"/>
            <a:ext cx="7204500" cy="151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it-IT" smtClean="0"/>
              <a:t>Fare clic per modificare lo stile del sottotitolo dello schema</a:t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5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xfrm>
            <a:off x="4572000" y="1355075"/>
            <a:ext cx="25473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title" idx="2"/>
          </p:nvPr>
        </p:nvSpPr>
        <p:spPr>
          <a:xfrm>
            <a:off x="4572000" y="2836825"/>
            <a:ext cx="25473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ubTitle" idx="1"/>
          </p:nvPr>
        </p:nvSpPr>
        <p:spPr>
          <a:xfrm>
            <a:off x="4572000" y="3193525"/>
            <a:ext cx="2547300" cy="5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r>
              <a:rPr lang="it-IT" smtClean="0"/>
              <a:t>Fare clic per modificare lo stile del sottotitolo dello schema</a:t>
            </a:r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subTitle" idx="3"/>
          </p:nvPr>
        </p:nvSpPr>
        <p:spPr>
          <a:xfrm>
            <a:off x="4572000" y="1711775"/>
            <a:ext cx="2547300" cy="5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r>
              <a:rPr lang="it-IT" smtClean="0"/>
              <a:t>Fare clic per modificare lo stile del sottotitolo dello schema</a:t>
            </a:r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title" idx="4"/>
          </p:nvPr>
        </p:nvSpPr>
        <p:spPr>
          <a:xfrm>
            <a:off x="4572000" y="539500"/>
            <a:ext cx="38586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0"/>
          <p:cNvSpPr/>
          <p:nvPr/>
        </p:nvSpPr>
        <p:spPr>
          <a:xfrm rot="10800000">
            <a:off x="6286800" y="0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it-IT" smtClean="0"/>
              <a:t>Fare clic per modificare lo stile del titolo</a:t>
            </a:r>
            <a:endParaRPr/>
          </a:p>
        </p:txBody>
      </p:sp>
      <p:sp>
        <p:nvSpPr>
          <p:cNvPr id="203" name="Google Shape;203;p26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/>
          <p:nvPr/>
        </p:nvSpPr>
        <p:spPr>
          <a:xfrm rot="10800000" flipH="1">
            <a:off x="0" y="0"/>
            <a:ext cx="28575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8"/>
          <p:cNvSpPr/>
          <p:nvPr/>
        </p:nvSpPr>
        <p:spPr>
          <a:xfrm flipH="1">
            <a:off x="6286800" y="4822125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8"/>
          <p:cNvSpPr/>
          <p:nvPr/>
        </p:nvSpPr>
        <p:spPr>
          <a:xfrm>
            <a:off x="-542100" y="43634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8"/>
          <p:cNvSpPr/>
          <p:nvPr/>
        </p:nvSpPr>
        <p:spPr>
          <a:xfrm>
            <a:off x="8430775" y="-8181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8"/>
          <p:cNvSpPr/>
          <p:nvPr/>
        </p:nvSpPr>
        <p:spPr>
          <a:xfrm>
            <a:off x="713225" y="479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9"/>
          <p:cNvSpPr/>
          <p:nvPr/>
        </p:nvSpPr>
        <p:spPr>
          <a:xfrm rot="10800000">
            <a:off x="7527900" y="0"/>
            <a:ext cx="1616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9"/>
          <p:cNvSpPr/>
          <p:nvPr/>
        </p:nvSpPr>
        <p:spPr>
          <a:xfrm>
            <a:off x="-561150" y="-8181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9"/>
          <p:cNvSpPr/>
          <p:nvPr/>
        </p:nvSpPr>
        <p:spPr>
          <a:xfrm>
            <a:off x="8239950" y="4237275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9"/>
          <p:cNvSpPr/>
          <p:nvPr/>
        </p:nvSpPr>
        <p:spPr>
          <a:xfrm>
            <a:off x="713225" y="-3914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mtClean="0"/>
              <a:t>Fare clic per modificare lo stile del titolo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4" r:id="rId2"/>
    <p:sldLayoutId id="2147483685" r:id="rId3"/>
    <p:sldLayoutId id="2147483686" r:id="rId4"/>
    <p:sldLayoutId id="2147483691" r:id="rId5"/>
    <p:sldLayoutId id="2147483692" r:id="rId6"/>
    <p:sldLayoutId id="2147483694" r:id="rId7"/>
    <p:sldLayoutId id="2147483699" r:id="rId8"/>
    <p:sldLayoutId id="2147483705" r:id="rId9"/>
    <p:sldLayoutId id="2147483707" r:id="rId10"/>
    <p:sldLayoutId id="214748370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26" name="Google Shape;226;p30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0" r:id="rId1"/>
    <p:sldLayoutId id="2147483711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>
            <a:spLocks noGrp="1"/>
          </p:cNvSpPr>
          <p:nvPr>
            <p:ph type="subTitle" idx="1"/>
          </p:nvPr>
        </p:nvSpPr>
        <p:spPr>
          <a:xfrm>
            <a:off x="3926475" y="3373050"/>
            <a:ext cx="3669862" cy="7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>
                <a:latin typeface="Montserrat" pitchFamily="2" charset="0"/>
              </a:rPr>
              <a:t>Ismaele Antonio Pio Califano – 73941</a:t>
            </a:r>
          </a:p>
          <a:p>
            <a:pPr marL="0" lvl="0" indent="0"/>
            <a:r>
              <a:rPr lang="en" sz="1400" dirty="0" smtClean="0">
                <a:latin typeface="Montserrat" pitchFamily="2" charset="0"/>
              </a:rPr>
              <a:t>Mario Rosa </a:t>
            </a:r>
            <a:r>
              <a:rPr lang="en" sz="1400" dirty="0">
                <a:latin typeface="Montserrat" pitchFamily="2" charset="0"/>
              </a:rPr>
              <a:t>- 73522</a:t>
            </a:r>
            <a:endParaRPr sz="1400" dirty="0">
              <a:latin typeface="Montserrat" pitchFamily="2" charset="0"/>
            </a:endParaRPr>
          </a:p>
        </p:txBody>
      </p:sp>
      <p:cxnSp>
        <p:nvCxnSpPr>
          <p:cNvPr id="236" name="Google Shape;236;p33"/>
          <p:cNvCxnSpPr/>
          <p:nvPr/>
        </p:nvCxnSpPr>
        <p:spPr>
          <a:xfrm>
            <a:off x="3926475" y="3189225"/>
            <a:ext cx="12723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4" name="Google Shape;234;p33"/>
          <p:cNvSpPr txBox="1">
            <a:spLocks noGrp="1"/>
          </p:cNvSpPr>
          <p:nvPr>
            <p:ph type="ctrTitle"/>
          </p:nvPr>
        </p:nvSpPr>
        <p:spPr>
          <a:xfrm>
            <a:off x="3900874" y="1786352"/>
            <a:ext cx="5135622" cy="8117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solidFill>
                  <a:schemeClr val="accent2"/>
                </a:solidFill>
                <a:latin typeface="Montserrat" pitchFamily="2" charset="0"/>
              </a:rPr>
              <a:t>Input Device Bridge</a:t>
            </a:r>
            <a:endParaRPr b="1" dirty="0">
              <a:solidFill>
                <a:schemeClr val="lt2"/>
              </a:solidFill>
              <a:latin typeface="Montserrat" pitchFamily="2" charset="0"/>
            </a:endParaRPr>
          </a:p>
        </p:txBody>
      </p:sp>
      <p:sp>
        <p:nvSpPr>
          <p:cNvPr id="237" name="Google Shape;237;p33"/>
          <p:cNvSpPr/>
          <p:nvPr/>
        </p:nvSpPr>
        <p:spPr>
          <a:xfrm>
            <a:off x="7096000" y="3825650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33"/>
          <p:cNvSpPr/>
          <p:nvPr/>
        </p:nvSpPr>
        <p:spPr>
          <a:xfrm>
            <a:off x="7707775" y="3165300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33"/>
          <p:cNvSpPr/>
          <p:nvPr/>
        </p:nvSpPr>
        <p:spPr>
          <a:xfrm>
            <a:off x="8549975" y="297777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34;p33"/>
          <p:cNvSpPr txBox="1">
            <a:spLocks/>
          </p:cNvSpPr>
          <p:nvPr/>
        </p:nvSpPr>
        <p:spPr>
          <a:xfrm>
            <a:off x="3937600" y="2571750"/>
            <a:ext cx="4649100" cy="445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37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 SemiBold"/>
              <a:buNone/>
              <a:defRPr sz="5200" b="0" i="0" u="none" strike="noStrike" cap="none">
                <a:solidFill>
                  <a:srgbClr val="191919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r>
              <a:rPr lang="it-IT" sz="2000" b="1" dirty="0" smtClean="0">
                <a:solidFill>
                  <a:schemeClr val="lt2"/>
                </a:solidFill>
                <a:latin typeface="+mj-lt"/>
              </a:rPr>
              <a:t>Way </a:t>
            </a:r>
            <a:r>
              <a:rPr lang="it-IT" sz="2000" b="1" dirty="0">
                <a:solidFill>
                  <a:schemeClr val="lt2"/>
                </a:solidFill>
                <a:latin typeface="+mj-lt"/>
              </a:rPr>
              <a:t>of </a:t>
            </a:r>
            <a:r>
              <a:rPr lang="it-IT" sz="2000" b="1" dirty="0" err="1">
                <a:solidFill>
                  <a:schemeClr val="lt2"/>
                </a:solidFill>
                <a:latin typeface="+mj-lt"/>
              </a:rPr>
              <a:t>Working</a:t>
            </a:r>
            <a:endParaRPr lang="it-IT" sz="2000" b="1" dirty="0">
              <a:solidFill>
                <a:schemeClr val="lt2"/>
              </a:solidFill>
              <a:latin typeface="+mj-lt"/>
            </a:endParaRPr>
          </a:p>
        </p:txBody>
      </p:sp>
      <p:grpSp>
        <p:nvGrpSpPr>
          <p:cNvPr id="5" name="Gruppo 4"/>
          <p:cNvGrpSpPr/>
          <p:nvPr/>
        </p:nvGrpSpPr>
        <p:grpSpPr>
          <a:xfrm>
            <a:off x="-764524" y="966750"/>
            <a:ext cx="4338600" cy="3210000"/>
            <a:chOff x="-764524" y="966750"/>
            <a:chExt cx="4338600" cy="3210000"/>
          </a:xfrm>
        </p:grpSpPr>
        <p:sp>
          <p:nvSpPr>
            <p:cNvPr id="3" name="Rettangolo arrotondato 2"/>
            <p:cNvSpPr/>
            <p:nvPr/>
          </p:nvSpPr>
          <p:spPr>
            <a:xfrm>
              <a:off x="-764524" y="966750"/>
              <a:ext cx="4338600" cy="3210000"/>
            </a:xfrm>
            <a:prstGeom prst="roundRect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tx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" name="Immagine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504" y="1993037"/>
              <a:ext cx="3177246" cy="1157425"/>
            </a:xfrm>
            <a:prstGeom prst="rect">
              <a:avLst/>
            </a:prstGeom>
          </p:spPr>
        </p:pic>
      </p:grpSp>
      <p:sp>
        <p:nvSpPr>
          <p:cNvPr id="241" name="Google Shape;241;p33"/>
          <p:cNvSpPr/>
          <p:nvPr/>
        </p:nvSpPr>
        <p:spPr>
          <a:xfrm>
            <a:off x="-1081350" y="-635675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33"/>
          <p:cNvSpPr/>
          <p:nvPr/>
        </p:nvSpPr>
        <p:spPr>
          <a:xfrm>
            <a:off x="2361550" y="5395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 build="p"/>
      <p:bldP spid="234" grpId="0"/>
      <p:bldP spid="237" grpId="0" animBg="1"/>
      <p:bldP spid="238" grpId="0" animBg="1"/>
      <p:bldP spid="239" grpId="0" animBg="1"/>
      <p:bldP spid="11" grpId="0"/>
      <p:bldP spid="241" grpId="0" animBg="1"/>
      <p:bldP spid="24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+mj-lt"/>
              </a:rPr>
              <a:t>Scenario di progetto</a:t>
            </a:r>
            <a:endParaRPr b="1" dirty="0">
              <a:latin typeface="+mj-lt"/>
            </a:endParaRPr>
          </a:p>
        </p:txBody>
      </p:sp>
      <p:sp>
        <p:nvSpPr>
          <p:cNvPr id="782" name="Google Shape;782;p60"/>
          <p:cNvSpPr/>
          <p:nvPr/>
        </p:nvSpPr>
        <p:spPr>
          <a:xfrm>
            <a:off x="7587225" y="-16744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60"/>
          <p:cNvSpPr/>
          <p:nvPr/>
        </p:nvSpPr>
        <p:spPr>
          <a:xfrm>
            <a:off x="6676350" y="-92912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ruppo 5"/>
          <p:cNvGrpSpPr/>
          <p:nvPr/>
        </p:nvGrpSpPr>
        <p:grpSpPr>
          <a:xfrm>
            <a:off x="3353242" y="2028363"/>
            <a:ext cx="2437500" cy="2631618"/>
            <a:chOff x="3353242" y="2028363"/>
            <a:chExt cx="2437500" cy="2631618"/>
          </a:xfrm>
        </p:grpSpPr>
        <p:sp>
          <p:nvSpPr>
            <p:cNvPr id="780" name="Google Shape;780;p60"/>
            <p:cNvSpPr txBox="1"/>
            <p:nvPr/>
          </p:nvSpPr>
          <p:spPr>
            <a:xfrm>
              <a:off x="3353242" y="3156375"/>
              <a:ext cx="2437500" cy="35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100"/>
                <a:buFont typeface="Arial"/>
                <a:buNone/>
              </a:pPr>
              <a:r>
                <a:rPr lang="en" sz="2300" b="1" dirty="0" smtClean="0">
                  <a:solidFill>
                    <a:schemeClr val="accent2"/>
                  </a:solidFill>
                  <a:latin typeface="+mj-lt"/>
                  <a:ea typeface="Poppins SemiBold"/>
                  <a:cs typeface="Poppins SemiBold"/>
                  <a:sym typeface="Poppins SemiBold"/>
                </a:rPr>
                <a:t>Scopo sociale</a:t>
              </a:r>
              <a:endParaRPr sz="2300" b="1" dirty="0">
                <a:solidFill>
                  <a:schemeClr val="accent2"/>
                </a:solidFill>
                <a:latin typeface="+mj-lt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781" name="Google Shape;781;p60"/>
            <p:cNvSpPr txBox="1"/>
            <p:nvPr/>
          </p:nvSpPr>
          <p:spPr>
            <a:xfrm>
              <a:off x="3353242" y="3513074"/>
              <a:ext cx="2437500" cy="11469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it-IT" dirty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Abbattere la barriera tra hardware </a:t>
              </a:r>
              <a:r>
                <a:rPr lang="it-IT" dirty="0" err="1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assistivo</a:t>
              </a:r>
              <a:r>
                <a:rPr lang="it-IT" dirty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 e software commerciale per utenti con disabilità </a:t>
              </a:r>
              <a:r>
                <a:rPr lang="it-IT" dirty="0" smtClean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motorie.</a:t>
              </a:r>
              <a:endParaRPr dirty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" name="Gruppo 2"/>
            <p:cNvGrpSpPr/>
            <p:nvPr/>
          </p:nvGrpSpPr>
          <p:grpSpPr>
            <a:xfrm>
              <a:off x="4122292" y="2028363"/>
              <a:ext cx="899400" cy="899400"/>
              <a:chOff x="4122292" y="2028363"/>
              <a:chExt cx="899400" cy="899400"/>
            </a:xfrm>
          </p:grpSpPr>
          <p:sp>
            <p:nvSpPr>
              <p:cNvPr id="774" name="Google Shape;774;p60"/>
              <p:cNvSpPr/>
              <p:nvPr/>
            </p:nvSpPr>
            <p:spPr>
              <a:xfrm>
                <a:off x="4122292" y="2028363"/>
                <a:ext cx="899400" cy="899400"/>
              </a:xfrm>
              <a:prstGeom prst="ellipse">
                <a:avLst/>
              </a:prstGeom>
              <a:solidFill>
                <a:srgbClr val="FCFCFC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5400000" algn="t" rotWithShape="0">
                  <a:schemeClr val="accent1">
                    <a:alpha val="4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2" name="Google Shape;7940;p86"/>
              <p:cNvGrpSpPr/>
              <p:nvPr/>
            </p:nvGrpSpPr>
            <p:grpSpPr>
              <a:xfrm>
                <a:off x="4358203" y="2267387"/>
                <a:ext cx="427578" cy="421351"/>
                <a:chOff x="-5254775" y="3631325"/>
                <a:chExt cx="296950" cy="292625"/>
              </a:xfrm>
              <a:gradFill flip="none" rotWithShape="1">
                <a:gsLst>
                  <a:gs pos="100000">
                    <a:schemeClr val="tx2"/>
                  </a:gs>
                  <a:gs pos="0">
                    <a:schemeClr val="accent1"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</p:grpSpPr>
            <p:sp>
              <p:nvSpPr>
                <p:cNvPr id="23" name="Google Shape;7941;p86"/>
                <p:cNvSpPr/>
                <p:nvPr/>
              </p:nvSpPr>
              <p:spPr>
                <a:xfrm>
                  <a:off x="-5246900" y="3766400"/>
                  <a:ext cx="58300" cy="5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2" h="2206" extrusionOk="0">
                      <a:moveTo>
                        <a:pt x="1769" y="1"/>
                      </a:moveTo>
                      <a:cubicBezTo>
                        <a:pt x="1639" y="1"/>
                        <a:pt x="1513" y="48"/>
                        <a:pt x="1418" y="142"/>
                      </a:cubicBezTo>
                      <a:lnTo>
                        <a:pt x="189" y="1371"/>
                      </a:lnTo>
                      <a:cubicBezTo>
                        <a:pt x="0" y="1560"/>
                        <a:pt x="0" y="1875"/>
                        <a:pt x="189" y="2064"/>
                      </a:cubicBezTo>
                      <a:cubicBezTo>
                        <a:pt x="300" y="2159"/>
                        <a:pt x="434" y="2206"/>
                        <a:pt x="564" y="2206"/>
                      </a:cubicBezTo>
                      <a:cubicBezTo>
                        <a:pt x="694" y="2206"/>
                        <a:pt x="820" y="2159"/>
                        <a:pt x="914" y="2064"/>
                      </a:cubicBezTo>
                      <a:lnTo>
                        <a:pt x="2143" y="835"/>
                      </a:lnTo>
                      <a:cubicBezTo>
                        <a:pt x="2332" y="646"/>
                        <a:pt x="2332" y="331"/>
                        <a:pt x="2143" y="142"/>
                      </a:cubicBezTo>
                      <a:cubicBezTo>
                        <a:pt x="2033" y="48"/>
                        <a:pt x="1899" y="1"/>
                        <a:pt x="17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7942;p86"/>
                <p:cNvSpPr/>
                <p:nvPr/>
              </p:nvSpPr>
              <p:spPr>
                <a:xfrm>
                  <a:off x="-5216175" y="3795550"/>
                  <a:ext cx="58300" cy="5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2" h="2238" extrusionOk="0">
                      <a:moveTo>
                        <a:pt x="1764" y="0"/>
                      </a:moveTo>
                      <a:cubicBezTo>
                        <a:pt x="1638" y="0"/>
                        <a:pt x="1512" y="47"/>
                        <a:pt x="1418" y="142"/>
                      </a:cubicBezTo>
                      <a:lnTo>
                        <a:pt x="189" y="1371"/>
                      </a:lnTo>
                      <a:cubicBezTo>
                        <a:pt x="0" y="1560"/>
                        <a:pt x="0" y="1875"/>
                        <a:pt x="189" y="2095"/>
                      </a:cubicBezTo>
                      <a:cubicBezTo>
                        <a:pt x="284" y="2190"/>
                        <a:pt x="410" y="2237"/>
                        <a:pt x="540" y="2237"/>
                      </a:cubicBezTo>
                      <a:cubicBezTo>
                        <a:pt x="670" y="2237"/>
                        <a:pt x="804" y="2190"/>
                        <a:pt x="914" y="2095"/>
                      </a:cubicBezTo>
                      <a:lnTo>
                        <a:pt x="2111" y="867"/>
                      </a:lnTo>
                      <a:cubicBezTo>
                        <a:pt x="2332" y="678"/>
                        <a:pt x="2332" y="363"/>
                        <a:pt x="2111" y="142"/>
                      </a:cubicBezTo>
                      <a:cubicBezTo>
                        <a:pt x="2016" y="47"/>
                        <a:pt x="1890" y="0"/>
                        <a:pt x="176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7943;p86"/>
                <p:cNvSpPr/>
                <p:nvPr/>
              </p:nvSpPr>
              <p:spPr>
                <a:xfrm>
                  <a:off x="-5185475" y="3826250"/>
                  <a:ext cx="57525" cy="5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1" h="2230" extrusionOk="0">
                      <a:moveTo>
                        <a:pt x="1765" y="1"/>
                      </a:moveTo>
                      <a:cubicBezTo>
                        <a:pt x="1639" y="1"/>
                        <a:pt x="1513" y="48"/>
                        <a:pt x="1419" y="143"/>
                      </a:cubicBezTo>
                      <a:lnTo>
                        <a:pt x="190" y="1371"/>
                      </a:lnTo>
                      <a:cubicBezTo>
                        <a:pt x="1" y="1560"/>
                        <a:pt x="1" y="1875"/>
                        <a:pt x="190" y="2064"/>
                      </a:cubicBezTo>
                      <a:cubicBezTo>
                        <a:pt x="284" y="2175"/>
                        <a:pt x="410" y="2230"/>
                        <a:pt x="536" y="2230"/>
                      </a:cubicBezTo>
                      <a:cubicBezTo>
                        <a:pt x="662" y="2230"/>
                        <a:pt x="788" y="2175"/>
                        <a:pt x="883" y="2064"/>
                      </a:cubicBezTo>
                      <a:lnTo>
                        <a:pt x="2112" y="836"/>
                      </a:lnTo>
                      <a:cubicBezTo>
                        <a:pt x="2301" y="647"/>
                        <a:pt x="2301" y="332"/>
                        <a:pt x="2112" y="143"/>
                      </a:cubicBezTo>
                      <a:cubicBezTo>
                        <a:pt x="2017" y="48"/>
                        <a:pt x="1891" y="1"/>
                        <a:pt x="176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7944;p86"/>
                <p:cNvSpPr/>
                <p:nvPr/>
              </p:nvSpPr>
              <p:spPr>
                <a:xfrm>
                  <a:off x="-5156325" y="3856375"/>
                  <a:ext cx="58300" cy="5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2" h="2230" extrusionOk="0">
                      <a:moveTo>
                        <a:pt x="1781" y="1"/>
                      </a:moveTo>
                      <a:cubicBezTo>
                        <a:pt x="1655" y="1"/>
                        <a:pt x="1529" y="56"/>
                        <a:pt x="1418" y="166"/>
                      </a:cubicBezTo>
                      <a:lnTo>
                        <a:pt x="190" y="1395"/>
                      </a:lnTo>
                      <a:cubicBezTo>
                        <a:pt x="1" y="1584"/>
                        <a:pt x="1" y="1899"/>
                        <a:pt x="190" y="2088"/>
                      </a:cubicBezTo>
                      <a:cubicBezTo>
                        <a:pt x="300" y="2183"/>
                        <a:pt x="442" y="2230"/>
                        <a:pt x="575" y="2230"/>
                      </a:cubicBezTo>
                      <a:cubicBezTo>
                        <a:pt x="709" y="2230"/>
                        <a:pt x="835" y="2183"/>
                        <a:pt x="914" y="2088"/>
                      </a:cubicBezTo>
                      <a:lnTo>
                        <a:pt x="2143" y="859"/>
                      </a:lnTo>
                      <a:cubicBezTo>
                        <a:pt x="2332" y="670"/>
                        <a:pt x="2332" y="355"/>
                        <a:pt x="2143" y="166"/>
                      </a:cubicBezTo>
                      <a:cubicBezTo>
                        <a:pt x="2033" y="56"/>
                        <a:pt x="1907" y="1"/>
                        <a:pt x="178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7945;p86"/>
                <p:cNvSpPr/>
                <p:nvPr/>
              </p:nvSpPr>
              <p:spPr>
                <a:xfrm>
                  <a:off x="-5105925" y="3886525"/>
                  <a:ext cx="37050" cy="3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1497" extrusionOk="0">
                      <a:moveTo>
                        <a:pt x="662" y="0"/>
                      </a:moveTo>
                      <a:lnTo>
                        <a:pt x="536" y="126"/>
                      </a:lnTo>
                      <a:lnTo>
                        <a:pt x="1" y="756"/>
                      </a:lnTo>
                      <a:lnTo>
                        <a:pt x="599" y="1355"/>
                      </a:lnTo>
                      <a:cubicBezTo>
                        <a:pt x="694" y="1449"/>
                        <a:pt x="820" y="1497"/>
                        <a:pt x="946" y="1497"/>
                      </a:cubicBezTo>
                      <a:cubicBezTo>
                        <a:pt x="1072" y="1497"/>
                        <a:pt x="1198" y="1449"/>
                        <a:pt x="1293" y="1355"/>
                      </a:cubicBezTo>
                      <a:cubicBezTo>
                        <a:pt x="1482" y="1166"/>
                        <a:pt x="1482" y="851"/>
                        <a:pt x="1293" y="662"/>
                      </a:cubicBezTo>
                      <a:lnTo>
                        <a:pt x="66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7946;p86"/>
                <p:cNvSpPr/>
                <p:nvPr/>
              </p:nvSpPr>
              <p:spPr>
                <a:xfrm>
                  <a:off x="-5254775" y="3648050"/>
                  <a:ext cx="278050" cy="24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2" h="9933" extrusionOk="0">
                      <a:moveTo>
                        <a:pt x="4049" y="1"/>
                      </a:moveTo>
                      <a:cubicBezTo>
                        <a:pt x="3781" y="1"/>
                        <a:pt x="3513" y="103"/>
                        <a:pt x="3308" y="308"/>
                      </a:cubicBezTo>
                      <a:lnTo>
                        <a:pt x="410" y="3364"/>
                      </a:lnTo>
                      <a:cubicBezTo>
                        <a:pt x="0" y="3774"/>
                        <a:pt x="0" y="4435"/>
                        <a:pt x="410" y="4813"/>
                      </a:cubicBezTo>
                      <a:lnTo>
                        <a:pt x="631" y="5065"/>
                      </a:lnTo>
                      <a:lnTo>
                        <a:pt x="1198" y="4498"/>
                      </a:lnTo>
                      <a:cubicBezTo>
                        <a:pt x="1454" y="4242"/>
                        <a:pt x="1794" y="4106"/>
                        <a:pt x="2122" y="4106"/>
                      </a:cubicBezTo>
                      <a:cubicBezTo>
                        <a:pt x="2398" y="4106"/>
                        <a:pt x="2666" y="4202"/>
                        <a:pt x="2867" y="4404"/>
                      </a:cubicBezTo>
                      <a:cubicBezTo>
                        <a:pt x="3151" y="4624"/>
                        <a:pt x="3308" y="4971"/>
                        <a:pt x="3277" y="5286"/>
                      </a:cubicBezTo>
                      <a:cubicBezTo>
                        <a:pt x="3592" y="5286"/>
                        <a:pt x="3907" y="5412"/>
                        <a:pt x="4128" y="5664"/>
                      </a:cubicBezTo>
                      <a:cubicBezTo>
                        <a:pt x="4380" y="5884"/>
                        <a:pt x="4506" y="6200"/>
                        <a:pt x="4506" y="6515"/>
                      </a:cubicBezTo>
                      <a:cubicBezTo>
                        <a:pt x="4821" y="6515"/>
                        <a:pt x="5136" y="6641"/>
                        <a:pt x="5356" y="6861"/>
                      </a:cubicBezTo>
                      <a:cubicBezTo>
                        <a:pt x="5608" y="7113"/>
                        <a:pt x="5703" y="7428"/>
                        <a:pt x="5703" y="7743"/>
                      </a:cubicBezTo>
                      <a:cubicBezTo>
                        <a:pt x="6018" y="7743"/>
                        <a:pt x="6364" y="7869"/>
                        <a:pt x="6585" y="8090"/>
                      </a:cubicBezTo>
                      <a:cubicBezTo>
                        <a:pt x="6837" y="8342"/>
                        <a:pt x="6931" y="8657"/>
                        <a:pt x="6931" y="8909"/>
                      </a:cubicBezTo>
                      <a:lnTo>
                        <a:pt x="7814" y="9791"/>
                      </a:lnTo>
                      <a:cubicBezTo>
                        <a:pt x="7908" y="9886"/>
                        <a:pt x="8034" y="9933"/>
                        <a:pt x="8160" y="9933"/>
                      </a:cubicBezTo>
                      <a:cubicBezTo>
                        <a:pt x="8286" y="9933"/>
                        <a:pt x="8412" y="9886"/>
                        <a:pt x="8507" y="9791"/>
                      </a:cubicBezTo>
                      <a:cubicBezTo>
                        <a:pt x="8727" y="9602"/>
                        <a:pt x="8727" y="9287"/>
                        <a:pt x="8507" y="9066"/>
                      </a:cubicBezTo>
                      <a:lnTo>
                        <a:pt x="7656" y="8216"/>
                      </a:lnTo>
                      <a:cubicBezTo>
                        <a:pt x="7530" y="8090"/>
                        <a:pt x="7530" y="7869"/>
                        <a:pt x="7656" y="7743"/>
                      </a:cubicBezTo>
                      <a:cubicBezTo>
                        <a:pt x="7748" y="7596"/>
                        <a:pt x="7851" y="7534"/>
                        <a:pt x="7953" y="7534"/>
                      </a:cubicBezTo>
                      <a:cubicBezTo>
                        <a:pt x="8024" y="7534"/>
                        <a:pt x="8095" y="7565"/>
                        <a:pt x="8160" y="7617"/>
                      </a:cubicBezTo>
                      <a:lnTo>
                        <a:pt x="9011" y="8499"/>
                      </a:lnTo>
                      <a:cubicBezTo>
                        <a:pt x="9121" y="8594"/>
                        <a:pt x="9255" y="8641"/>
                        <a:pt x="9385" y="8641"/>
                      </a:cubicBezTo>
                      <a:cubicBezTo>
                        <a:pt x="9515" y="8641"/>
                        <a:pt x="9641" y="8594"/>
                        <a:pt x="9735" y="8499"/>
                      </a:cubicBezTo>
                      <a:cubicBezTo>
                        <a:pt x="9924" y="8279"/>
                        <a:pt x="9924" y="7964"/>
                        <a:pt x="9735" y="7775"/>
                      </a:cubicBezTo>
                      <a:lnTo>
                        <a:pt x="8853" y="6924"/>
                      </a:lnTo>
                      <a:cubicBezTo>
                        <a:pt x="8759" y="6798"/>
                        <a:pt x="8759" y="6578"/>
                        <a:pt x="8853" y="6452"/>
                      </a:cubicBezTo>
                      <a:cubicBezTo>
                        <a:pt x="8916" y="6389"/>
                        <a:pt x="9011" y="6357"/>
                        <a:pt x="9101" y="6357"/>
                      </a:cubicBezTo>
                      <a:cubicBezTo>
                        <a:pt x="9192" y="6357"/>
                        <a:pt x="9279" y="6389"/>
                        <a:pt x="9326" y="6452"/>
                      </a:cubicBezTo>
                      <a:lnTo>
                        <a:pt x="10208" y="7302"/>
                      </a:lnTo>
                      <a:cubicBezTo>
                        <a:pt x="10303" y="7397"/>
                        <a:pt x="10429" y="7444"/>
                        <a:pt x="10555" y="7444"/>
                      </a:cubicBezTo>
                      <a:cubicBezTo>
                        <a:pt x="10681" y="7444"/>
                        <a:pt x="10807" y="7397"/>
                        <a:pt x="10901" y="7302"/>
                      </a:cubicBezTo>
                      <a:cubicBezTo>
                        <a:pt x="11122" y="7113"/>
                        <a:pt x="11122" y="6798"/>
                        <a:pt x="10901" y="6609"/>
                      </a:cubicBezTo>
                      <a:lnTo>
                        <a:pt x="10334" y="6010"/>
                      </a:lnTo>
                      <a:lnTo>
                        <a:pt x="10208" y="5884"/>
                      </a:lnTo>
                      <a:lnTo>
                        <a:pt x="6931" y="2608"/>
                      </a:lnTo>
                      <a:cubicBezTo>
                        <a:pt x="6884" y="2561"/>
                        <a:pt x="6798" y="2537"/>
                        <a:pt x="6707" y="2537"/>
                      </a:cubicBezTo>
                      <a:cubicBezTo>
                        <a:pt x="6616" y="2537"/>
                        <a:pt x="6522" y="2561"/>
                        <a:pt x="6459" y="2608"/>
                      </a:cubicBezTo>
                      <a:lnTo>
                        <a:pt x="5167" y="3931"/>
                      </a:lnTo>
                      <a:cubicBezTo>
                        <a:pt x="4904" y="4176"/>
                        <a:pt x="4562" y="4308"/>
                        <a:pt x="4229" y="4308"/>
                      </a:cubicBezTo>
                      <a:cubicBezTo>
                        <a:pt x="4004" y="4308"/>
                        <a:pt x="3783" y="4247"/>
                        <a:pt x="3592" y="4120"/>
                      </a:cubicBezTo>
                      <a:cubicBezTo>
                        <a:pt x="2962" y="3679"/>
                        <a:pt x="2930" y="2829"/>
                        <a:pt x="3434" y="2293"/>
                      </a:cubicBezTo>
                      <a:lnTo>
                        <a:pt x="5010" y="529"/>
                      </a:lnTo>
                      <a:lnTo>
                        <a:pt x="4789" y="308"/>
                      </a:lnTo>
                      <a:cubicBezTo>
                        <a:pt x="4584" y="103"/>
                        <a:pt x="4317" y="1"/>
                        <a:pt x="404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7947;p86"/>
                <p:cNvSpPr/>
                <p:nvPr/>
              </p:nvSpPr>
              <p:spPr>
                <a:xfrm>
                  <a:off x="-5163425" y="3631325"/>
                  <a:ext cx="205600" cy="15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4" h="6018" extrusionOk="0">
                      <a:moveTo>
                        <a:pt x="3699" y="0"/>
                      </a:moveTo>
                      <a:cubicBezTo>
                        <a:pt x="3435" y="0"/>
                        <a:pt x="3167" y="95"/>
                        <a:pt x="2962" y="284"/>
                      </a:cubicBezTo>
                      <a:lnTo>
                        <a:pt x="2364" y="883"/>
                      </a:lnTo>
                      <a:lnTo>
                        <a:pt x="2269" y="1009"/>
                      </a:lnTo>
                      <a:lnTo>
                        <a:pt x="222" y="3245"/>
                      </a:lnTo>
                      <a:cubicBezTo>
                        <a:pt x="1" y="3435"/>
                        <a:pt x="1" y="3781"/>
                        <a:pt x="222" y="3970"/>
                      </a:cubicBezTo>
                      <a:cubicBezTo>
                        <a:pt x="316" y="4065"/>
                        <a:pt x="442" y="4112"/>
                        <a:pt x="568" y="4112"/>
                      </a:cubicBezTo>
                      <a:cubicBezTo>
                        <a:pt x="694" y="4112"/>
                        <a:pt x="820" y="4065"/>
                        <a:pt x="915" y="3970"/>
                      </a:cubicBezTo>
                      <a:lnTo>
                        <a:pt x="2269" y="2615"/>
                      </a:lnTo>
                      <a:cubicBezTo>
                        <a:pt x="2458" y="2426"/>
                        <a:pt x="2718" y="2332"/>
                        <a:pt x="2982" y="2332"/>
                      </a:cubicBezTo>
                      <a:cubicBezTo>
                        <a:pt x="3246" y="2332"/>
                        <a:pt x="3514" y="2426"/>
                        <a:pt x="3719" y="2615"/>
                      </a:cubicBezTo>
                      <a:lnTo>
                        <a:pt x="7090" y="6018"/>
                      </a:lnTo>
                      <a:lnTo>
                        <a:pt x="7814" y="5356"/>
                      </a:lnTo>
                      <a:cubicBezTo>
                        <a:pt x="8224" y="4947"/>
                        <a:pt x="8224" y="4285"/>
                        <a:pt x="7814" y="3876"/>
                      </a:cubicBezTo>
                      <a:lnTo>
                        <a:pt x="4412" y="284"/>
                      </a:lnTo>
                      <a:cubicBezTo>
                        <a:pt x="4223" y="95"/>
                        <a:pt x="3963" y="0"/>
                        <a:pt x="369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5" name="Gruppo 4"/>
          <p:cNvGrpSpPr/>
          <p:nvPr/>
        </p:nvGrpSpPr>
        <p:grpSpPr>
          <a:xfrm>
            <a:off x="713213" y="1371688"/>
            <a:ext cx="2437509" cy="2714839"/>
            <a:chOff x="713213" y="1371688"/>
            <a:chExt cx="2437509" cy="2714839"/>
          </a:xfrm>
        </p:grpSpPr>
        <p:sp>
          <p:nvSpPr>
            <p:cNvPr id="768" name="Google Shape;768;p60"/>
            <p:cNvSpPr txBox="1"/>
            <p:nvPr/>
          </p:nvSpPr>
          <p:spPr>
            <a:xfrm>
              <a:off x="713222" y="2499700"/>
              <a:ext cx="2437500" cy="35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 b="1" dirty="0" smtClean="0">
                  <a:solidFill>
                    <a:schemeClr val="accent2"/>
                  </a:solidFill>
                  <a:latin typeface="+mj-lt"/>
                  <a:ea typeface="Poppins SemiBold"/>
                  <a:cs typeface="Poppins SemiBold"/>
                  <a:sym typeface="Poppins SemiBold"/>
                </a:rPr>
                <a:t>Obiettivo</a:t>
              </a:r>
              <a:endParaRPr sz="2300" b="1" dirty="0">
                <a:solidFill>
                  <a:schemeClr val="accent2"/>
                </a:solidFill>
                <a:latin typeface="+mj-lt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769" name="Google Shape;769;p60"/>
            <p:cNvSpPr txBox="1"/>
            <p:nvPr/>
          </p:nvSpPr>
          <p:spPr>
            <a:xfrm>
              <a:off x="713213" y="2856400"/>
              <a:ext cx="2437500" cy="12301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it-IT" dirty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Realizzare un </a:t>
              </a:r>
              <a:r>
                <a:rPr lang="it-IT" i="1" dirty="0" err="1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m</a:t>
              </a:r>
              <a:r>
                <a:rPr lang="it-IT" i="1" dirty="0" err="1" smtClean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iddleware</a:t>
              </a:r>
              <a:r>
                <a:rPr lang="it-IT" dirty="0" smtClean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 che </a:t>
              </a:r>
              <a:r>
                <a:rPr lang="it-IT" dirty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traduca segnali da periferiche non </a:t>
              </a:r>
              <a:r>
                <a:rPr lang="it-IT" dirty="0" smtClean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standard, in </a:t>
              </a:r>
              <a:r>
                <a:rPr lang="it-IT" dirty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eventi di input </a:t>
              </a:r>
              <a:r>
                <a:rPr lang="it-IT" dirty="0" smtClean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standard.</a:t>
              </a:r>
              <a:endParaRPr dirty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" name="Gruppo 1"/>
            <p:cNvGrpSpPr/>
            <p:nvPr/>
          </p:nvGrpSpPr>
          <p:grpSpPr>
            <a:xfrm>
              <a:off x="1482287" y="1371688"/>
              <a:ext cx="899400" cy="899400"/>
              <a:chOff x="1482287" y="1371688"/>
              <a:chExt cx="899400" cy="899400"/>
            </a:xfrm>
            <a:effectLst>
              <a:outerShdw blurRad="50800" dist="38100" dir="8100000" algn="tr" rotWithShape="0">
                <a:schemeClr val="accent1">
                  <a:alpha val="40000"/>
                </a:schemeClr>
              </a:outerShdw>
            </a:effectLst>
          </p:grpSpPr>
          <p:sp>
            <p:nvSpPr>
              <p:cNvPr id="770" name="Google Shape;770;p60"/>
              <p:cNvSpPr/>
              <p:nvPr/>
            </p:nvSpPr>
            <p:spPr>
              <a:xfrm>
                <a:off x="1482287" y="1371688"/>
                <a:ext cx="899400" cy="899400"/>
              </a:xfrm>
              <a:prstGeom prst="ellipse">
                <a:avLst/>
              </a:prstGeom>
              <a:solidFill>
                <a:srgbClr val="FCFCFC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0" name="Google Shape;7796;p86"/>
              <p:cNvGrpSpPr/>
              <p:nvPr/>
            </p:nvGrpSpPr>
            <p:grpSpPr>
              <a:xfrm>
                <a:off x="1721023" y="1630431"/>
                <a:ext cx="421927" cy="419659"/>
                <a:chOff x="-6329100" y="3632100"/>
                <a:chExt cx="293025" cy="291450"/>
              </a:xfrm>
              <a:gradFill flip="none" rotWithShape="1">
                <a:gsLst>
                  <a:gs pos="100000">
                    <a:schemeClr val="tx2"/>
                  </a:gs>
                  <a:gs pos="0">
                    <a:schemeClr val="accent1"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</p:grpSpPr>
            <p:sp>
              <p:nvSpPr>
                <p:cNvPr id="31" name="Google Shape;7797;p86"/>
                <p:cNvSpPr/>
                <p:nvPr/>
              </p:nvSpPr>
              <p:spPr>
                <a:xfrm>
                  <a:off x="-6210700" y="3751600"/>
                  <a:ext cx="174625" cy="17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" h="6878" extrusionOk="0">
                      <a:moveTo>
                        <a:pt x="492" y="0"/>
                      </a:moveTo>
                      <a:cubicBezTo>
                        <a:pt x="219" y="0"/>
                        <a:pt x="0" y="235"/>
                        <a:pt x="85" y="545"/>
                      </a:cubicBezTo>
                      <a:lnTo>
                        <a:pt x="1503" y="5712"/>
                      </a:lnTo>
                      <a:cubicBezTo>
                        <a:pt x="1559" y="5882"/>
                        <a:pt x="1707" y="5984"/>
                        <a:pt x="1856" y="5984"/>
                      </a:cubicBezTo>
                      <a:cubicBezTo>
                        <a:pt x="1956" y="5984"/>
                        <a:pt x="2057" y="5939"/>
                        <a:pt x="2133" y="5838"/>
                      </a:cubicBezTo>
                      <a:lnTo>
                        <a:pt x="2889" y="4735"/>
                      </a:lnTo>
                      <a:lnTo>
                        <a:pt x="3739" y="5712"/>
                      </a:lnTo>
                      <a:lnTo>
                        <a:pt x="4622" y="6594"/>
                      </a:lnTo>
                      <a:cubicBezTo>
                        <a:pt x="4811" y="6783"/>
                        <a:pt x="5086" y="6878"/>
                        <a:pt x="5362" y="6878"/>
                      </a:cubicBezTo>
                      <a:cubicBezTo>
                        <a:pt x="5638" y="6878"/>
                        <a:pt x="5913" y="6783"/>
                        <a:pt x="6102" y="6594"/>
                      </a:cubicBezTo>
                      <a:lnTo>
                        <a:pt x="6575" y="6122"/>
                      </a:lnTo>
                      <a:cubicBezTo>
                        <a:pt x="6984" y="5712"/>
                        <a:pt x="6984" y="5113"/>
                        <a:pt x="6575" y="4672"/>
                      </a:cubicBezTo>
                      <a:lnTo>
                        <a:pt x="4811" y="2814"/>
                      </a:lnTo>
                      <a:lnTo>
                        <a:pt x="5913" y="2058"/>
                      </a:lnTo>
                      <a:cubicBezTo>
                        <a:pt x="6134" y="1900"/>
                        <a:pt x="6102" y="1522"/>
                        <a:pt x="5787" y="1427"/>
                      </a:cubicBezTo>
                      <a:lnTo>
                        <a:pt x="589" y="10"/>
                      </a:lnTo>
                      <a:cubicBezTo>
                        <a:pt x="556" y="3"/>
                        <a:pt x="524" y="0"/>
                        <a:pt x="4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" name="Google Shape;7798;p86"/>
                <p:cNvSpPr/>
                <p:nvPr/>
              </p:nvSpPr>
              <p:spPr>
                <a:xfrm>
                  <a:off x="-6272400" y="3691975"/>
                  <a:ext cx="136300" cy="1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2" h="5420" extrusionOk="0">
                      <a:moveTo>
                        <a:pt x="2742" y="0"/>
                      </a:moveTo>
                      <a:cubicBezTo>
                        <a:pt x="1261" y="0"/>
                        <a:pt x="1" y="1229"/>
                        <a:pt x="1" y="2710"/>
                      </a:cubicBezTo>
                      <a:cubicBezTo>
                        <a:pt x="1" y="4127"/>
                        <a:pt x="1041" y="5293"/>
                        <a:pt x="2427" y="5419"/>
                      </a:cubicBezTo>
                      <a:lnTo>
                        <a:pt x="2112" y="4317"/>
                      </a:lnTo>
                      <a:cubicBezTo>
                        <a:pt x="1482" y="4096"/>
                        <a:pt x="1009" y="3466"/>
                        <a:pt x="1009" y="2741"/>
                      </a:cubicBezTo>
                      <a:cubicBezTo>
                        <a:pt x="1041" y="1765"/>
                        <a:pt x="1828" y="1009"/>
                        <a:pt x="2773" y="1009"/>
                      </a:cubicBezTo>
                      <a:cubicBezTo>
                        <a:pt x="3530" y="1009"/>
                        <a:pt x="4128" y="1481"/>
                        <a:pt x="4349" y="2143"/>
                      </a:cubicBezTo>
                      <a:lnTo>
                        <a:pt x="5451" y="2458"/>
                      </a:lnTo>
                      <a:cubicBezTo>
                        <a:pt x="5294" y="1072"/>
                        <a:pt x="4160" y="0"/>
                        <a:pt x="274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" name="Google Shape;7799;p86"/>
                <p:cNvSpPr/>
                <p:nvPr/>
              </p:nvSpPr>
              <p:spPr>
                <a:xfrm>
                  <a:off x="-6329100" y="3632100"/>
                  <a:ext cx="257575" cy="25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3" h="10241" extrusionOk="0">
                      <a:moveTo>
                        <a:pt x="5136" y="1"/>
                      </a:moveTo>
                      <a:cubicBezTo>
                        <a:pt x="2301" y="1"/>
                        <a:pt x="1" y="2269"/>
                        <a:pt x="1" y="5105"/>
                      </a:cubicBezTo>
                      <a:cubicBezTo>
                        <a:pt x="1" y="7972"/>
                        <a:pt x="2332" y="10240"/>
                        <a:pt x="5136" y="10240"/>
                      </a:cubicBezTo>
                      <a:cubicBezTo>
                        <a:pt x="5262" y="10240"/>
                        <a:pt x="5356" y="10240"/>
                        <a:pt x="5451" y="10177"/>
                      </a:cubicBezTo>
                      <a:lnTo>
                        <a:pt x="4978" y="8444"/>
                      </a:lnTo>
                      <a:cubicBezTo>
                        <a:pt x="4959" y="8445"/>
                        <a:pt x="4940" y="8445"/>
                        <a:pt x="4921" y="8445"/>
                      </a:cubicBezTo>
                      <a:cubicBezTo>
                        <a:pt x="3089" y="8445"/>
                        <a:pt x="1639" y="6945"/>
                        <a:pt x="1639" y="5105"/>
                      </a:cubicBezTo>
                      <a:cubicBezTo>
                        <a:pt x="1639" y="3214"/>
                        <a:pt x="3151" y="1702"/>
                        <a:pt x="5073" y="1702"/>
                      </a:cubicBezTo>
                      <a:cubicBezTo>
                        <a:pt x="6900" y="1702"/>
                        <a:pt x="8412" y="3151"/>
                        <a:pt x="8475" y="4979"/>
                      </a:cubicBezTo>
                      <a:lnTo>
                        <a:pt x="10208" y="5451"/>
                      </a:lnTo>
                      <a:cubicBezTo>
                        <a:pt x="10303" y="4002"/>
                        <a:pt x="9799" y="2553"/>
                        <a:pt x="8759" y="1482"/>
                      </a:cubicBezTo>
                      <a:cubicBezTo>
                        <a:pt x="7782" y="505"/>
                        <a:pt x="6522" y="1"/>
                        <a:pt x="513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7" name="Gruppo 6"/>
          <p:cNvGrpSpPr/>
          <p:nvPr/>
        </p:nvGrpSpPr>
        <p:grpSpPr>
          <a:xfrm>
            <a:off x="5970467" y="1371688"/>
            <a:ext cx="2568340" cy="2424198"/>
            <a:chOff x="5970467" y="1371688"/>
            <a:chExt cx="2568340" cy="2424198"/>
          </a:xfrm>
        </p:grpSpPr>
        <p:sp>
          <p:nvSpPr>
            <p:cNvPr id="778" name="Google Shape;778;p60"/>
            <p:cNvSpPr txBox="1"/>
            <p:nvPr/>
          </p:nvSpPr>
          <p:spPr>
            <a:xfrm>
              <a:off x="5970467" y="2499739"/>
              <a:ext cx="2568340" cy="35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100"/>
                <a:buFont typeface="Arial"/>
                <a:buNone/>
              </a:pPr>
              <a:r>
                <a:rPr lang="en" sz="2300" b="1" dirty="0" smtClean="0">
                  <a:solidFill>
                    <a:schemeClr val="accent2"/>
                  </a:solidFill>
                  <a:latin typeface="+mj-lt"/>
                  <a:ea typeface="Poppins SemiBold"/>
                  <a:cs typeface="Poppins SemiBold"/>
                  <a:sym typeface="Poppins SemiBold"/>
                </a:rPr>
                <a:t>Sfida principale</a:t>
              </a:r>
              <a:endParaRPr sz="2300" b="1" dirty="0">
                <a:solidFill>
                  <a:schemeClr val="accent2"/>
                </a:solidFill>
                <a:latin typeface="+mj-lt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779" name="Google Shape;779;p60"/>
            <p:cNvSpPr txBox="1"/>
            <p:nvPr/>
          </p:nvSpPr>
          <p:spPr>
            <a:xfrm>
              <a:off x="5993263" y="2856400"/>
              <a:ext cx="2437500" cy="9394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it-IT" dirty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Il sistema deve operare come un interprete "invisibile" e "in tempo </a:t>
              </a:r>
              <a:r>
                <a:rPr lang="it-IT" dirty="0" smtClean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reale".</a:t>
              </a:r>
              <a:endParaRPr dirty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" name="Gruppo 3"/>
            <p:cNvGrpSpPr/>
            <p:nvPr/>
          </p:nvGrpSpPr>
          <p:grpSpPr>
            <a:xfrm>
              <a:off x="6804937" y="1371688"/>
              <a:ext cx="899400" cy="899400"/>
              <a:chOff x="6804937" y="1371688"/>
              <a:chExt cx="899400" cy="899400"/>
            </a:xfrm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p:grpSpPr>
          <p:sp>
            <p:nvSpPr>
              <p:cNvPr id="775" name="Google Shape;775;p60"/>
              <p:cNvSpPr/>
              <p:nvPr/>
            </p:nvSpPr>
            <p:spPr>
              <a:xfrm>
                <a:off x="6804937" y="1371688"/>
                <a:ext cx="899400" cy="899400"/>
              </a:xfrm>
              <a:prstGeom prst="ellipse">
                <a:avLst/>
              </a:prstGeom>
              <a:solidFill>
                <a:srgbClr val="FCFCFC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4" name="Google Shape;7066;p84"/>
              <p:cNvGrpSpPr/>
              <p:nvPr/>
            </p:nvGrpSpPr>
            <p:grpSpPr>
              <a:xfrm>
                <a:off x="7077008" y="1686183"/>
                <a:ext cx="355258" cy="270410"/>
                <a:chOff x="-47523400" y="3973950"/>
                <a:chExt cx="300100" cy="228425"/>
              </a:xfrm>
              <a:gradFill flip="none" rotWithShape="1">
                <a:gsLst>
                  <a:gs pos="100000">
                    <a:schemeClr val="tx2"/>
                  </a:gs>
                  <a:gs pos="0">
                    <a:schemeClr val="accent1"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</p:grpSpPr>
            <p:sp>
              <p:nvSpPr>
                <p:cNvPr id="35" name="Google Shape;7067;p84"/>
                <p:cNvSpPr/>
                <p:nvPr/>
              </p:nvSpPr>
              <p:spPr>
                <a:xfrm>
                  <a:off x="-47417075" y="4061375"/>
                  <a:ext cx="15775" cy="1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" h="631" extrusionOk="0">
                      <a:moveTo>
                        <a:pt x="0" y="0"/>
                      </a:moveTo>
                      <a:lnTo>
                        <a:pt x="0" y="630"/>
                      </a:lnTo>
                      <a:cubicBezTo>
                        <a:pt x="284" y="536"/>
                        <a:pt x="504" y="315"/>
                        <a:pt x="63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7068;p84"/>
                <p:cNvSpPr/>
                <p:nvPr/>
              </p:nvSpPr>
              <p:spPr>
                <a:xfrm>
                  <a:off x="-47417875" y="4061375"/>
                  <a:ext cx="52800" cy="5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111" extrusionOk="0">
                      <a:moveTo>
                        <a:pt x="1356" y="0"/>
                      </a:moveTo>
                      <a:cubicBezTo>
                        <a:pt x="1261" y="693"/>
                        <a:pt x="694" y="1260"/>
                        <a:pt x="1" y="1386"/>
                      </a:cubicBezTo>
                      <a:lnTo>
                        <a:pt x="1" y="2111"/>
                      </a:lnTo>
                      <a:lnTo>
                        <a:pt x="2112" y="2111"/>
                      </a:lnTo>
                      <a:lnTo>
                        <a:pt x="211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7069;p84"/>
                <p:cNvSpPr/>
                <p:nvPr/>
              </p:nvSpPr>
              <p:spPr>
                <a:xfrm>
                  <a:off x="-47453300" y="4026700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71" y="1"/>
                      </a:moveTo>
                      <a:cubicBezTo>
                        <a:pt x="473" y="1"/>
                        <a:pt x="0" y="473"/>
                        <a:pt x="0" y="1072"/>
                      </a:cubicBezTo>
                      <a:cubicBezTo>
                        <a:pt x="0" y="1545"/>
                        <a:pt x="284" y="1891"/>
                        <a:pt x="693" y="2049"/>
                      </a:cubicBezTo>
                      <a:lnTo>
                        <a:pt x="693" y="1072"/>
                      </a:lnTo>
                      <a:cubicBezTo>
                        <a:pt x="693" y="883"/>
                        <a:pt x="851" y="725"/>
                        <a:pt x="1071" y="725"/>
                      </a:cubicBezTo>
                      <a:lnTo>
                        <a:pt x="2048" y="725"/>
                      </a:lnTo>
                      <a:cubicBezTo>
                        <a:pt x="1922" y="284"/>
                        <a:pt x="1512" y="1"/>
                        <a:pt x="10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" name="Google Shape;7070;p84"/>
                <p:cNvSpPr/>
                <p:nvPr/>
              </p:nvSpPr>
              <p:spPr>
                <a:xfrm>
                  <a:off x="-47506875" y="3973950"/>
                  <a:ext cx="264675" cy="17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87" h="6995" extrusionOk="0">
                      <a:moveTo>
                        <a:pt x="8854" y="1418"/>
                      </a:moveTo>
                      <a:cubicBezTo>
                        <a:pt x="9074" y="1418"/>
                        <a:pt x="9232" y="1575"/>
                        <a:pt x="9232" y="1764"/>
                      </a:cubicBezTo>
                      <a:cubicBezTo>
                        <a:pt x="9232" y="1953"/>
                        <a:pt x="9074" y="2111"/>
                        <a:pt x="8854" y="2111"/>
                      </a:cubicBezTo>
                      <a:lnTo>
                        <a:pt x="7436" y="2111"/>
                      </a:lnTo>
                      <a:cubicBezTo>
                        <a:pt x="7247" y="2111"/>
                        <a:pt x="7089" y="1953"/>
                        <a:pt x="7089" y="1764"/>
                      </a:cubicBezTo>
                      <a:cubicBezTo>
                        <a:pt x="7089" y="1575"/>
                        <a:pt x="7247" y="1418"/>
                        <a:pt x="7436" y="1418"/>
                      </a:cubicBezTo>
                      <a:close/>
                      <a:moveTo>
                        <a:pt x="8854" y="2772"/>
                      </a:moveTo>
                      <a:cubicBezTo>
                        <a:pt x="9074" y="2772"/>
                        <a:pt x="9232" y="2930"/>
                        <a:pt x="9232" y="3151"/>
                      </a:cubicBezTo>
                      <a:cubicBezTo>
                        <a:pt x="9232" y="3340"/>
                        <a:pt x="9074" y="3497"/>
                        <a:pt x="8854" y="3497"/>
                      </a:cubicBezTo>
                      <a:lnTo>
                        <a:pt x="7436" y="3497"/>
                      </a:lnTo>
                      <a:cubicBezTo>
                        <a:pt x="7247" y="3497"/>
                        <a:pt x="7089" y="3340"/>
                        <a:pt x="7089" y="3151"/>
                      </a:cubicBezTo>
                      <a:cubicBezTo>
                        <a:pt x="7089" y="2930"/>
                        <a:pt x="7247" y="2772"/>
                        <a:pt x="7436" y="2772"/>
                      </a:cubicBezTo>
                      <a:close/>
                      <a:moveTo>
                        <a:pt x="8854" y="4190"/>
                      </a:moveTo>
                      <a:cubicBezTo>
                        <a:pt x="9074" y="4190"/>
                        <a:pt x="9232" y="4348"/>
                        <a:pt x="9232" y="4568"/>
                      </a:cubicBezTo>
                      <a:cubicBezTo>
                        <a:pt x="9232" y="4757"/>
                        <a:pt x="9074" y="4915"/>
                        <a:pt x="8854" y="4915"/>
                      </a:cubicBezTo>
                      <a:lnTo>
                        <a:pt x="7436" y="4915"/>
                      </a:lnTo>
                      <a:cubicBezTo>
                        <a:pt x="7247" y="4915"/>
                        <a:pt x="7089" y="4757"/>
                        <a:pt x="7089" y="4568"/>
                      </a:cubicBezTo>
                      <a:cubicBezTo>
                        <a:pt x="7089" y="4348"/>
                        <a:pt x="7247" y="4190"/>
                        <a:pt x="7436" y="4190"/>
                      </a:cubicBezTo>
                      <a:close/>
                      <a:moveTo>
                        <a:pt x="3246" y="1355"/>
                      </a:moveTo>
                      <a:cubicBezTo>
                        <a:pt x="4096" y="1355"/>
                        <a:pt x="4821" y="1953"/>
                        <a:pt x="4979" y="2772"/>
                      </a:cubicBezTo>
                      <a:lnTo>
                        <a:pt x="6081" y="2772"/>
                      </a:lnTo>
                      <a:cubicBezTo>
                        <a:pt x="6270" y="2772"/>
                        <a:pt x="6428" y="2930"/>
                        <a:pt x="6428" y="3151"/>
                      </a:cubicBezTo>
                      <a:lnTo>
                        <a:pt x="6428" y="5986"/>
                      </a:lnTo>
                      <a:lnTo>
                        <a:pt x="6396" y="5986"/>
                      </a:lnTo>
                      <a:cubicBezTo>
                        <a:pt x="6396" y="6175"/>
                        <a:pt x="6239" y="6333"/>
                        <a:pt x="6018" y="6333"/>
                      </a:cubicBezTo>
                      <a:lnTo>
                        <a:pt x="3246" y="6333"/>
                      </a:lnTo>
                      <a:cubicBezTo>
                        <a:pt x="3025" y="6333"/>
                        <a:pt x="2868" y="6175"/>
                        <a:pt x="2868" y="5986"/>
                      </a:cubicBezTo>
                      <a:lnTo>
                        <a:pt x="2868" y="4883"/>
                      </a:lnTo>
                      <a:cubicBezTo>
                        <a:pt x="2080" y="4726"/>
                        <a:pt x="1450" y="4001"/>
                        <a:pt x="1450" y="3151"/>
                      </a:cubicBezTo>
                      <a:cubicBezTo>
                        <a:pt x="1450" y="2142"/>
                        <a:pt x="2238" y="1355"/>
                        <a:pt x="3246" y="1355"/>
                      </a:cubicBezTo>
                      <a:close/>
                      <a:moveTo>
                        <a:pt x="8854" y="5608"/>
                      </a:moveTo>
                      <a:cubicBezTo>
                        <a:pt x="9074" y="5608"/>
                        <a:pt x="9232" y="5765"/>
                        <a:pt x="9232" y="5986"/>
                      </a:cubicBezTo>
                      <a:cubicBezTo>
                        <a:pt x="9232" y="6175"/>
                        <a:pt x="9074" y="6333"/>
                        <a:pt x="8854" y="6333"/>
                      </a:cubicBezTo>
                      <a:lnTo>
                        <a:pt x="7436" y="6333"/>
                      </a:lnTo>
                      <a:cubicBezTo>
                        <a:pt x="7247" y="6333"/>
                        <a:pt x="7089" y="6175"/>
                        <a:pt x="7089" y="5986"/>
                      </a:cubicBezTo>
                      <a:cubicBezTo>
                        <a:pt x="7089" y="5765"/>
                        <a:pt x="7247" y="5608"/>
                        <a:pt x="7436" y="5608"/>
                      </a:cubicBezTo>
                      <a:close/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6994"/>
                      </a:lnTo>
                      <a:lnTo>
                        <a:pt x="10586" y="6994"/>
                      </a:lnTo>
                      <a:lnTo>
                        <a:pt x="10586" y="347"/>
                      </a:lnTo>
                      <a:cubicBezTo>
                        <a:pt x="10586" y="158"/>
                        <a:pt x="10429" y="0"/>
                        <a:pt x="102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" name="Google Shape;7071;p84"/>
                <p:cNvSpPr/>
                <p:nvPr/>
              </p:nvSpPr>
              <p:spPr>
                <a:xfrm>
                  <a:off x="-47523400" y="4166900"/>
                  <a:ext cx="3001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4" h="1419" extrusionOk="0">
                      <a:moveTo>
                        <a:pt x="0" y="1"/>
                      </a:moveTo>
                      <a:lnTo>
                        <a:pt x="0" y="1040"/>
                      </a:lnTo>
                      <a:cubicBezTo>
                        <a:pt x="0" y="1261"/>
                        <a:pt x="158" y="1418"/>
                        <a:pt x="347" y="1418"/>
                      </a:cubicBezTo>
                      <a:lnTo>
                        <a:pt x="11657" y="1418"/>
                      </a:lnTo>
                      <a:cubicBezTo>
                        <a:pt x="11846" y="1418"/>
                        <a:pt x="12004" y="1261"/>
                        <a:pt x="12004" y="1040"/>
                      </a:cubicBezTo>
                      <a:lnTo>
                        <a:pt x="1200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7" grpId="0"/>
      <p:bldP spid="782" grpId="0" animBg="1"/>
      <p:bldP spid="78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tangolo arrotondato 24"/>
          <p:cNvSpPr/>
          <p:nvPr/>
        </p:nvSpPr>
        <p:spPr>
          <a:xfrm>
            <a:off x="4860032" y="1491630"/>
            <a:ext cx="3024336" cy="2808312"/>
          </a:xfrm>
          <a:prstGeom prst="roundRect">
            <a:avLst>
              <a:gd name="adj" fmla="val 8852"/>
            </a:avLst>
          </a:prstGeom>
          <a:solidFill>
            <a:schemeClr val="tx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Rettangolo arrotondato 1"/>
          <p:cNvSpPr/>
          <p:nvPr/>
        </p:nvSpPr>
        <p:spPr>
          <a:xfrm>
            <a:off x="1187624" y="1491630"/>
            <a:ext cx="3024336" cy="2808312"/>
          </a:xfrm>
          <a:prstGeom prst="roundRect">
            <a:avLst>
              <a:gd name="adj" fmla="val 8852"/>
            </a:avLst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u="sng" dirty="0"/>
          </a:p>
        </p:txBody>
      </p:sp>
      <p:sp>
        <p:nvSpPr>
          <p:cNvPr id="338" name="Google Shape;338;p41"/>
          <p:cNvSpPr txBox="1">
            <a:spLocks noGrp="1"/>
          </p:cNvSpPr>
          <p:nvPr>
            <p:ph type="title" idx="2"/>
          </p:nvPr>
        </p:nvSpPr>
        <p:spPr>
          <a:xfrm>
            <a:off x="4860032" y="1635646"/>
            <a:ext cx="3016263" cy="64807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it-IT" b="1" dirty="0" smtClean="0">
                <a:solidFill>
                  <a:schemeClr val="accent1"/>
                </a:solidFill>
                <a:latin typeface="+mj-lt"/>
              </a:rPr>
              <a:t>Requisiti </a:t>
            </a:r>
            <a:r>
              <a:rPr lang="it-IT" b="1" dirty="0">
                <a:solidFill>
                  <a:schemeClr val="accent1"/>
                </a:solidFill>
                <a:latin typeface="+mj-lt"/>
              </a:rPr>
              <a:t>di business</a:t>
            </a:r>
            <a:endParaRPr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39" name="Google Shape;339;p41"/>
          <p:cNvSpPr txBox="1">
            <a:spLocks noGrp="1"/>
          </p:cNvSpPr>
          <p:nvPr>
            <p:ph type="subTitle" idx="1"/>
          </p:nvPr>
        </p:nvSpPr>
        <p:spPr>
          <a:xfrm>
            <a:off x="4868105" y="2355726"/>
            <a:ext cx="3016263" cy="10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Clr>
                <a:schemeClr val="accent1"/>
              </a:buClr>
              <a:buSzPct val="100000"/>
              <a:buFont typeface="Courier New" pitchFamily="49" charset="0"/>
              <a:buChar char="o"/>
            </a:pPr>
            <a:r>
              <a:rPr lang="it-IT" dirty="0">
                <a:latin typeface="+mn-lt"/>
              </a:rPr>
              <a:t>I requisiti funzionali sono stabili e ben definiti dal documento di </a:t>
            </a:r>
            <a:r>
              <a:rPr lang="it-IT" dirty="0" smtClean="0">
                <a:latin typeface="+mn-lt"/>
              </a:rPr>
              <a:t>specifiche </a:t>
            </a:r>
            <a:r>
              <a:rPr lang="it-IT" sz="1200" dirty="0" smtClean="0">
                <a:latin typeface="+mn-lt"/>
              </a:rPr>
              <a:t>(Input </a:t>
            </a:r>
            <a:r>
              <a:rPr lang="it-IT" sz="1200" dirty="0"/>
              <a:t>→</a:t>
            </a:r>
            <a:r>
              <a:rPr lang="it-IT" sz="1200" dirty="0" smtClean="0">
                <a:latin typeface="+mn-lt"/>
              </a:rPr>
              <a:t> Traduzione </a:t>
            </a:r>
            <a:r>
              <a:rPr lang="it-IT" sz="1200" dirty="0" smtClean="0"/>
              <a:t>→ </a:t>
            </a:r>
            <a:r>
              <a:rPr lang="it-IT" sz="1200" dirty="0" smtClean="0">
                <a:latin typeface="+mn-lt"/>
              </a:rPr>
              <a:t>Output)</a:t>
            </a:r>
            <a:endParaRPr sz="1200" dirty="0">
              <a:latin typeface="+mn-lt"/>
            </a:endParaRPr>
          </a:p>
        </p:txBody>
      </p:sp>
      <p:sp>
        <p:nvSpPr>
          <p:cNvPr id="340" name="Google Shape;340;p41"/>
          <p:cNvSpPr txBox="1">
            <a:spLocks noGrp="1"/>
          </p:cNvSpPr>
          <p:nvPr>
            <p:ph type="subTitle" idx="3"/>
          </p:nvPr>
        </p:nvSpPr>
        <p:spPr>
          <a:xfrm>
            <a:off x="1187624" y="2290130"/>
            <a:ext cx="3022414" cy="17217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Aft>
                <a:spcPts val="1200"/>
              </a:spcAft>
              <a:buClr>
                <a:schemeClr val="tx2"/>
              </a:buClr>
              <a:buSzPct val="100000"/>
              <a:buFont typeface="Courier New" pitchFamily="49" charset="0"/>
              <a:buChar char="o"/>
            </a:pPr>
            <a:r>
              <a:rPr lang="it-IT" dirty="0" smtClean="0">
                <a:latin typeface="+mj-lt"/>
              </a:rPr>
              <a:t>Real time: latenza </a:t>
            </a:r>
            <a:r>
              <a:rPr lang="it-IT" dirty="0">
                <a:latin typeface="+mj-lt"/>
              </a:rPr>
              <a:t>critica per </a:t>
            </a:r>
            <a:r>
              <a:rPr lang="it-IT" dirty="0" smtClean="0">
                <a:latin typeface="+mj-lt"/>
              </a:rPr>
              <a:t>l’usabilità;</a:t>
            </a:r>
          </a:p>
          <a:p>
            <a:pPr marL="285750" indent="-285750">
              <a:spcAft>
                <a:spcPts val="1200"/>
              </a:spcAft>
              <a:buClr>
                <a:schemeClr val="tx2"/>
              </a:buClr>
              <a:buSzPct val="100000"/>
              <a:buFont typeface="Courier New" pitchFamily="49" charset="0"/>
              <a:buChar char="o"/>
            </a:pPr>
            <a:r>
              <a:rPr lang="it-IT" sz="1400" dirty="0" smtClean="0">
                <a:latin typeface="+mj-lt"/>
              </a:rPr>
              <a:t>Algoritmi </a:t>
            </a:r>
            <a:r>
              <a:rPr lang="it-IT" sz="1400" dirty="0">
                <a:latin typeface="+mj-lt"/>
              </a:rPr>
              <a:t>di </a:t>
            </a:r>
            <a:r>
              <a:rPr lang="it-IT" sz="1400" dirty="0" smtClean="0">
                <a:latin typeface="+mj-lt"/>
              </a:rPr>
              <a:t>riduzione del rumore;</a:t>
            </a:r>
          </a:p>
          <a:p>
            <a:pPr marL="285750" indent="-285750">
              <a:spcAft>
                <a:spcPts val="1200"/>
              </a:spcAft>
              <a:buClr>
                <a:schemeClr val="tx2"/>
              </a:buClr>
              <a:buSzPct val="100000"/>
              <a:buFont typeface="Courier New" pitchFamily="49" charset="0"/>
              <a:buChar char="o"/>
            </a:pPr>
            <a:r>
              <a:rPr lang="it-IT" sz="1400" dirty="0" smtClean="0">
                <a:latin typeface="+mj-lt"/>
              </a:rPr>
              <a:t>Gestione polimorfa dei dispositivi;</a:t>
            </a:r>
            <a:endParaRPr lang="it-IT" sz="1400" dirty="0">
              <a:latin typeface="+mj-lt"/>
            </a:endParaRPr>
          </a:p>
        </p:txBody>
      </p:sp>
      <p:sp>
        <p:nvSpPr>
          <p:cNvPr id="341" name="Google Shape;341;p41"/>
          <p:cNvSpPr txBox="1">
            <a:spLocks noGrp="1"/>
          </p:cNvSpPr>
          <p:nvPr>
            <p:ph type="title" idx="4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+mj-lt"/>
              </a:rPr>
              <a:t>Analisi dei fattori critici</a:t>
            </a:r>
            <a:endParaRPr b="1" dirty="0">
              <a:latin typeface="+mj-lt"/>
            </a:endParaRPr>
          </a:p>
        </p:txBody>
      </p:sp>
      <p:sp>
        <p:nvSpPr>
          <p:cNvPr id="352" name="Google Shape;352;p41"/>
          <p:cNvSpPr/>
          <p:nvPr/>
        </p:nvSpPr>
        <p:spPr>
          <a:xfrm>
            <a:off x="6693075" y="-18873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41"/>
          <p:cNvSpPr/>
          <p:nvPr/>
        </p:nvSpPr>
        <p:spPr>
          <a:xfrm>
            <a:off x="8183775" y="2619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338;p41"/>
          <p:cNvSpPr txBox="1">
            <a:spLocks/>
          </p:cNvSpPr>
          <p:nvPr/>
        </p:nvSpPr>
        <p:spPr>
          <a:xfrm>
            <a:off x="1191660" y="1635646"/>
            <a:ext cx="3016263" cy="648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23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algn="ctr"/>
            <a:r>
              <a:rPr lang="it-IT" b="1" dirty="0" smtClean="0">
                <a:solidFill>
                  <a:schemeClr val="tx2"/>
                </a:solidFill>
                <a:latin typeface="+mj-lt"/>
              </a:rPr>
              <a:t>Tecnici</a:t>
            </a:r>
            <a:endParaRPr lang="it-IT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5793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" grpId="0" animBg="1"/>
      <p:bldP spid="338" grpId="0"/>
      <p:bldP spid="339" grpId="0" build="p"/>
      <p:bldP spid="340" grpId="0" uiExpand="1" build="p"/>
      <p:bldP spid="341" grpId="0"/>
      <p:bldP spid="352" grpId="0" animBg="1"/>
      <p:bldP spid="353" grpId="0" animBg="1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66"/>
          <p:cNvSpPr txBox="1">
            <a:spLocks noGrp="1"/>
          </p:cNvSpPr>
          <p:nvPr>
            <p:ph type="title" idx="4"/>
          </p:nvPr>
        </p:nvSpPr>
        <p:spPr>
          <a:xfrm>
            <a:off x="539552" y="1131590"/>
            <a:ext cx="6696744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b="1" dirty="0">
                <a:latin typeface="+mj-lt"/>
              </a:rPr>
              <a:t>Utilizzo approccio sequenziale</a:t>
            </a:r>
            <a:endParaRPr b="1" dirty="0">
              <a:latin typeface="+mj-lt"/>
            </a:endParaRPr>
          </a:p>
        </p:txBody>
      </p:sp>
      <p:sp>
        <p:nvSpPr>
          <p:cNvPr id="905" name="Google Shape;905;p66"/>
          <p:cNvSpPr/>
          <p:nvPr/>
        </p:nvSpPr>
        <p:spPr>
          <a:xfrm>
            <a:off x="7397275" y="332742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66"/>
          <p:cNvSpPr/>
          <p:nvPr/>
        </p:nvSpPr>
        <p:spPr>
          <a:xfrm>
            <a:off x="-324544" y="-452586"/>
            <a:ext cx="1008112" cy="1008112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66"/>
          <p:cNvSpPr/>
          <p:nvPr/>
        </p:nvSpPr>
        <p:spPr>
          <a:xfrm>
            <a:off x="6482700" y="431857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66"/>
          <p:cNvSpPr/>
          <p:nvPr/>
        </p:nvSpPr>
        <p:spPr>
          <a:xfrm>
            <a:off x="6156176" y="141740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66"/>
          <p:cNvSpPr/>
          <p:nvPr/>
        </p:nvSpPr>
        <p:spPr>
          <a:xfrm>
            <a:off x="-252536" y="4659982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769;p60"/>
          <p:cNvSpPr txBox="1"/>
          <p:nvPr/>
        </p:nvSpPr>
        <p:spPr>
          <a:xfrm>
            <a:off x="713212" y="1995686"/>
            <a:ext cx="6883123" cy="194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600"/>
              </a:spcAft>
            </a:pPr>
            <a:r>
              <a:rPr lang="it-IT" dirty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Un </a:t>
            </a:r>
            <a:r>
              <a:rPr lang="it-IT" dirty="0" smtClean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approccio sequenziale comporterebbe:</a:t>
            </a:r>
          </a:p>
          <a:p>
            <a:pPr marL="285750" lvl="0" indent="-285750">
              <a:buClr>
                <a:schemeClr val="tx2"/>
              </a:buClr>
              <a:buSzPct val="75000"/>
              <a:buFont typeface="Segoe Fluent Icons" pitchFamily="18" charset="0"/>
              <a:buChar char=""/>
            </a:pPr>
            <a:r>
              <a:rPr lang="it-IT" dirty="0" smtClean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Validazione </a:t>
            </a:r>
            <a:r>
              <a:rPr lang="it-IT" dirty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delle prestazioni solo a fine </a:t>
            </a:r>
            <a:r>
              <a:rPr lang="it-IT" dirty="0" smtClean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sviluppo;</a:t>
            </a:r>
          </a:p>
          <a:p>
            <a:pPr marL="285750" lvl="0" indent="-285750">
              <a:spcAft>
                <a:spcPts val="1200"/>
              </a:spcAft>
              <a:buClr>
                <a:schemeClr val="tx2"/>
              </a:buClr>
              <a:buSzPct val="75000"/>
              <a:buFont typeface="Segoe Fluent Icons" pitchFamily="18" charset="0"/>
              <a:buChar char=""/>
            </a:pPr>
            <a:r>
              <a:rPr lang="it-IT" dirty="0" smtClean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Scoperta </a:t>
            </a:r>
            <a:r>
              <a:rPr lang="it-IT" dirty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tardiva di problemi di </a:t>
            </a:r>
            <a:r>
              <a:rPr lang="it-IT" dirty="0" smtClean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latenza</a:t>
            </a:r>
            <a:r>
              <a:rPr lang="it-IT" dirty="0" smtClean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;</a:t>
            </a:r>
            <a:endParaRPr lang="it-IT" dirty="0" smtClean="0">
              <a:solidFill>
                <a:schemeClr val="dk2"/>
              </a:solidFill>
              <a:latin typeface="+mn-lt"/>
              <a:ea typeface="Poppins"/>
              <a:cs typeface="Poppins"/>
              <a:sym typeface="Poppins"/>
            </a:endParaRPr>
          </a:p>
          <a:p>
            <a:pPr lvl="0">
              <a:buClr>
                <a:schemeClr val="tx2"/>
              </a:buClr>
              <a:buSzPct val="75000"/>
            </a:pPr>
            <a:r>
              <a:rPr lang="it-IT" dirty="0" smtClean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Tutto </a:t>
            </a:r>
            <a:r>
              <a:rPr lang="it-IT" dirty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ciò porterebbe </a:t>
            </a:r>
            <a:r>
              <a:rPr lang="it-IT" dirty="0" smtClean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all’identificazione </a:t>
            </a:r>
            <a:r>
              <a:rPr lang="it-IT" dirty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dei problemi in fase avanzata del </a:t>
            </a:r>
            <a:r>
              <a:rPr lang="it-IT" dirty="0" smtClean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progetto con necessità </a:t>
            </a:r>
            <a:r>
              <a:rPr lang="it-IT" dirty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di riavviare il ciclo di </a:t>
            </a:r>
            <a:r>
              <a:rPr lang="it-IT" dirty="0" smtClean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sviluppo con conseguente aumento </a:t>
            </a:r>
            <a:r>
              <a:rPr lang="it-IT" dirty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di tempi </a:t>
            </a:r>
            <a:r>
              <a:rPr lang="it-IT" dirty="0" smtClean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e rischi.</a:t>
            </a:r>
            <a:endParaRPr lang="it-IT" dirty="0">
              <a:solidFill>
                <a:schemeClr val="dk2"/>
              </a:solidFill>
              <a:latin typeface="+mn-lt"/>
              <a:ea typeface="Poppins"/>
              <a:cs typeface="Poppins"/>
              <a:sym typeface="Poppins"/>
            </a:endParaRPr>
          </a:p>
        </p:txBody>
      </p:sp>
      <p:sp>
        <p:nvSpPr>
          <p:cNvPr id="6" name="Per 5"/>
          <p:cNvSpPr/>
          <p:nvPr/>
        </p:nvSpPr>
        <p:spPr>
          <a:xfrm rot="650160">
            <a:off x="6962030" y="1549871"/>
            <a:ext cx="1008112" cy="1008112"/>
          </a:xfrm>
          <a:prstGeom prst="mathMultiply">
            <a:avLst/>
          </a:prstGeom>
          <a:gradFill flip="none" rotWithShape="1">
            <a:gsLst>
              <a:gs pos="100000">
                <a:schemeClr val="tx2"/>
              </a:gs>
              <a:gs pos="25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u="sng"/>
          </a:p>
        </p:txBody>
      </p:sp>
    </p:spTree>
    <p:extLst>
      <p:ext uri="{BB962C8B-B14F-4D97-AF65-F5344CB8AC3E}">
        <p14:creationId xmlns:p14="http://schemas.microsoft.com/office/powerpoint/2010/main" val="1392564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4" grpId="0"/>
      <p:bldP spid="905" grpId="0" animBg="1"/>
      <p:bldP spid="906" grpId="0" animBg="1"/>
      <p:bldP spid="907" grpId="0" animBg="1"/>
      <p:bldP spid="908" grpId="0" animBg="1"/>
      <p:bldP spid="909" grpId="0" animBg="1"/>
      <p:bldP spid="13" grpId="0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/>
          <p:cNvSpPr/>
          <p:nvPr/>
        </p:nvSpPr>
        <p:spPr>
          <a:xfrm>
            <a:off x="6457025" y="4364650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40"/>
          <p:cNvSpPr/>
          <p:nvPr/>
        </p:nvSpPr>
        <p:spPr>
          <a:xfrm>
            <a:off x="6924738" y="3600275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40"/>
          <p:cNvSpPr/>
          <p:nvPr/>
        </p:nvSpPr>
        <p:spPr>
          <a:xfrm>
            <a:off x="7929941" y="3232650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904;p66"/>
          <p:cNvSpPr txBox="1">
            <a:spLocks noGrp="1"/>
          </p:cNvSpPr>
          <p:nvPr>
            <p:ph type="title" idx="4294967295"/>
          </p:nvPr>
        </p:nvSpPr>
        <p:spPr>
          <a:xfrm>
            <a:off x="1748363" y="311349"/>
            <a:ext cx="4032448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3000" b="1" dirty="0" smtClean="0">
                <a:latin typeface="+mj-lt"/>
              </a:rPr>
              <a:t>Metodo di sviluppo</a:t>
            </a:r>
            <a:endParaRPr sz="3000" b="1" dirty="0">
              <a:latin typeface="+mj-lt"/>
            </a:endParaRPr>
          </a:p>
        </p:txBody>
      </p:sp>
      <p:sp>
        <p:nvSpPr>
          <p:cNvPr id="12" name="Google Shape;769;p60"/>
          <p:cNvSpPr txBox="1"/>
          <p:nvPr/>
        </p:nvSpPr>
        <p:spPr>
          <a:xfrm>
            <a:off x="971600" y="908720"/>
            <a:ext cx="6883123" cy="2455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dirty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Il nostro </a:t>
            </a:r>
            <a:r>
              <a:rPr lang="it-IT" dirty="0" smtClean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sviluppo, basato sul </a:t>
            </a:r>
            <a:r>
              <a:rPr lang="it-IT" i="1" dirty="0" err="1" smtClean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pair</a:t>
            </a:r>
            <a:r>
              <a:rPr lang="it-IT" i="1" dirty="0" smtClean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 </a:t>
            </a:r>
            <a:r>
              <a:rPr lang="it-IT" i="1" dirty="0" err="1" smtClean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programming</a:t>
            </a:r>
            <a:r>
              <a:rPr lang="it-IT" i="1" dirty="0" smtClean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,</a:t>
            </a:r>
            <a:r>
              <a:rPr lang="it-IT" dirty="0" smtClean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 </a:t>
            </a:r>
            <a:r>
              <a:rPr lang="it-IT" dirty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è guidato dai rischi </a:t>
            </a:r>
            <a:r>
              <a:rPr lang="it-IT" dirty="0" smtClean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tecnici. </a:t>
            </a:r>
            <a:r>
              <a:rPr lang="it-IT" dirty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D</a:t>
            </a:r>
            <a:r>
              <a:rPr lang="it-IT" dirty="0" smtClean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i conseguenza la </a:t>
            </a:r>
            <a:r>
              <a:rPr lang="it-IT" dirty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strategia adottata prevede di:</a:t>
            </a:r>
          </a:p>
          <a:p>
            <a:pPr marL="342900" indent="-342900">
              <a:buClr>
                <a:schemeClr val="tx2"/>
              </a:buClr>
              <a:buFont typeface="Wingdings" pitchFamily="2" charset="2"/>
              <a:buChar char="ü"/>
            </a:pPr>
            <a:r>
              <a:rPr lang="it-IT" dirty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Sviluppare per primi i moduli più critici per le prestazioni;</a:t>
            </a:r>
          </a:p>
          <a:p>
            <a:pPr marL="342900" indent="-342900">
              <a:buClr>
                <a:schemeClr val="tx2"/>
              </a:buClr>
              <a:buFont typeface="Wingdings" pitchFamily="2" charset="2"/>
              <a:buChar char="ü"/>
            </a:pPr>
            <a:r>
              <a:rPr lang="it-IT" dirty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Testare fin da subito la risposta in tempo reale;</a:t>
            </a:r>
          </a:p>
          <a:p>
            <a:pPr marL="342900" indent="-342900">
              <a:buClr>
                <a:schemeClr val="tx2"/>
              </a:buClr>
              <a:buFont typeface="Wingdings" pitchFamily="2" charset="2"/>
              <a:buChar char="ü"/>
            </a:pPr>
            <a:r>
              <a:rPr lang="it-IT" dirty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Introdurre meccanismi di </a:t>
            </a:r>
            <a:r>
              <a:rPr lang="it-IT" dirty="0" smtClean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filtraggio già </a:t>
            </a:r>
            <a:r>
              <a:rPr lang="it-IT" dirty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nelle prime iterazioni;</a:t>
            </a:r>
          </a:p>
          <a:p>
            <a:pPr marL="342900" indent="-342900">
              <a:spcAft>
                <a:spcPts val="1200"/>
              </a:spcAft>
              <a:buClr>
                <a:schemeClr val="tx2"/>
              </a:buClr>
              <a:buFont typeface="Wingdings" pitchFamily="2" charset="2"/>
              <a:buChar char="ü"/>
            </a:pPr>
            <a:r>
              <a:rPr lang="it-IT" dirty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Validare ogni componente prima di costruire funzionalità avanzate sopra di esso.</a:t>
            </a:r>
          </a:p>
          <a:p>
            <a:pPr>
              <a:buClr>
                <a:schemeClr val="tx2"/>
              </a:buClr>
            </a:pPr>
            <a:r>
              <a:rPr lang="it-IT" dirty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rPr>
              <a:t>In questo modo il rischio viene affrontato nelle fasi iniziali, evitando accumulo di problemi strutturali nelle fasi finali.</a:t>
            </a:r>
          </a:p>
        </p:txBody>
      </p:sp>
      <p:sp>
        <p:nvSpPr>
          <p:cNvPr id="4" name="Forma a L 3"/>
          <p:cNvSpPr/>
          <p:nvPr/>
        </p:nvSpPr>
        <p:spPr>
          <a:xfrm rot="19695150">
            <a:off x="7616956" y="1249703"/>
            <a:ext cx="1148592" cy="535382"/>
          </a:xfrm>
          <a:prstGeom prst="corner">
            <a:avLst/>
          </a:prstGeom>
          <a:gradFill flip="none" rotWithShape="1">
            <a:gsLst>
              <a:gs pos="100000">
                <a:schemeClr val="tx2"/>
              </a:gs>
              <a:gs pos="30000">
                <a:schemeClr val="accent1">
                  <a:shade val="100000"/>
                  <a:satMod val="115000"/>
                </a:schemeClr>
              </a:gs>
            </a:gsLst>
            <a:lin ang="14400000" scaled="0"/>
            <a:tileRect/>
          </a:gra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9" name="Google Shape;248;p34"/>
          <p:cNvGraphicFramePr/>
          <p:nvPr>
            <p:extLst>
              <p:ext uri="{D42A27DB-BD31-4B8C-83A1-F6EECF244321}">
                <p14:modId xmlns:p14="http://schemas.microsoft.com/office/powerpoint/2010/main" val="4088479753"/>
              </p:ext>
            </p:extLst>
          </p:nvPr>
        </p:nvGraphicFramePr>
        <p:xfrm>
          <a:off x="1937681" y="3507854"/>
          <a:ext cx="4519344" cy="1264840"/>
        </p:xfrm>
        <a:graphic>
          <a:graphicData uri="http://schemas.openxmlformats.org/drawingml/2006/table">
            <a:tbl>
              <a:tblPr>
                <a:noFill/>
                <a:tableStyleId>{0008A23C-6446-4AE6-A63F-8AF3A4B9D192}</a:tableStyleId>
              </a:tblPr>
              <a:tblGrid>
                <a:gridCol w="1506448"/>
                <a:gridCol w="1506448"/>
                <a:gridCol w="1506448"/>
              </a:tblGrid>
              <a:tr h="3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dirty="0">
                        <a:solidFill>
                          <a:schemeClr val="dk2"/>
                        </a:solidFill>
                        <a:latin typeface="+mj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00000">
                          <a:schemeClr val="tx2"/>
                        </a:gs>
                        <a:gs pos="44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1" dirty="0" smtClean="0">
                          <a:solidFill>
                            <a:schemeClr val="tx1"/>
                          </a:solidFill>
                          <a:latin typeface="+mj-lt"/>
                          <a:ea typeface="Poppins"/>
                          <a:cs typeface="Poppins"/>
                          <a:sym typeface="Poppins"/>
                        </a:rPr>
                        <a:t>Alta</a:t>
                      </a:r>
                      <a:r>
                        <a:rPr lang="it-IT" sz="1100" b="1" baseline="0" dirty="0" smtClean="0">
                          <a:solidFill>
                            <a:schemeClr val="tx1"/>
                          </a:solidFill>
                          <a:latin typeface="+mj-lt"/>
                          <a:ea typeface="Poppins"/>
                          <a:cs typeface="Poppins"/>
                          <a:sym typeface="Poppins"/>
                        </a:rPr>
                        <a:t> priorità</a:t>
                      </a:r>
                      <a:endParaRPr sz="1100" b="1" dirty="0">
                        <a:solidFill>
                          <a:schemeClr val="tx1"/>
                        </a:solidFill>
                        <a:latin typeface="+mj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00000">
                          <a:schemeClr val="tx2"/>
                        </a:gs>
                        <a:gs pos="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1" i="0" u="none" strike="noStrike" cap="none" dirty="0" smtClean="0">
                          <a:solidFill>
                            <a:schemeClr val="tx1"/>
                          </a:solidFill>
                          <a:latin typeface="+mj-lt"/>
                          <a:ea typeface="Poppins"/>
                          <a:cs typeface="Poppins"/>
                          <a:sym typeface="Poppins"/>
                        </a:rPr>
                        <a:t>Bassa priorità</a:t>
                      </a:r>
                      <a:endParaRPr sz="1100" b="1" i="0" u="none" strike="noStrike" cap="none" dirty="0">
                        <a:solidFill>
                          <a:schemeClr val="tx1"/>
                        </a:solidFill>
                        <a:latin typeface="+mj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00000">
                          <a:schemeClr val="tx2"/>
                        </a:gs>
                        <a:gs pos="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  <a:tr h="350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100" b="1" dirty="0" smtClean="0">
                          <a:solidFill>
                            <a:schemeClr val="tx1"/>
                          </a:solidFill>
                          <a:latin typeface="+mj-lt"/>
                          <a:ea typeface="Poppins"/>
                          <a:cs typeface="Poppins"/>
                          <a:sym typeface="Poppins"/>
                        </a:rPr>
                        <a:t>Alto</a:t>
                      </a:r>
                      <a:r>
                        <a:rPr lang="it-IT" sz="1100" b="1" baseline="0" dirty="0" smtClean="0">
                          <a:solidFill>
                            <a:schemeClr val="tx1"/>
                          </a:solidFill>
                          <a:latin typeface="+mj-lt"/>
                          <a:ea typeface="Poppins"/>
                          <a:cs typeface="Poppins"/>
                          <a:sym typeface="Poppins"/>
                        </a:rPr>
                        <a:t> rischio</a:t>
                      </a:r>
                      <a:endParaRPr lang="it-IT" sz="1100" b="1" dirty="0" smtClean="0">
                        <a:solidFill>
                          <a:schemeClr val="tx1"/>
                        </a:solidFill>
                        <a:latin typeface="+mj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00000">
                          <a:schemeClr val="tx2"/>
                        </a:gs>
                        <a:gs pos="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 typeface="Arial" pitchFamily="34" charset="0"/>
                        <a:buChar char="•"/>
                      </a:pPr>
                      <a:r>
                        <a:rPr lang="it-IT" sz="900" b="0" i="0" u="none" strike="noStrike" cap="none" dirty="0" smtClean="0">
                          <a:solidFill>
                            <a:schemeClr val="dk2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Latenza</a:t>
                      </a:r>
                      <a:r>
                        <a:rPr lang="it-IT" sz="900" b="0" i="0" u="none" strike="noStrike" cap="none" baseline="0" dirty="0" smtClean="0">
                          <a:solidFill>
                            <a:schemeClr val="dk2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lang="it-IT" sz="900" b="0" i="0" u="none" strike="noStrike" cap="none" baseline="0" dirty="0" err="1" smtClean="0">
                          <a:solidFill>
                            <a:schemeClr val="dk2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realt-time</a:t>
                      </a:r>
                      <a:endParaRPr lang="it-IT" sz="900" b="0" i="0" u="none" strike="noStrike" cap="none" baseline="0" dirty="0" smtClean="0">
                        <a:solidFill>
                          <a:schemeClr val="dk2"/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171450" marR="0" lvl="0" indent="-17145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 typeface="Arial" pitchFamily="34" charset="0"/>
                        <a:buChar char="•"/>
                      </a:pPr>
                      <a:r>
                        <a:rPr lang="it-IT" sz="900" b="0" i="0" u="none" strike="noStrike" cap="none" baseline="0" dirty="0" err="1" smtClean="0">
                          <a:solidFill>
                            <a:schemeClr val="dk2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Thread</a:t>
                      </a:r>
                      <a:r>
                        <a:rPr lang="it-IT" sz="900" b="0" i="0" u="none" strike="noStrike" cap="none" baseline="0" dirty="0" smtClean="0">
                          <a:solidFill>
                            <a:schemeClr val="dk2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lang="it-IT" sz="900" b="0" i="0" u="none" strike="noStrike" cap="none" baseline="0" dirty="0" err="1" smtClean="0">
                          <a:solidFill>
                            <a:schemeClr val="dk2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safety</a:t>
                      </a:r>
                      <a:endParaRPr lang="it-IT" sz="900" b="0" i="0" u="none" strike="noStrike" cap="none" baseline="0" dirty="0" smtClean="0">
                        <a:solidFill>
                          <a:schemeClr val="dk2"/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 typeface="Arial" pitchFamily="34" charset="0"/>
                        <a:buChar char="•"/>
                      </a:pPr>
                      <a:r>
                        <a:rPr lang="it-IT" sz="900" b="0" i="0" u="none" strike="noStrike" cap="none" dirty="0" smtClean="0">
                          <a:solidFill>
                            <a:schemeClr val="dk2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Astrazione input</a:t>
                      </a:r>
                    </a:p>
                    <a:p>
                      <a:pPr marL="171450" marR="0" lvl="0" indent="-17145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 typeface="Arial" pitchFamily="34" charset="0"/>
                        <a:buChar char="•"/>
                      </a:pPr>
                      <a:r>
                        <a:rPr lang="it-IT" sz="900" b="0" i="0" u="none" strike="noStrike" cap="none" dirty="0" smtClean="0">
                          <a:solidFill>
                            <a:schemeClr val="dk2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Falsi positivi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100" b="1" dirty="0" smtClean="0">
                          <a:solidFill>
                            <a:schemeClr val="tx1"/>
                          </a:solidFill>
                          <a:latin typeface="+mj-lt"/>
                          <a:ea typeface="Poppins"/>
                          <a:cs typeface="Poppins"/>
                          <a:sym typeface="Poppins"/>
                        </a:rPr>
                        <a:t>Basso</a:t>
                      </a:r>
                      <a:r>
                        <a:rPr lang="it-IT" sz="1100" b="1" baseline="0" dirty="0" smtClean="0">
                          <a:solidFill>
                            <a:schemeClr val="tx1"/>
                          </a:solidFill>
                          <a:latin typeface="+mj-lt"/>
                          <a:ea typeface="Poppins"/>
                          <a:cs typeface="Poppins"/>
                          <a:sym typeface="Poppins"/>
                        </a:rPr>
                        <a:t> rischio</a:t>
                      </a:r>
                      <a:endParaRPr lang="it-IT" sz="1100" b="1" dirty="0">
                        <a:solidFill>
                          <a:schemeClr val="tx1"/>
                        </a:solidFill>
                        <a:latin typeface="+mj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00000">
                          <a:schemeClr val="tx2"/>
                        </a:gs>
                        <a:gs pos="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chemeClr val="tx2"/>
                        </a:buClr>
                        <a:buFont typeface="Arial" pitchFamily="34" charset="0"/>
                        <a:buChar char="•"/>
                      </a:pPr>
                      <a:r>
                        <a:rPr lang="it-IT" sz="900" b="0" i="0" u="none" strike="noStrike" cap="none" dirty="0" smtClean="0">
                          <a:solidFill>
                            <a:schemeClr val="dk2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Iniezione eventi</a:t>
                      </a:r>
                      <a:endParaRPr sz="900" b="0" i="0" u="none" strike="noStrike" cap="none" dirty="0">
                        <a:solidFill>
                          <a:schemeClr val="dk2"/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 typeface="Arial" pitchFamily="34" charset="0"/>
                        <a:buChar char="•"/>
                      </a:pPr>
                      <a:r>
                        <a:rPr lang="it-IT" sz="900" b="0" i="0" u="none" strike="noStrike" cap="none" dirty="0" smtClean="0">
                          <a:solidFill>
                            <a:schemeClr val="dk2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Profili utente</a:t>
                      </a:r>
                    </a:p>
                    <a:p>
                      <a:pPr marL="171450" marR="0" lvl="0" indent="-17145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 typeface="Arial" pitchFamily="34" charset="0"/>
                        <a:buChar char="•"/>
                      </a:pPr>
                      <a:r>
                        <a:rPr lang="it-IT" sz="900" b="0" i="0" u="none" strike="noStrike" cap="none" dirty="0" smtClean="0">
                          <a:solidFill>
                            <a:schemeClr val="dk2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Hot-</a:t>
                      </a:r>
                      <a:r>
                        <a:rPr lang="it-IT" sz="900" b="0" i="0" u="none" strike="noStrike" cap="none" dirty="0" err="1" smtClean="0">
                          <a:solidFill>
                            <a:schemeClr val="dk2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plugging</a:t>
                      </a:r>
                      <a:endParaRPr sz="900" b="0" i="0" u="none" strike="noStrike" cap="none" dirty="0">
                        <a:solidFill>
                          <a:schemeClr val="dk2"/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9" name="Google Shape;329;p40"/>
          <p:cNvSpPr/>
          <p:nvPr/>
        </p:nvSpPr>
        <p:spPr>
          <a:xfrm>
            <a:off x="-944275" y="-9802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184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" grpId="0" animBg="1"/>
      <p:bldP spid="328" grpId="0" animBg="1"/>
      <p:bldP spid="330" grpId="0" animBg="1"/>
      <p:bldP spid="11" grpId="0"/>
      <p:bldP spid="12" grpId="0"/>
      <p:bldP spid="4" grpId="0" animBg="1"/>
      <p:bldP spid="3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+mj-lt"/>
              </a:rPr>
              <a:t>Way of Working</a:t>
            </a:r>
            <a:endParaRPr b="1" dirty="0">
              <a:latin typeface="+mj-lt"/>
            </a:endParaRPr>
          </a:p>
        </p:txBody>
      </p:sp>
      <p:grpSp>
        <p:nvGrpSpPr>
          <p:cNvPr id="2" name="Gruppo 1"/>
          <p:cNvGrpSpPr/>
          <p:nvPr/>
        </p:nvGrpSpPr>
        <p:grpSpPr>
          <a:xfrm>
            <a:off x="179513" y="1851671"/>
            <a:ext cx="6408711" cy="1656183"/>
            <a:chOff x="179513" y="1851671"/>
            <a:chExt cx="6408711" cy="1656183"/>
          </a:xfrm>
        </p:grpSpPr>
        <p:sp>
          <p:nvSpPr>
            <p:cNvPr id="38" name="Rettangolo arrotondato 37"/>
            <p:cNvSpPr/>
            <p:nvPr/>
          </p:nvSpPr>
          <p:spPr>
            <a:xfrm>
              <a:off x="179513" y="1851671"/>
              <a:ext cx="6408711" cy="1656183"/>
            </a:xfrm>
            <a:prstGeom prst="roundRect">
              <a:avLst>
                <a:gd name="adj" fmla="val 8852"/>
              </a:avLst>
            </a:prstGeom>
            <a:solidFill>
              <a:schemeClr val="tx1"/>
            </a:solidFill>
            <a:ln>
              <a:noFill/>
            </a:ln>
            <a:effectLst>
              <a:outerShdw blurRad="50800" dist="38100" dir="8100000" algn="tr" rotWithShape="0">
                <a:schemeClr val="tx2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97" name="Google Shape;597;p51"/>
            <p:cNvSpPr txBox="1"/>
            <p:nvPr/>
          </p:nvSpPr>
          <p:spPr>
            <a:xfrm>
              <a:off x="251522" y="1995686"/>
              <a:ext cx="4677675" cy="288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 dirty="0" smtClean="0">
                  <a:solidFill>
                    <a:schemeClr val="tx2"/>
                  </a:solidFill>
                  <a:latin typeface="+mj-lt"/>
                  <a:ea typeface="Poppins SemiBold"/>
                  <a:cs typeface="Poppins SemiBold"/>
                  <a:sym typeface="Poppins SemiBold"/>
                </a:rPr>
                <a:t>Motivazione della scelta </a:t>
              </a:r>
              <a:endParaRPr sz="2000" b="1" dirty="0">
                <a:solidFill>
                  <a:schemeClr val="tx2"/>
                </a:solidFill>
                <a:latin typeface="+mj-lt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598" name="Google Shape;598;p51"/>
            <p:cNvSpPr txBox="1"/>
            <p:nvPr/>
          </p:nvSpPr>
          <p:spPr>
            <a:xfrm>
              <a:off x="251521" y="2283718"/>
              <a:ext cx="6336703" cy="1008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r>
                <a:rPr lang="it-IT" dirty="0" smtClean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L'approccio iterativo introduce </a:t>
              </a:r>
              <a:r>
                <a:rPr lang="it-IT" dirty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dei </a:t>
              </a:r>
              <a:r>
                <a:rPr lang="it-IT" dirty="0" smtClean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checkpoint obbligatori, utili per </a:t>
              </a:r>
              <a:r>
                <a:rPr lang="it-IT" dirty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validare i </a:t>
              </a:r>
              <a:r>
                <a:rPr lang="it-IT" dirty="0" smtClean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requisiti. </a:t>
              </a:r>
              <a:r>
                <a:rPr lang="it-IT" dirty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Se alla fine </a:t>
              </a:r>
              <a:r>
                <a:rPr lang="it-IT" dirty="0" smtClean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di un’iterazione la validazione fallisce, l'approccio </a:t>
              </a:r>
              <a:r>
                <a:rPr lang="it-IT" dirty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iterativo ci costringe a fermarci e risolvere quel </a:t>
              </a:r>
              <a:r>
                <a:rPr lang="it-IT" dirty="0" smtClean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problema subito</a:t>
              </a:r>
              <a:r>
                <a:rPr lang="it-IT" dirty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, invece di continuare </a:t>
              </a:r>
              <a:r>
                <a:rPr lang="it-IT" dirty="0" smtClean="0">
                  <a:solidFill>
                    <a:schemeClr val="dk2"/>
                  </a:solidFill>
                  <a:latin typeface="+mn-lt"/>
                  <a:ea typeface="Poppins"/>
                  <a:cs typeface="Poppins"/>
                  <a:sym typeface="Poppins"/>
                </a:rPr>
                <a:t>nello sviluppo.</a:t>
              </a:r>
              <a:endParaRPr dirty="0">
                <a:solidFill>
                  <a:schemeClr val="dk2"/>
                </a:solidFill>
                <a:latin typeface="+mn-lt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09" name="Google Shape;609;p51"/>
          <p:cNvSpPr/>
          <p:nvPr/>
        </p:nvSpPr>
        <p:spPr>
          <a:xfrm>
            <a:off x="6940075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51"/>
          <p:cNvSpPr/>
          <p:nvPr/>
        </p:nvSpPr>
        <p:spPr>
          <a:xfrm>
            <a:off x="7936500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591;p51"/>
          <p:cNvSpPr txBox="1">
            <a:spLocks/>
          </p:cNvSpPr>
          <p:nvPr/>
        </p:nvSpPr>
        <p:spPr>
          <a:xfrm>
            <a:off x="1187625" y="1052028"/>
            <a:ext cx="724315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it-IT" sz="2400" b="1" dirty="0" smtClean="0">
                <a:solidFill>
                  <a:schemeClr val="accent1"/>
                </a:solidFill>
                <a:latin typeface="+mj-lt"/>
              </a:rPr>
              <a:t>Approccio iterativo</a:t>
            </a:r>
            <a:endParaRPr lang="it-IT" sz="2400" b="1" dirty="0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3" name="Gruppo 2"/>
          <p:cNvGrpSpPr/>
          <p:nvPr/>
        </p:nvGrpSpPr>
        <p:grpSpPr>
          <a:xfrm>
            <a:off x="828178" y="1144244"/>
            <a:ext cx="288008" cy="293768"/>
            <a:chOff x="828178" y="1144244"/>
            <a:chExt cx="288008" cy="293768"/>
          </a:xfrm>
        </p:grpSpPr>
        <p:sp>
          <p:nvSpPr>
            <p:cNvPr id="24" name="Google Shape;1025;p74"/>
            <p:cNvSpPr/>
            <p:nvPr/>
          </p:nvSpPr>
          <p:spPr>
            <a:xfrm>
              <a:off x="828178" y="1144244"/>
              <a:ext cx="186007" cy="230913"/>
            </a:xfrm>
            <a:custGeom>
              <a:avLst/>
              <a:gdLst/>
              <a:ahLst/>
              <a:cxnLst/>
              <a:rect l="l" t="t" r="r" b="b"/>
              <a:pathLst>
                <a:path w="1840" h="2252" extrusionOk="0">
                  <a:moveTo>
                    <a:pt x="1457" y="1"/>
                  </a:moveTo>
                  <a:lnTo>
                    <a:pt x="1457" y="159"/>
                  </a:lnTo>
                  <a:cubicBezTo>
                    <a:pt x="606" y="188"/>
                    <a:pt x="0" y="989"/>
                    <a:pt x="195" y="1818"/>
                  </a:cubicBezTo>
                  <a:cubicBezTo>
                    <a:pt x="188" y="1818"/>
                    <a:pt x="188" y="1825"/>
                    <a:pt x="188" y="1833"/>
                  </a:cubicBezTo>
                  <a:lnTo>
                    <a:pt x="195" y="1869"/>
                  </a:lnTo>
                  <a:cubicBezTo>
                    <a:pt x="195" y="1876"/>
                    <a:pt x="202" y="1883"/>
                    <a:pt x="202" y="1898"/>
                  </a:cubicBezTo>
                  <a:cubicBezTo>
                    <a:pt x="202" y="1905"/>
                    <a:pt x="209" y="1912"/>
                    <a:pt x="209" y="1919"/>
                  </a:cubicBezTo>
                  <a:cubicBezTo>
                    <a:pt x="209" y="1934"/>
                    <a:pt x="216" y="1948"/>
                    <a:pt x="224" y="1955"/>
                  </a:cubicBezTo>
                  <a:lnTo>
                    <a:pt x="231" y="1977"/>
                  </a:lnTo>
                  <a:cubicBezTo>
                    <a:pt x="245" y="2013"/>
                    <a:pt x="260" y="2056"/>
                    <a:pt x="274" y="2092"/>
                  </a:cubicBezTo>
                  <a:lnTo>
                    <a:pt x="281" y="2100"/>
                  </a:lnTo>
                  <a:cubicBezTo>
                    <a:pt x="289" y="2114"/>
                    <a:pt x="296" y="2128"/>
                    <a:pt x="303" y="2143"/>
                  </a:cubicBezTo>
                  <a:lnTo>
                    <a:pt x="317" y="2157"/>
                  </a:lnTo>
                  <a:cubicBezTo>
                    <a:pt x="317" y="2172"/>
                    <a:pt x="325" y="2186"/>
                    <a:pt x="332" y="2201"/>
                  </a:cubicBezTo>
                  <a:lnTo>
                    <a:pt x="346" y="2215"/>
                  </a:lnTo>
                  <a:cubicBezTo>
                    <a:pt x="353" y="2229"/>
                    <a:pt x="361" y="2237"/>
                    <a:pt x="368" y="2251"/>
                  </a:cubicBezTo>
                  <a:lnTo>
                    <a:pt x="743" y="1970"/>
                  </a:lnTo>
                  <a:lnTo>
                    <a:pt x="721" y="1934"/>
                  </a:lnTo>
                  <a:lnTo>
                    <a:pt x="700" y="1898"/>
                  </a:lnTo>
                  <a:lnTo>
                    <a:pt x="692" y="1883"/>
                  </a:lnTo>
                  <a:cubicBezTo>
                    <a:pt x="685" y="1862"/>
                    <a:pt x="678" y="1847"/>
                    <a:pt x="671" y="1825"/>
                  </a:cubicBezTo>
                  <a:cubicBezTo>
                    <a:pt x="671" y="1818"/>
                    <a:pt x="664" y="1811"/>
                    <a:pt x="664" y="1804"/>
                  </a:cubicBezTo>
                  <a:cubicBezTo>
                    <a:pt x="664" y="1797"/>
                    <a:pt x="656" y="1782"/>
                    <a:pt x="649" y="1775"/>
                  </a:cubicBezTo>
                  <a:lnTo>
                    <a:pt x="642" y="1732"/>
                  </a:lnTo>
                  <a:lnTo>
                    <a:pt x="635" y="1703"/>
                  </a:lnTo>
                  <a:lnTo>
                    <a:pt x="628" y="1667"/>
                  </a:lnTo>
                  <a:lnTo>
                    <a:pt x="628" y="1645"/>
                  </a:lnTo>
                  <a:cubicBezTo>
                    <a:pt x="628" y="1638"/>
                    <a:pt x="620" y="1609"/>
                    <a:pt x="620" y="1587"/>
                  </a:cubicBezTo>
                  <a:lnTo>
                    <a:pt x="620" y="1573"/>
                  </a:lnTo>
                  <a:lnTo>
                    <a:pt x="620" y="1508"/>
                  </a:lnTo>
                  <a:cubicBezTo>
                    <a:pt x="620" y="1039"/>
                    <a:pt x="988" y="650"/>
                    <a:pt x="1457" y="628"/>
                  </a:cubicBezTo>
                  <a:lnTo>
                    <a:pt x="1457" y="809"/>
                  </a:lnTo>
                  <a:lnTo>
                    <a:pt x="1839" y="419"/>
                  </a:lnTo>
                  <a:lnTo>
                    <a:pt x="1457" y="1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tx2">
                    <a:lumMod val="75000"/>
                  </a:schemeClr>
                </a:gs>
                <a:gs pos="0">
                  <a:schemeClr val="tx2"/>
                </a:gs>
              </a:gsLst>
              <a:lin ang="5400000" scaled="1"/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26;p74"/>
            <p:cNvSpPr/>
            <p:nvPr/>
          </p:nvSpPr>
          <p:spPr>
            <a:xfrm>
              <a:off x="1037335" y="1193051"/>
              <a:ext cx="78851" cy="97718"/>
            </a:xfrm>
            <a:custGeom>
              <a:avLst/>
              <a:gdLst/>
              <a:ahLst/>
              <a:cxnLst/>
              <a:rect l="l" t="t" r="r" b="b"/>
              <a:pathLst>
                <a:path w="780" h="953" extrusionOk="0">
                  <a:moveTo>
                    <a:pt x="304" y="1"/>
                  </a:moveTo>
                  <a:lnTo>
                    <a:pt x="1" y="354"/>
                  </a:lnTo>
                  <a:cubicBezTo>
                    <a:pt x="181" y="506"/>
                    <a:pt x="289" y="722"/>
                    <a:pt x="311" y="953"/>
                  </a:cubicBezTo>
                  <a:lnTo>
                    <a:pt x="780" y="953"/>
                  </a:lnTo>
                  <a:cubicBezTo>
                    <a:pt x="751" y="585"/>
                    <a:pt x="585" y="239"/>
                    <a:pt x="304" y="1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chemeClr val="accent1"/>
                </a:gs>
              </a:gsLst>
              <a:lin ang="162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27;p74"/>
            <p:cNvSpPr/>
            <p:nvPr/>
          </p:nvSpPr>
          <p:spPr>
            <a:xfrm>
              <a:off x="987801" y="1308406"/>
              <a:ext cx="127678" cy="129606"/>
            </a:xfrm>
            <a:custGeom>
              <a:avLst/>
              <a:gdLst/>
              <a:ahLst/>
              <a:cxnLst/>
              <a:rect l="l" t="t" r="r" b="b"/>
              <a:pathLst>
                <a:path w="1263" h="1264" extrusionOk="0">
                  <a:moveTo>
                    <a:pt x="801" y="1"/>
                  </a:moveTo>
                  <a:cubicBezTo>
                    <a:pt x="758" y="419"/>
                    <a:pt x="426" y="751"/>
                    <a:pt x="1" y="794"/>
                  </a:cubicBezTo>
                  <a:lnTo>
                    <a:pt x="1" y="1263"/>
                  </a:lnTo>
                  <a:cubicBezTo>
                    <a:pt x="679" y="1213"/>
                    <a:pt x="1219" y="679"/>
                    <a:pt x="1263" y="1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tx2">
                    <a:lumMod val="50000"/>
                  </a:schemeClr>
                </a:gs>
              </a:gsLst>
              <a:lin ang="162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28;p74"/>
            <p:cNvSpPr/>
            <p:nvPr/>
          </p:nvSpPr>
          <p:spPr>
            <a:xfrm>
              <a:off x="875488" y="1359469"/>
              <a:ext cx="95632" cy="77723"/>
            </a:xfrm>
            <a:custGeom>
              <a:avLst/>
              <a:gdLst/>
              <a:ahLst/>
              <a:cxnLst/>
              <a:rect l="l" t="t" r="r" b="b"/>
              <a:pathLst>
                <a:path w="946" h="758" extrusionOk="0">
                  <a:moveTo>
                    <a:pt x="376" y="1"/>
                  </a:moveTo>
                  <a:lnTo>
                    <a:pt x="1" y="282"/>
                  </a:lnTo>
                  <a:cubicBezTo>
                    <a:pt x="239" y="563"/>
                    <a:pt x="578" y="736"/>
                    <a:pt x="946" y="758"/>
                  </a:cubicBezTo>
                  <a:lnTo>
                    <a:pt x="946" y="289"/>
                  </a:lnTo>
                  <a:cubicBezTo>
                    <a:pt x="722" y="267"/>
                    <a:pt x="520" y="166"/>
                    <a:pt x="376" y="1"/>
                  </a:cubicBezTo>
                  <a:close/>
                </a:path>
              </a:pathLst>
            </a:custGeom>
            <a:gradFill>
              <a:gsLst>
                <a:gs pos="100000">
                  <a:schemeClr val="tx2">
                    <a:lumMod val="75000"/>
                  </a:schemeClr>
                </a:gs>
                <a:gs pos="0">
                  <a:schemeClr val="tx2">
                    <a:lumMod val="50000"/>
                  </a:schemeClr>
                </a:gs>
              </a:gsLst>
              <a:lin ang="162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327;p40"/>
          <p:cNvSpPr/>
          <p:nvPr/>
        </p:nvSpPr>
        <p:spPr>
          <a:xfrm>
            <a:off x="6472350" y="43799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328;p40"/>
          <p:cNvSpPr/>
          <p:nvPr/>
        </p:nvSpPr>
        <p:spPr>
          <a:xfrm>
            <a:off x="6940063" y="3615600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30;p40"/>
          <p:cNvSpPr/>
          <p:nvPr/>
        </p:nvSpPr>
        <p:spPr>
          <a:xfrm>
            <a:off x="7967400" y="3247975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4182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xit" presetSubtype="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1" grpId="0"/>
      <p:bldP spid="609" grpId="0" animBg="1"/>
      <p:bldP spid="610" grpId="0" animBg="1"/>
      <p:bldP spid="22" grpId="0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+mj-lt"/>
              </a:rPr>
              <a:t>Way of Working</a:t>
            </a:r>
            <a:endParaRPr b="1" dirty="0">
              <a:latin typeface="+mj-lt"/>
            </a:endParaRPr>
          </a:p>
        </p:txBody>
      </p:sp>
      <p:sp>
        <p:nvSpPr>
          <p:cNvPr id="609" name="Google Shape;609;p51"/>
          <p:cNvSpPr/>
          <p:nvPr/>
        </p:nvSpPr>
        <p:spPr>
          <a:xfrm>
            <a:off x="6940075" y="-7907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51"/>
          <p:cNvSpPr/>
          <p:nvPr/>
        </p:nvSpPr>
        <p:spPr>
          <a:xfrm>
            <a:off x="7936500" y="220750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591;p51"/>
          <p:cNvSpPr txBox="1">
            <a:spLocks/>
          </p:cNvSpPr>
          <p:nvPr/>
        </p:nvSpPr>
        <p:spPr>
          <a:xfrm>
            <a:off x="1187625" y="1052028"/>
            <a:ext cx="724315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0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it-IT" sz="2400" b="1" dirty="0" smtClean="0">
                <a:solidFill>
                  <a:schemeClr val="accent1"/>
                </a:solidFill>
                <a:latin typeface="+mj-lt"/>
              </a:rPr>
              <a:t>Approccio iterativo</a:t>
            </a:r>
            <a:endParaRPr lang="it-IT" sz="2400" b="1" dirty="0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3" name="Gruppo 2"/>
          <p:cNvGrpSpPr/>
          <p:nvPr/>
        </p:nvGrpSpPr>
        <p:grpSpPr>
          <a:xfrm>
            <a:off x="828178" y="1144244"/>
            <a:ext cx="288008" cy="293768"/>
            <a:chOff x="828178" y="1144244"/>
            <a:chExt cx="288008" cy="293768"/>
          </a:xfrm>
        </p:grpSpPr>
        <p:sp>
          <p:nvSpPr>
            <p:cNvPr id="24" name="Google Shape;1025;p74"/>
            <p:cNvSpPr/>
            <p:nvPr/>
          </p:nvSpPr>
          <p:spPr>
            <a:xfrm>
              <a:off x="828178" y="1144244"/>
              <a:ext cx="186007" cy="230913"/>
            </a:xfrm>
            <a:custGeom>
              <a:avLst/>
              <a:gdLst/>
              <a:ahLst/>
              <a:cxnLst/>
              <a:rect l="l" t="t" r="r" b="b"/>
              <a:pathLst>
                <a:path w="1840" h="2252" extrusionOk="0">
                  <a:moveTo>
                    <a:pt x="1457" y="1"/>
                  </a:moveTo>
                  <a:lnTo>
                    <a:pt x="1457" y="159"/>
                  </a:lnTo>
                  <a:cubicBezTo>
                    <a:pt x="606" y="188"/>
                    <a:pt x="0" y="989"/>
                    <a:pt x="195" y="1818"/>
                  </a:cubicBezTo>
                  <a:cubicBezTo>
                    <a:pt x="188" y="1818"/>
                    <a:pt x="188" y="1825"/>
                    <a:pt x="188" y="1833"/>
                  </a:cubicBezTo>
                  <a:lnTo>
                    <a:pt x="195" y="1869"/>
                  </a:lnTo>
                  <a:cubicBezTo>
                    <a:pt x="195" y="1876"/>
                    <a:pt x="202" y="1883"/>
                    <a:pt x="202" y="1898"/>
                  </a:cubicBezTo>
                  <a:cubicBezTo>
                    <a:pt x="202" y="1905"/>
                    <a:pt x="209" y="1912"/>
                    <a:pt x="209" y="1919"/>
                  </a:cubicBezTo>
                  <a:cubicBezTo>
                    <a:pt x="209" y="1934"/>
                    <a:pt x="216" y="1948"/>
                    <a:pt x="224" y="1955"/>
                  </a:cubicBezTo>
                  <a:lnTo>
                    <a:pt x="231" y="1977"/>
                  </a:lnTo>
                  <a:cubicBezTo>
                    <a:pt x="245" y="2013"/>
                    <a:pt x="260" y="2056"/>
                    <a:pt x="274" y="2092"/>
                  </a:cubicBezTo>
                  <a:lnTo>
                    <a:pt x="281" y="2100"/>
                  </a:lnTo>
                  <a:cubicBezTo>
                    <a:pt x="289" y="2114"/>
                    <a:pt x="296" y="2128"/>
                    <a:pt x="303" y="2143"/>
                  </a:cubicBezTo>
                  <a:lnTo>
                    <a:pt x="317" y="2157"/>
                  </a:lnTo>
                  <a:cubicBezTo>
                    <a:pt x="317" y="2172"/>
                    <a:pt x="325" y="2186"/>
                    <a:pt x="332" y="2201"/>
                  </a:cubicBezTo>
                  <a:lnTo>
                    <a:pt x="346" y="2215"/>
                  </a:lnTo>
                  <a:cubicBezTo>
                    <a:pt x="353" y="2229"/>
                    <a:pt x="361" y="2237"/>
                    <a:pt x="368" y="2251"/>
                  </a:cubicBezTo>
                  <a:lnTo>
                    <a:pt x="743" y="1970"/>
                  </a:lnTo>
                  <a:lnTo>
                    <a:pt x="721" y="1934"/>
                  </a:lnTo>
                  <a:lnTo>
                    <a:pt x="700" y="1898"/>
                  </a:lnTo>
                  <a:lnTo>
                    <a:pt x="692" y="1883"/>
                  </a:lnTo>
                  <a:cubicBezTo>
                    <a:pt x="685" y="1862"/>
                    <a:pt x="678" y="1847"/>
                    <a:pt x="671" y="1825"/>
                  </a:cubicBezTo>
                  <a:cubicBezTo>
                    <a:pt x="671" y="1818"/>
                    <a:pt x="664" y="1811"/>
                    <a:pt x="664" y="1804"/>
                  </a:cubicBezTo>
                  <a:cubicBezTo>
                    <a:pt x="664" y="1797"/>
                    <a:pt x="656" y="1782"/>
                    <a:pt x="649" y="1775"/>
                  </a:cubicBezTo>
                  <a:lnTo>
                    <a:pt x="642" y="1732"/>
                  </a:lnTo>
                  <a:lnTo>
                    <a:pt x="635" y="1703"/>
                  </a:lnTo>
                  <a:lnTo>
                    <a:pt x="628" y="1667"/>
                  </a:lnTo>
                  <a:lnTo>
                    <a:pt x="628" y="1645"/>
                  </a:lnTo>
                  <a:cubicBezTo>
                    <a:pt x="628" y="1638"/>
                    <a:pt x="620" y="1609"/>
                    <a:pt x="620" y="1587"/>
                  </a:cubicBezTo>
                  <a:lnTo>
                    <a:pt x="620" y="1573"/>
                  </a:lnTo>
                  <a:lnTo>
                    <a:pt x="620" y="1508"/>
                  </a:lnTo>
                  <a:cubicBezTo>
                    <a:pt x="620" y="1039"/>
                    <a:pt x="988" y="650"/>
                    <a:pt x="1457" y="628"/>
                  </a:cubicBezTo>
                  <a:lnTo>
                    <a:pt x="1457" y="809"/>
                  </a:lnTo>
                  <a:lnTo>
                    <a:pt x="1839" y="419"/>
                  </a:lnTo>
                  <a:lnTo>
                    <a:pt x="1457" y="1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tx2">
                    <a:lumMod val="75000"/>
                  </a:schemeClr>
                </a:gs>
                <a:gs pos="0">
                  <a:schemeClr val="tx2"/>
                </a:gs>
              </a:gsLst>
              <a:lin ang="5400000" scaled="1"/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26;p74"/>
            <p:cNvSpPr/>
            <p:nvPr/>
          </p:nvSpPr>
          <p:spPr>
            <a:xfrm>
              <a:off x="1037335" y="1193051"/>
              <a:ext cx="78851" cy="97718"/>
            </a:xfrm>
            <a:custGeom>
              <a:avLst/>
              <a:gdLst/>
              <a:ahLst/>
              <a:cxnLst/>
              <a:rect l="l" t="t" r="r" b="b"/>
              <a:pathLst>
                <a:path w="780" h="953" extrusionOk="0">
                  <a:moveTo>
                    <a:pt x="304" y="1"/>
                  </a:moveTo>
                  <a:lnTo>
                    <a:pt x="1" y="354"/>
                  </a:lnTo>
                  <a:cubicBezTo>
                    <a:pt x="181" y="506"/>
                    <a:pt x="289" y="722"/>
                    <a:pt x="311" y="953"/>
                  </a:cubicBezTo>
                  <a:lnTo>
                    <a:pt x="780" y="953"/>
                  </a:lnTo>
                  <a:cubicBezTo>
                    <a:pt x="751" y="585"/>
                    <a:pt x="585" y="239"/>
                    <a:pt x="304" y="1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chemeClr val="accent1"/>
                </a:gs>
              </a:gsLst>
              <a:lin ang="162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27;p74"/>
            <p:cNvSpPr/>
            <p:nvPr/>
          </p:nvSpPr>
          <p:spPr>
            <a:xfrm>
              <a:off x="987801" y="1308406"/>
              <a:ext cx="127678" cy="129606"/>
            </a:xfrm>
            <a:custGeom>
              <a:avLst/>
              <a:gdLst/>
              <a:ahLst/>
              <a:cxnLst/>
              <a:rect l="l" t="t" r="r" b="b"/>
              <a:pathLst>
                <a:path w="1263" h="1264" extrusionOk="0">
                  <a:moveTo>
                    <a:pt x="801" y="1"/>
                  </a:moveTo>
                  <a:cubicBezTo>
                    <a:pt x="758" y="419"/>
                    <a:pt x="426" y="751"/>
                    <a:pt x="1" y="794"/>
                  </a:cubicBezTo>
                  <a:lnTo>
                    <a:pt x="1" y="1263"/>
                  </a:lnTo>
                  <a:cubicBezTo>
                    <a:pt x="679" y="1213"/>
                    <a:pt x="1219" y="679"/>
                    <a:pt x="1263" y="1"/>
                  </a:cubicBez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tx2">
                    <a:lumMod val="50000"/>
                  </a:schemeClr>
                </a:gs>
              </a:gsLst>
              <a:lin ang="162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28;p74"/>
            <p:cNvSpPr/>
            <p:nvPr/>
          </p:nvSpPr>
          <p:spPr>
            <a:xfrm>
              <a:off x="875488" y="1359469"/>
              <a:ext cx="95632" cy="77723"/>
            </a:xfrm>
            <a:custGeom>
              <a:avLst/>
              <a:gdLst/>
              <a:ahLst/>
              <a:cxnLst/>
              <a:rect l="l" t="t" r="r" b="b"/>
              <a:pathLst>
                <a:path w="946" h="758" extrusionOk="0">
                  <a:moveTo>
                    <a:pt x="376" y="1"/>
                  </a:moveTo>
                  <a:lnTo>
                    <a:pt x="1" y="282"/>
                  </a:lnTo>
                  <a:cubicBezTo>
                    <a:pt x="239" y="563"/>
                    <a:pt x="578" y="736"/>
                    <a:pt x="946" y="758"/>
                  </a:cubicBezTo>
                  <a:lnTo>
                    <a:pt x="946" y="289"/>
                  </a:lnTo>
                  <a:cubicBezTo>
                    <a:pt x="722" y="267"/>
                    <a:pt x="520" y="166"/>
                    <a:pt x="376" y="1"/>
                  </a:cubicBezTo>
                  <a:close/>
                </a:path>
              </a:pathLst>
            </a:custGeom>
            <a:gradFill>
              <a:gsLst>
                <a:gs pos="100000">
                  <a:schemeClr val="tx2">
                    <a:lumMod val="75000"/>
                  </a:schemeClr>
                </a:gs>
                <a:gs pos="0">
                  <a:schemeClr val="tx2">
                    <a:lumMod val="50000"/>
                  </a:schemeClr>
                </a:gs>
              </a:gsLst>
              <a:lin ang="162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ruppo 3"/>
          <p:cNvGrpSpPr/>
          <p:nvPr/>
        </p:nvGrpSpPr>
        <p:grpSpPr>
          <a:xfrm>
            <a:off x="1457392" y="1779662"/>
            <a:ext cx="7394778" cy="2016224"/>
            <a:chOff x="1475656" y="1779662"/>
            <a:chExt cx="7394778" cy="1832372"/>
          </a:xfrm>
        </p:grpSpPr>
        <p:sp>
          <p:nvSpPr>
            <p:cNvPr id="37" name="Rettangolo arrotondato 36"/>
            <p:cNvSpPr/>
            <p:nvPr/>
          </p:nvSpPr>
          <p:spPr>
            <a:xfrm>
              <a:off x="1475656" y="1779662"/>
              <a:ext cx="7394777" cy="1832372"/>
            </a:xfrm>
            <a:prstGeom prst="roundRect">
              <a:avLst>
                <a:gd name="adj" fmla="val 8852"/>
              </a:avLst>
            </a:prstGeom>
            <a:solidFill>
              <a:schemeClr val="tx1"/>
            </a:solidFill>
            <a:ln>
              <a:noFill/>
            </a:ln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9" name="Google Shape;338;p41"/>
            <p:cNvSpPr txBox="1">
              <a:spLocks/>
            </p:cNvSpPr>
            <p:nvPr/>
          </p:nvSpPr>
          <p:spPr>
            <a:xfrm>
              <a:off x="5854171" y="1851670"/>
              <a:ext cx="3016263" cy="376126"/>
            </a:xfrm>
            <a:prstGeom prst="rect">
              <a:avLst/>
            </a:prstGeom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r"/>
              <a:r>
                <a:rPr lang="it-IT" sz="2000" b="1" dirty="0" smtClean="0">
                  <a:solidFill>
                    <a:schemeClr val="accent1"/>
                  </a:solidFill>
                  <a:latin typeface="+mj-lt"/>
                </a:rPr>
                <a:t>La nostra </a:t>
              </a:r>
              <a:r>
                <a:rPr lang="it-IT" sz="2000" b="1" dirty="0" err="1" smtClean="0">
                  <a:solidFill>
                    <a:schemeClr val="accent1"/>
                  </a:solidFill>
                  <a:latin typeface="+mj-lt"/>
                </a:rPr>
                <a:t>WoW</a:t>
              </a:r>
              <a:endParaRPr lang="it-IT" sz="20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40" name="Google Shape;339;p41"/>
            <p:cNvSpPr txBox="1">
              <a:spLocks/>
            </p:cNvSpPr>
            <p:nvPr/>
          </p:nvSpPr>
          <p:spPr>
            <a:xfrm>
              <a:off x="1497341" y="2227796"/>
              <a:ext cx="7373093" cy="1316372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r">
                <a:buClr>
                  <a:schemeClr val="accent1"/>
                </a:buClr>
              </a:pPr>
              <a:r>
                <a:rPr lang="it-IT" dirty="0" smtClean="0">
                  <a:solidFill>
                    <a:schemeClr val="dk2"/>
                  </a:solidFill>
                  <a:latin typeface="+mn-lt"/>
                  <a:ea typeface="Poppins"/>
                  <a:cs typeface="Poppins"/>
                </a:rPr>
                <a:t>La nostra </a:t>
              </a:r>
              <a:r>
                <a:rPr lang="it-IT" dirty="0" err="1" smtClean="0">
                  <a:solidFill>
                    <a:schemeClr val="dk2"/>
                  </a:solidFill>
                  <a:latin typeface="+mn-lt"/>
                  <a:ea typeface="Poppins"/>
                  <a:cs typeface="Poppins"/>
                </a:rPr>
                <a:t>WoW</a:t>
              </a:r>
              <a:r>
                <a:rPr lang="it-IT" dirty="0" smtClean="0">
                  <a:solidFill>
                    <a:schemeClr val="dk2"/>
                  </a:solidFill>
                  <a:latin typeface="+mn-lt"/>
                  <a:ea typeface="Poppins"/>
                  <a:cs typeface="Poppins"/>
                </a:rPr>
                <a:t> è stata scelta seguendo i principi del </a:t>
              </a:r>
              <a:r>
                <a:rPr lang="it-IT" dirty="0" err="1" smtClean="0">
                  <a:solidFill>
                    <a:schemeClr val="dk2"/>
                  </a:solidFill>
                  <a:latin typeface="+mn-lt"/>
                  <a:ea typeface="Poppins"/>
                  <a:cs typeface="Poppins"/>
                </a:rPr>
                <a:t>Disciplined</a:t>
              </a:r>
              <a:r>
                <a:rPr lang="it-IT" dirty="0" smtClean="0">
                  <a:solidFill>
                    <a:schemeClr val="dk2"/>
                  </a:solidFill>
                  <a:latin typeface="+mn-lt"/>
                  <a:ea typeface="Poppins"/>
                  <a:cs typeface="Poppins"/>
                </a:rPr>
                <a:t> Agile, adottando un </a:t>
              </a:r>
              <a:r>
                <a:rPr lang="it-IT" dirty="0">
                  <a:solidFill>
                    <a:schemeClr val="dk2"/>
                  </a:solidFill>
                  <a:latin typeface="+mn-lt"/>
                  <a:ea typeface="Poppins"/>
                  <a:cs typeface="Poppins"/>
                </a:rPr>
                <a:t>approccio agile iterativo coerente con </a:t>
              </a:r>
              <a:r>
                <a:rPr lang="it-IT" i="1" dirty="0">
                  <a:solidFill>
                    <a:schemeClr val="dk2"/>
                  </a:solidFill>
                  <a:latin typeface="+mn-lt"/>
                  <a:ea typeface="Poppins"/>
                  <a:cs typeface="Poppins"/>
                </a:rPr>
                <a:t>Agile </a:t>
              </a:r>
              <a:r>
                <a:rPr lang="it-IT" i="1" dirty="0" err="1">
                  <a:solidFill>
                    <a:schemeClr val="dk2"/>
                  </a:solidFill>
                  <a:latin typeface="+mn-lt"/>
                  <a:ea typeface="Poppins"/>
                  <a:cs typeface="Poppins"/>
                </a:rPr>
                <a:t>Unified</a:t>
              </a:r>
              <a:r>
                <a:rPr lang="it-IT" i="1" dirty="0">
                  <a:solidFill>
                    <a:schemeClr val="dk2"/>
                  </a:solidFill>
                  <a:latin typeface="+mn-lt"/>
                  <a:ea typeface="Poppins"/>
                  <a:cs typeface="Poppins"/>
                </a:rPr>
                <a:t> </a:t>
              </a:r>
              <a:r>
                <a:rPr lang="it-IT" i="1" dirty="0" err="1">
                  <a:solidFill>
                    <a:schemeClr val="dk2"/>
                  </a:solidFill>
                  <a:latin typeface="+mn-lt"/>
                  <a:ea typeface="Poppins"/>
                  <a:cs typeface="Poppins"/>
                </a:rPr>
                <a:t>Process</a:t>
              </a:r>
              <a:r>
                <a:rPr lang="it-IT" i="1" dirty="0">
                  <a:solidFill>
                    <a:schemeClr val="dk2"/>
                  </a:solidFill>
                  <a:latin typeface="+mn-lt"/>
                  <a:ea typeface="Poppins"/>
                  <a:cs typeface="Poppins"/>
                </a:rPr>
                <a:t> (</a:t>
              </a:r>
              <a:r>
                <a:rPr lang="it-IT" i="1" dirty="0" smtClean="0">
                  <a:solidFill>
                    <a:schemeClr val="dk2"/>
                  </a:solidFill>
                  <a:latin typeface="+mn-lt"/>
                  <a:ea typeface="Poppins"/>
                  <a:cs typeface="Poppins"/>
                </a:rPr>
                <a:t>AUP)</a:t>
              </a:r>
              <a:r>
                <a:rPr lang="it-IT" dirty="0" smtClean="0">
                  <a:solidFill>
                    <a:schemeClr val="dk2"/>
                  </a:solidFill>
                  <a:latin typeface="+mn-lt"/>
                  <a:ea typeface="Poppins"/>
                  <a:cs typeface="Poppins"/>
                </a:rPr>
                <a:t>. </a:t>
              </a:r>
            </a:p>
            <a:p>
              <a:pPr algn="r">
                <a:buClr>
                  <a:schemeClr val="accent1"/>
                </a:buClr>
              </a:pPr>
              <a:r>
                <a:rPr lang="it-IT" dirty="0" smtClean="0">
                  <a:solidFill>
                    <a:schemeClr val="dk2"/>
                  </a:solidFill>
                  <a:latin typeface="+mn-lt"/>
                  <a:ea typeface="Poppins"/>
                  <a:cs typeface="Poppins"/>
                </a:rPr>
                <a:t>La strategia scelta punta ad avere nelle fasi iniziali i componenti ad alto rischio di fallimento.</a:t>
              </a:r>
              <a:br>
                <a:rPr lang="it-IT" dirty="0" smtClean="0">
                  <a:solidFill>
                    <a:schemeClr val="dk2"/>
                  </a:solidFill>
                  <a:latin typeface="+mn-lt"/>
                  <a:ea typeface="Poppins"/>
                  <a:cs typeface="Poppins"/>
                </a:rPr>
              </a:br>
              <a:r>
                <a:rPr lang="it-IT" dirty="0" smtClean="0">
                  <a:solidFill>
                    <a:schemeClr val="dk2"/>
                  </a:solidFill>
                  <a:latin typeface="+mn-lt"/>
                  <a:ea typeface="Poppins"/>
                  <a:cs typeface="Poppins"/>
                </a:rPr>
                <a:t>Il risultato di ogni iterazione non è un prodotto finito, ma un prototipo funzionante che valida un’ipotesi tecnica.</a:t>
              </a:r>
              <a:endParaRPr lang="it-IT" dirty="0">
                <a:solidFill>
                  <a:schemeClr val="dk2"/>
                </a:solidFill>
                <a:latin typeface="+mn-lt"/>
                <a:ea typeface="Poppins"/>
                <a:cs typeface="Poppins"/>
              </a:endParaRPr>
            </a:p>
          </p:txBody>
        </p:sp>
      </p:grpSp>
      <p:sp>
        <p:nvSpPr>
          <p:cNvPr id="17" name="Google Shape;327;p40"/>
          <p:cNvSpPr/>
          <p:nvPr/>
        </p:nvSpPr>
        <p:spPr>
          <a:xfrm flipH="1">
            <a:off x="-1016346" y="43799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328;p40"/>
          <p:cNvSpPr/>
          <p:nvPr/>
        </p:nvSpPr>
        <p:spPr>
          <a:xfrm flipH="1">
            <a:off x="827584" y="3702918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30;p40"/>
          <p:cNvSpPr/>
          <p:nvPr/>
        </p:nvSpPr>
        <p:spPr>
          <a:xfrm flipH="1">
            <a:off x="-1692696" y="3247975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1682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 txBox="1">
            <a:spLocks noGrp="1"/>
          </p:cNvSpPr>
          <p:nvPr>
            <p:ph type="title" idx="6"/>
          </p:nvPr>
        </p:nvSpPr>
        <p:spPr>
          <a:xfrm>
            <a:off x="179512" y="1500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n" b="1" dirty="0" smtClean="0">
                <a:latin typeface="+mj-lt"/>
              </a:rPr>
              <a:t>Struttura delle fasi</a:t>
            </a:r>
            <a:endParaRPr b="1" dirty="0">
              <a:latin typeface="+mj-lt"/>
            </a:endParaRPr>
          </a:p>
        </p:txBody>
      </p:sp>
      <p:sp>
        <p:nvSpPr>
          <p:cNvPr id="24" name="Rettangolo arrotondato 23"/>
          <p:cNvSpPr/>
          <p:nvPr/>
        </p:nvSpPr>
        <p:spPr>
          <a:xfrm>
            <a:off x="603915" y="2472480"/>
            <a:ext cx="2817989" cy="2211710"/>
          </a:xfrm>
          <a:prstGeom prst="roundRect">
            <a:avLst>
              <a:gd name="adj" fmla="val 8852"/>
            </a:avLst>
          </a:prstGeom>
          <a:solidFill>
            <a:schemeClr val="tx1"/>
          </a:solidFill>
          <a:ln>
            <a:noFill/>
          </a:ln>
          <a:effectLst>
            <a:outerShdw blurRad="50800" dist="38100" dir="18900000" algn="b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Rettangolo arrotondato 22"/>
          <p:cNvSpPr/>
          <p:nvPr/>
        </p:nvSpPr>
        <p:spPr>
          <a:xfrm>
            <a:off x="3912962" y="3632424"/>
            <a:ext cx="3036044" cy="1051766"/>
          </a:xfrm>
          <a:prstGeom prst="roundRect">
            <a:avLst>
              <a:gd name="adj" fmla="val 8852"/>
            </a:avLst>
          </a:prstGeom>
          <a:solidFill>
            <a:schemeClr val="tx1"/>
          </a:solidFill>
          <a:ln>
            <a:noFill/>
          </a:ln>
          <a:effectLst>
            <a:outerShdw blurRad="50800" dist="38100" dir="13500000" algn="b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Rettangolo arrotondato 21"/>
          <p:cNvSpPr/>
          <p:nvPr/>
        </p:nvSpPr>
        <p:spPr>
          <a:xfrm>
            <a:off x="3914252" y="782503"/>
            <a:ext cx="3036044" cy="2664296"/>
          </a:xfrm>
          <a:prstGeom prst="roundRect">
            <a:avLst>
              <a:gd name="adj" fmla="val 8852"/>
            </a:avLst>
          </a:prstGeom>
          <a:solidFill>
            <a:schemeClr val="tx1"/>
          </a:solidFill>
          <a:ln>
            <a:noFill/>
          </a:ln>
          <a:effectLst>
            <a:outerShdw blurRad="50800" dist="38100" dir="8100000" algn="tr" rotWithShape="0">
              <a:schemeClr val="tx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Rettangolo arrotondato 20"/>
          <p:cNvSpPr/>
          <p:nvPr/>
        </p:nvSpPr>
        <p:spPr>
          <a:xfrm>
            <a:off x="603865" y="784769"/>
            <a:ext cx="2788767" cy="1514901"/>
          </a:xfrm>
          <a:prstGeom prst="roundRect">
            <a:avLst>
              <a:gd name="adj" fmla="val 8852"/>
            </a:avLst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8" name="Google Shape;258;p35"/>
          <p:cNvSpPr txBox="1">
            <a:spLocks noGrp="1"/>
          </p:cNvSpPr>
          <p:nvPr>
            <p:ph type="title"/>
          </p:nvPr>
        </p:nvSpPr>
        <p:spPr>
          <a:xfrm>
            <a:off x="1345767" y="947864"/>
            <a:ext cx="2046865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it-IT" b="1" dirty="0">
                <a:solidFill>
                  <a:schemeClr val="tx2"/>
                </a:solidFill>
                <a:latin typeface="+mj-lt"/>
              </a:rPr>
              <a:t>Ideazione</a:t>
            </a:r>
            <a:endParaRPr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259" name="Google Shape;259;p35"/>
          <p:cNvSpPr txBox="1">
            <a:spLocks noGrp="1"/>
          </p:cNvSpPr>
          <p:nvPr>
            <p:ph type="subTitle" idx="1"/>
          </p:nvPr>
        </p:nvSpPr>
        <p:spPr>
          <a:xfrm>
            <a:off x="603867" y="1382339"/>
            <a:ext cx="2779089" cy="9013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Courier New" pitchFamily="49" charset="0"/>
              <a:buChar char="o"/>
            </a:pPr>
            <a:r>
              <a:rPr lang="en" dirty="0" smtClean="0">
                <a:latin typeface="+mn-lt"/>
              </a:rPr>
              <a:t>Documento di visione;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Courier New" pitchFamily="49" charset="0"/>
              <a:buChar char="o"/>
            </a:pPr>
            <a:r>
              <a:rPr lang="en" dirty="0" smtClean="0">
                <a:latin typeface="+mn-lt"/>
              </a:rPr>
              <a:t>Diagramma delle classi;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Courier New" pitchFamily="49" charset="0"/>
              <a:buChar char="o"/>
            </a:pPr>
            <a:r>
              <a:rPr lang="it-IT" dirty="0" smtClean="0">
                <a:latin typeface="+mn-lt"/>
              </a:rPr>
              <a:t>Diagramma di sequenza.</a:t>
            </a:r>
            <a:endParaRPr dirty="0">
              <a:latin typeface="+mn-lt"/>
            </a:endParaRPr>
          </a:p>
        </p:txBody>
      </p:sp>
      <p:sp>
        <p:nvSpPr>
          <p:cNvPr id="260" name="Google Shape;260;p35"/>
          <p:cNvSpPr txBox="1">
            <a:spLocks noGrp="1"/>
          </p:cNvSpPr>
          <p:nvPr>
            <p:ph type="title" idx="2"/>
          </p:nvPr>
        </p:nvSpPr>
        <p:spPr>
          <a:xfrm>
            <a:off x="4656150" y="945598"/>
            <a:ext cx="221043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it-IT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Elaborazione</a:t>
            </a:r>
            <a:endParaRPr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62" name="Google Shape;262;p35"/>
          <p:cNvSpPr txBox="1">
            <a:spLocks noGrp="1"/>
          </p:cNvSpPr>
          <p:nvPr>
            <p:ph type="title" idx="4"/>
          </p:nvPr>
        </p:nvSpPr>
        <p:spPr>
          <a:xfrm>
            <a:off x="603867" y="947864"/>
            <a:ext cx="6657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+mj-lt"/>
              </a:rPr>
              <a:t>01</a:t>
            </a:r>
            <a:endParaRPr b="1" dirty="0">
              <a:latin typeface="+mj-lt"/>
            </a:endParaRPr>
          </a:p>
        </p:txBody>
      </p:sp>
      <p:sp>
        <p:nvSpPr>
          <p:cNvPr id="263" name="Google Shape;263;p35"/>
          <p:cNvSpPr txBox="1">
            <a:spLocks noGrp="1"/>
          </p:cNvSpPr>
          <p:nvPr>
            <p:ph type="title" idx="5"/>
          </p:nvPr>
        </p:nvSpPr>
        <p:spPr>
          <a:xfrm>
            <a:off x="3914251" y="945598"/>
            <a:ext cx="6657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02</a:t>
            </a:r>
            <a:endParaRPr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65" name="Google Shape;265;p35"/>
          <p:cNvSpPr txBox="1">
            <a:spLocks noGrp="1"/>
          </p:cNvSpPr>
          <p:nvPr>
            <p:ph type="title" idx="7"/>
          </p:nvPr>
        </p:nvSpPr>
        <p:spPr>
          <a:xfrm>
            <a:off x="1345818" y="2617243"/>
            <a:ext cx="2076086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it-IT" b="1" dirty="0">
                <a:solidFill>
                  <a:schemeClr val="accent1"/>
                </a:solidFill>
                <a:latin typeface="+mj-lt"/>
              </a:rPr>
              <a:t>Costruzione</a:t>
            </a:r>
            <a:endParaRPr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6" name="Rettangolo arrotondato 25"/>
          <p:cNvSpPr/>
          <p:nvPr/>
        </p:nvSpPr>
        <p:spPr>
          <a:xfrm>
            <a:off x="4058267" y="1462012"/>
            <a:ext cx="2676004" cy="837658"/>
          </a:xfrm>
          <a:prstGeom prst="roundRect">
            <a:avLst>
              <a:gd name="adj" fmla="val 8852"/>
            </a:avLst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schemeClr val="tx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7" name="Google Shape;267;p35"/>
          <p:cNvSpPr txBox="1">
            <a:spLocks noGrp="1"/>
          </p:cNvSpPr>
          <p:nvPr>
            <p:ph type="title" idx="9"/>
          </p:nvPr>
        </p:nvSpPr>
        <p:spPr>
          <a:xfrm>
            <a:off x="4582851" y="3705179"/>
            <a:ext cx="2366155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it-IT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Transizione</a:t>
            </a:r>
            <a:endParaRPr b="1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68" name="Google Shape;268;p35"/>
          <p:cNvSpPr txBox="1">
            <a:spLocks noGrp="1"/>
          </p:cNvSpPr>
          <p:nvPr>
            <p:ph type="subTitle" idx="13"/>
          </p:nvPr>
        </p:nvSpPr>
        <p:spPr>
          <a:xfrm>
            <a:off x="3912961" y="4217228"/>
            <a:ext cx="3036045" cy="4233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100000"/>
              <a:buFont typeface="Courier New" pitchFamily="49" charset="0"/>
              <a:buChar char="o"/>
            </a:pPr>
            <a:r>
              <a:rPr lang="en" dirty="0" smtClean="0">
                <a:latin typeface="+mn-lt"/>
              </a:rPr>
              <a:t>Versione finale del sistema.</a:t>
            </a:r>
          </a:p>
        </p:txBody>
      </p:sp>
      <p:sp>
        <p:nvSpPr>
          <p:cNvPr id="269" name="Google Shape;269;p35"/>
          <p:cNvSpPr txBox="1">
            <a:spLocks noGrp="1"/>
          </p:cNvSpPr>
          <p:nvPr>
            <p:ph type="title" idx="14"/>
          </p:nvPr>
        </p:nvSpPr>
        <p:spPr>
          <a:xfrm>
            <a:off x="603918" y="2617243"/>
            <a:ext cx="6657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/>
                </a:solidFill>
                <a:latin typeface="+mj-lt"/>
              </a:rPr>
              <a:t>03</a:t>
            </a:r>
            <a:endParaRPr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70" name="Google Shape;270;p35"/>
          <p:cNvSpPr txBox="1">
            <a:spLocks noGrp="1"/>
          </p:cNvSpPr>
          <p:nvPr>
            <p:ph type="title" idx="15"/>
          </p:nvPr>
        </p:nvSpPr>
        <p:spPr>
          <a:xfrm>
            <a:off x="3895939" y="3777187"/>
            <a:ext cx="72008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04</a:t>
            </a:r>
            <a:endParaRPr b="1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  <p:cxnSp>
        <p:nvCxnSpPr>
          <p:cNvPr id="271" name="Google Shape;271;p35"/>
          <p:cNvCxnSpPr/>
          <p:nvPr/>
        </p:nvCxnSpPr>
        <p:spPr>
          <a:xfrm>
            <a:off x="603867" y="1382339"/>
            <a:ext cx="665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" name="Google Shape;272;p35"/>
          <p:cNvCxnSpPr/>
          <p:nvPr/>
        </p:nvCxnSpPr>
        <p:spPr>
          <a:xfrm>
            <a:off x="3914251" y="1380073"/>
            <a:ext cx="665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p35"/>
          <p:cNvCxnSpPr/>
          <p:nvPr/>
        </p:nvCxnSpPr>
        <p:spPr>
          <a:xfrm>
            <a:off x="603918" y="3051718"/>
            <a:ext cx="665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" name="Google Shape;274;p35"/>
          <p:cNvCxnSpPr/>
          <p:nvPr/>
        </p:nvCxnSpPr>
        <p:spPr>
          <a:xfrm>
            <a:off x="3912961" y="4211662"/>
            <a:ext cx="665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1" name="Google Shape;261;p35"/>
          <p:cNvSpPr txBox="1">
            <a:spLocks noGrp="1"/>
          </p:cNvSpPr>
          <p:nvPr>
            <p:ph type="subTitle" idx="3"/>
          </p:nvPr>
        </p:nvSpPr>
        <p:spPr>
          <a:xfrm>
            <a:off x="4058267" y="1462012"/>
            <a:ext cx="2609916" cy="8376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buClr>
                <a:schemeClr val="tx2">
                  <a:lumMod val="75000"/>
                </a:schemeClr>
              </a:buClr>
              <a:buSzPct val="100000"/>
              <a:buFont typeface="Courier New" pitchFamily="49" charset="0"/>
              <a:buChar char="o"/>
            </a:pPr>
            <a:r>
              <a:rPr lang="it-IT" dirty="0">
                <a:latin typeface="+mn-lt"/>
              </a:rPr>
              <a:t>Architettura base;</a:t>
            </a:r>
          </a:p>
          <a:p>
            <a:pPr marL="342900" lvl="0" indent="-342900">
              <a:buClr>
                <a:schemeClr val="tx2">
                  <a:lumMod val="75000"/>
                </a:schemeClr>
              </a:buClr>
              <a:buSzPct val="100000"/>
              <a:buFont typeface="Courier New" pitchFamily="49" charset="0"/>
              <a:buChar char="o"/>
            </a:pPr>
            <a:r>
              <a:rPr lang="it-IT" dirty="0">
                <a:latin typeface="+mn-lt"/>
              </a:rPr>
              <a:t>Astrazione input;</a:t>
            </a:r>
          </a:p>
          <a:p>
            <a:pPr marL="342900" lvl="0" indent="-342900">
              <a:buClr>
                <a:schemeClr val="tx2">
                  <a:lumMod val="75000"/>
                </a:schemeClr>
              </a:buClr>
              <a:buSzPct val="100000"/>
              <a:buFont typeface="Courier New" pitchFamily="49" charset="0"/>
              <a:buChar char="o"/>
            </a:pPr>
            <a:r>
              <a:rPr lang="it-IT" dirty="0">
                <a:latin typeface="+mn-lt"/>
              </a:rPr>
              <a:t>Simulazione </a:t>
            </a:r>
            <a:r>
              <a:rPr lang="it-IT" dirty="0" smtClean="0">
                <a:latin typeface="+mn-lt"/>
              </a:rPr>
              <a:t>azioni.</a:t>
            </a:r>
            <a:endParaRPr lang="it-IT" dirty="0">
              <a:latin typeface="+mn-lt"/>
            </a:endParaRPr>
          </a:p>
        </p:txBody>
      </p:sp>
      <p:sp>
        <p:nvSpPr>
          <p:cNvPr id="27" name="Rettangolo arrotondato 26"/>
          <p:cNvSpPr/>
          <p:nvPr/>
        </p:nvSpPr>
        <p:spPr>
          <a:xfrm>
            <a:off x="4058266" y="2451906"/>
            <a:ext cx="2676005" cy="837658"/>
          </a:xfrm>
          <a:prstGeom prst="roundRect">
            <a:avLst>
              <a:gd name="adj" fmla="val 8852"/>
            </a:avLst>
          </a:prstGeom>
          <a:solidFill>
            <a:schemeClr val="tx1"/>
          </a:solidFill>
          <a:ln>
            <a:noFill/>
          </a:ln>
          <a:effectLst>
            <a:outerShdw blurRad="50800" dist="38100" dir="13500000" algn="br" rotWithShape="0">
              <a:schemeClr val="tx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Google Shape;261;p35"/>
          <p:cNvSpPr txBox="1">
            <a:spLocks/>
          </p:cNvSpPr>
          <p:nvPr/>
        </p:nvSpPr>
        <p:spPr>
          <a:xfrm>
            <a:off x="4055983" y="2451906"/>
            <a:ext cx="2594572" cy="83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342900" indent="-342900">
              <a:buClr>
                <a:schemeClr val="tx2">
                  <a:lumMod val="75000"/>
                </a:schemeClr>
              </a:buClr>
              <a:buSzPct val="100000"/>
              <a:buFont typeface="Courier New" pitchFamily="49" charset="0"/>
              <a:buChar char="o"/>
            </a:pPr>
            <a:r>
              <a:rPr lang="it-IT" dirty="0" smtClean="0">
                <a:latin typeface="+mn-lt"/>
              </a:rPr>
              <a:t>Logica temporale;</a:t>
            </a:r>
          </a:p>
          <a:p>
            <a:pPr marL="342900" indent="-342900">
              <a:buClr>
                <a:schemeClr val="tx2">
                  <a:lumMod val="75000"/>
                </a:schemeClr>
              </a:buClr>
              <a:buSzPct val="100000"/>
              <a:buFont typeface="Courier New" pitchFamily="49" charset="0"/>
              <a:buChar char="o"/>
            </a:pPr>
            <a:r>
              <a:rPr lang="it-IT" dirty="0" smtClean="0">
                <a:latin typeface="+mn-lt"/>
              </a:rPr>
              <a:t>Filtraggio segnale;</a:t>
            </a:r>
          </a:p>
          <a:p>
            <a:pPr marL="342900" indent="-342900">
              <a:buClr>
                <a:schemeClr val="tx2">
                  <a:lumMod val="75000"/>
                </a:schemeClr>
              </a:buClr>
              <a:buSzPct val="100000"/>
              <a:buFont typeface="Courier New" pitchFamily="49" charset="0"/>
              <a:buChar char="o"/>
            </a:pPr>
            <a:r>
              <a:rPr lang="it-IT" dirty="0" smtClean="0">
                <a:latin typeface="+mn-lt"/>
              </a:rPr>
              <a:t>Gestione azioni.</a:t>
            </a:r>
          </a:p>
          <a:p>
            <a:pPr marL="342900" indent="-342900">
              <a:buClr>
                <a:schemeClr val="tx2">
                  <a:lumMod val="75000"/>
                </a:schemeClr>
              </a:buClr>
              <a:buSzPct val="100000"/>
              <a:buFont typeface="Courier New" pitchFamily="49" charset="0"/>
              <a:buChar char="o"/>
            </a:pPr>
            <a:endParaRPr lang="it-IT" dirty="0">
              <a:latin typeface="+mn-lt"/>
            </a:endParaRPr>
          </a:p>
        </p:txBody>
      </p:sp>
      <p:sp>
        <p:nvSpPr>
          <p:cNvPr id="29" name="Rettangolo arrotondato 28"/>
          <p:cNvSpPr/>
          <p:nvPr/>
        </p:nvSpPr>
        <p:spPr>
          <a:xfrm>
            <a:off x="747931" y="3120552"/>
            <a:ext cx="2520280" cy="651246"/>
          </a:xfrm>
          <a:prstGeom prst="roundRect">
            <a:avLst>
              <a:gd name="adj" fmla="val 8852"/>
            </a:avLst>
          </a:prstGeom>
          <a:solidFill>
            <a:schemeClr val="tx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Google Shape;266;p35"/>
          <p:cNvSpPr txBox="1">
            <a:spLocks/>
          </p:cNvSpPr>
          <p:nvPr/>
        </p:nvSpPr>
        <p:spPr>
          <a:xfrm>
            <a:off x="762352" y="3121549"/>
            <a:ext cx="2508135" cy="61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285750" indent="-285750">
              <a:buClr>
                <a:schemeClr val="accent1"/>
              </a:buClr>
              <a:buSzPct val="100000"/>
              <a:buFont typeface="Courier New" pitchFamily="49" charset="0"/>
              <a:buChar char="o"/>
            </a:pPr>
            <a:r>
              <a:rPr lang="it-IT" dirty="0">
                <a:latin typeface="+mn-lt"/>
              </a:rPr>
              <a:t>Profili utente;</a:t>
            </a:r>
          </a:p>
          <a:p>
            <a:pPr marL="285750" indent="-285750">
              <a:buClr>
                <a:schemeClr val="accent1"/>
              </a:buClr>
              <a:buSzPct val="100000"/>
              <a:buFont typeface="Courier New" pitchFamily="49" charset="0"/>
              <a:buChar char="o"/>
            </a:pPr>
            <a:r>
              <a:rPr lang="it-IT" dirty="0">
                <a:latin typeface="+mn-lt"/>
              </a:rPr>
              <a:t>GUI.</a:t>
            </a:r>
          </a:p>
        </p:txBody>
      </p:sp>
      <p:sp>
        <p:nvSpPr>
          <p:cNvPr id="30" name="Rettangolo arrotondato 29"/>
          <p:cNvSpPr/>
          <p:nvPr/>
        </p:nvSpPr>
        <p:spPr>
          <a:xfrm>
            <a:off x="750207" y="3912640"/>
            <a:ext cx="2520280" cy="651246"/>
          </a:xfrm>
          <a:prstGeom prst="roundRect">
            <a:avLst>
              <a:gd name="adj" fmla="val 8852"/>
            </a:avLst>
          </a:prstGeom>
          <a:solidFill>
            <a:schemeClr val="tx1"/>
          </a:solidFill>
          <a:ln>
            <a:noFill/>
          </a:ln>
          <a:effectLst>
            <a:outerShdw blurRad="50800" dist="38100" dir="18900000" algn="b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6" name="Google Shape;266;p35"/>
          <p:cNvSpPr txBox="1">
            <a:spLocks noGrp="1"/>
          </p:cNvSpPr>
          <p:nvPr>
            <p:ph type="subTitle" idx="8"/>
          </p:nvPr>
        </p:nvSpPr>
        <p:spPr>
          <a:xfrm>
            <a:off x="762352" y="3912640"/>
            <a:ext cx="2508135" cy="570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ourier New" pitchFamily="49" charset="0"/>
              <a:buChar char="o"/>
            </a:pPr>
            <a:r>
              <a:rPr lang="en" dirty="0" smtClean="0">
                <a:latin typeface="+mn-lt"/>
              </a:rPr>
              <a:t>Parallelizzazione lettura segnale e GUI.</a:t>
            </a:r>
            <a:endParaRPr dirty="0">
              <a:latin typeface="+mn-lt"/>
            </a:endParaRPr>
          </a:p>
        </p:txBody>
      </p:sp>
      <p:sp>
        <p:nvSpPr>
          <p:cNvPr id="275" name="Google Shape;275;p35"/>
          <p:cNvSpPr/>
          <p:nvPr/>
        </p:nvSpPr>
        <p:spPr>
          <a:xfrm>
            <a:off x="7514650" y="-1340675"/>
            <a:ext cx="2981400" cy="29814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35"/>
          <p:cNvSpPr/>
          <p:nvPr/>
        </p:nvSpPr>
        <p:spPr>
          <a:xfrm>
            <a:off x="6586200" y="-595325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2044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" grpId="0"/>
      <p:bldP spid="24" grpId="0" animBg="1"/>
      <p:bldP spid="23" grpId="0" animBg="1"/>
      <p:bldP spid="22" grpId="0" animBg="1"/>
      <p:bldP spid="21" grpId="0" animBg="1"/>
      <p:bldP spid="258" grpId="0"/>
      <p:bldP spid="259" grpId="0" build="p"/>
      <p:bldP spid="260" grpId="0"/>
      <p:bldP spid="262" grpId="0"/>
      <p:bldP spid="263" grpId="0"/>
      <p:bldP spid="265" grpId="0"/>
      <p:bldP spid="26" grpId="0" animBg="1"/>
      <p:bldP spid="267" grpId="0"/>
      <p:bldP spid="268" grpId="0" build="p"/>
      <p:bldP spid="269" grpId="0"/>
      <p:bldP spid="270" grpId="0"/>
      <p:bldP spid="261" grpId="0" build="p"/>
      <p:bldP spid="27" grpId="0" animBg="1"/>
      <p:bldP spid="25" grpId="0"/>
      <p:bldP spid="29" grpId="0" animBg="1"/>
      <p:bldP spid="28" grpId="0"/>
      <p:bldP spid="30" grpId="0" animBg="1"/>
      <p:bldP spid="266" grpId="0" build="p"/>
      <p:bldP spid="275" grpId="0" animBg="1"/>
      <p:bldP spid="27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0801400" scaled="0"/>
        </a:gra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 txBox="1">
            <a:spLocks noGrp="1"/>
          </p:cNvSpPr>
          <p:nvPr>
            <p:ph type="title"/>
          </p:nvPr>
        </p:nvSpPr>
        <p:spPr>
          <a:xfrm>
            <a:off x="3372600" y="411510"/>
            <a:ext cx="4104600" cy="8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+mj-lt"/>
              </a:rPr>
              <a:t>Conclusioni</a:t>
            </a:r>
            <a:endParaRPr b="1" dirty="0">
              <a:latin typeface="+mj-lt"/>
            </a:endParaRPr>
          </a:p>
        </p:txBody>
      </p:sp>
      <p:sp>
        <p:nvSpPr>
          <p:cNvPr id="292" name="Google Shape;292;p37"/>
          <p:cNvSpPr txBox="1">
            <a:spLocks noGrp="1"/>
          </p:cNvSpPr>
          <p:nvPr>
            <p:ph type="subTitle" idx="1"/>
          </p:nvPr>
        </p:nvSpPr>
        <p:spPr>
          <a:xfrm>
            <a:off x="3372600" y="1806555"/>
            <a:ext cx="4511768" cy="24983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it-IT" dirty="0" smtClean="0">
                <a:latin typeface="+mn-lt"/>
              </a:rPr>
              <a:t>L'analisi complessiva </a:t>
            </a:r>
            <a:r>
              <a:rPr lang="it-IT" dirty="0">
                <a:latin typeface="+mn-lt"/>
              </a:rPr>
              <a:t>del progetto </a:t>
            </a:r>
            <a:r>
              <a:rPr lang="it-IT" dirty="0" smtClean="0">
                <a:latin typeface="+mn-lt"/>
              </a:rPr>
              <a:t>ha evidenziato </a:t>
            </a:r>
            <a:r>
              <a:rPr lang="it-IT" dirty="0">
                <a:latin typeface="+mn-lt"/>
              </a:rPr>
              <a:t>la </a:t>
            </a:r>
            <a:r>
              <a:rPr lang="it-IT" dirty="0" smtClean="0">
                <a:latin typeface="+mn-lt"/>
              </a:rPr>
              <a:t>complessità tecnica </a:t>
            </a:r>
            <a:r>
              <a:rPr lang="it-IT" dirty="0">
                <a:latin typeface="+mn-lt"/>
              </a:rPr>
              <a:t>come fattore critico</a:t>
            </a:r>
            <a:r>
              <a:rPr lang="it-IT" dirty="0" smtClean="0">
                <a:latin typeface="+mn-lt"/>
              </a:rPr>
              <a:t>.</a:t>
            </a:r>
            <a:endParaRPr lang="it-IT" dirty="0">
              <a:latin typeface="+mn-lt"/>
            </a:endParaRPr>
          </a:p>
          <a:p>
            <a:pPr marL="0" lvl="0" indent="0">
              <a:buNone/>
            </a:pPr>
            <a:r>
              <a:rPr lang="it-IT" dirty="0">
                <a:latin typeface="+mn-lt"/>
              </a:rPr>
              <a:t>Per gestire il rischio legato a prestazioni e stabilità hardware, </a:t>
            </a:r>
            <a:r>
              <a:rPr lang="it-IT" dirty="0" smtClean="0">
                <a:latin typeface="+mn-lt"/>
              </a:rPr>
              <a:t>abbiamo optato per </a:t>
            </a:r>
            <a:r>
              <a:rPr lang="it-IT" dirty="0">
                <a:latin typeface="+mn-lt"/>
              </a:rPr>
              <a:t>un </a:t>
            </a:r>
            <a:r>
              <a:rPr lang="it-IT" dirty="0" smtClean="0">
                <a:latin typeface="+mn-lt"/>
              </a:rPr>
              <a:t>approccio iterativo.</a:t>
            </a:r>
            <a:endParaRPr lang="it-IT" dirty="0">
              <a:latin typeface="+mn-lt"/>
            </a:endParaRPr>
          </a:p>
          <a:p>
            <a:pPr marL="0" lvl="0" indent="0">
              <a:buNone/>
            </a:pPr>
            <a:r>
              <a:rPr lang="it-IT" dirty="0" smtClean="0">
                <a:latin typeface="+mn-lt"/>
              </a:rPr>
              <a:t>Questa </a:t>
            </a:r>
            <a:r>
              <a:rPr lang="it-IT" dirty="0" err="1">
                <a:latin typeface="+mn-lt"/>
              </a:rPr>
              <a:t>WoW</a:t>
            </a:r>
            <a:r>
              <a:rPr lang="it-IT" dirty="0">
                <a:latin typeface="+mn-lt"/>
              </a:rPr>
              <a:t> ci permette di validare le ipotesi tecniche critiche </a:t>
            </a:r>
            <a:r>
              <a:rPr lang="it-IT" dirty="0" smtClean="0">
                <a:latin typeface="+mn-lt"/>
              </a:rPr>
              <a:t>nelle </a:t>
            </a:r>
            <a:r>
              <a:rPr lang="it-IT" dirty="0">
                <a:latin typeface="+mn-lt"/>
              </a:rPr>
              <a:t>prime fasi, garantendo la realizzabilità del progetto prima del completamento delle </a:t>
            </a:r>
            <a:r>
              <a:rPr lang="it-IT" dirty="0" err="1">
                <a:latin typeface="+mn-lt"/>
              </a:rPr>
              <a:t>feature</a:t>
            </a:r>
            <a:r>
              <a:rPr lang="it-IT" dirty="0">
                <a:latin typeface="+mn-lt"/>
              </a:rPr>
              <a:t> accessorie.</a:t>
            </a:r>
            <a:endParaRPr dirty="0">
              <a:latin typeface="+mn-lt"/>
            </a:endParaRPr>
          </a:p>
        </p:txBody>
      </p:sp>
      <p:sp>
        <p:nvSpPr>
          <p:cNvPr id="293" name="Google Shape;293;p37"/>
          <p:cNvSpPr/>
          <p:nvPr/>
        </p:nvSpPr>
        <p:spPr>
          <a:xfrm>
            <a:off x="1822925" y="2136475"/>
            <a:ext cx="381000" cy="381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4" name="Google Shape;294;p37"/>
          <p:cNvCxnSpPr/>
          <p:nvPr/>
        </p:nvCxnSpPr>
        <p:spPr>
          <a:xfrm>
            <a:off x="3372600" y="1597923"/>
            <a:ext cx="12723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5835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" grpId="0"/>
      <p:bldP spid="292" grpId="0" build="p"/>
    </p:bldLst>
  </p:timing>
</p:sld>
</file>

<file path=ppt/theme/theme1.xml><?xml version="1.0" encoding="utf-8"?>
<a:theme xmlns:a="http://schemas.openxmlformats.org/drawingml/2006/main" name="Tema TAV">
  <a:themeElements>
    <a:clrScheme name="Simple Light">
      <a:dk1>
        <a:srgbClr val="FFFFFF"/>
      </a:dk1>
      <a:lt1>
        <a:srgbClr val="F3F3F3"/>
      </a:lt1>
      <a:dk2>
        <a:srgbClr val="666666"/>
      </a:dk2>
      <a:lt2>
        <a:srgbClr val="D149CE"/>
      </a:lt2>
      <a:accent1>
        <a:srgbClr val="43309F"/>
      </a:accent1>
      <a:accent2>
        <a:srgbClr val="00000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666666"/>
      </a:hlink>
      <a:folHlink>
        <a:srgbClr val="0097A7"/>
      </a:folHlink>
    </a:clrScheme>
    <a:fontScheme name="Personalizzato 4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Personalizzato 4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812</TotalTime>
  <Words>491</Words>
  <Application>Microsoft Office PowerPoint</Application>
  <PresentationFormat>Presentazione su schermo (16:9)</PresentationFormat>
  <Paragraphs>76</Paragraphs>
  <Slides>9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Titoli diapositive</vt:lpstr>
      </vt:variant>
      <vt:variant>
        <vt:i4>9</vt:i4>
      </vt:variant>
    </vt:vector>
  </HeadingPairs>
  <TitlesOfParts>
    <vt:vector size="11" baseType="lpstr">
      <vt:lpstr>Tema TAV</vt:lpstr>
      <vt:lpstr>1_Slidesgo Final Pages</vt:lpstr>
      <vt:lpstr>Input Device Bridge</vt:lpstr>
      <vt:lpstr>Scenario di progetto</vt:lpstr>
      <vt:lpstr>Requisiti di business</vt:lpstr>
      <vt:lpstr>Utilizzo approccio sequenziale</vt:lpstr>
      <vt:lpstr>Metodo di sviluppo</vt:lpstr>
      <vt:lpstr>Way of Working</vt:lpstr>
      <vt:lpstr>Way of Working</vt:lpstr>
      <vt:lpstr>Struttura delle fasi</vt:lpstr>
      <vt:lpstr>Conclusioni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Science &amp; Mathematics Major For College: Mathematics</dc:title>
  <dc:creator>Ismaele Califano</dc:creator>
  <cp:lastModifiedBy>Ismaele Califano</cp:lastModifiedBy>
  <cp:revision>76</cp:revision>
  <dcterms:modified xsi:type="dcterms:W3CDTF">2026-03-05T11:52:27Z</dcterms:modified>
</cp:coreProperties>
</file>